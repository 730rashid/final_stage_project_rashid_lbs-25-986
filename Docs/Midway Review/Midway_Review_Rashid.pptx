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72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6815FE0-2B56-47BE-928E-C89E13D2573A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DD289425-1158-4663-A4D9-13BC7578F810}">
      <dgm:prSet/>
      <dgm:spPr/>
      <dgm:t>
        <a:bodyPr/>
        <a:lstStyle/>
        <a:p>
          <a:pPr>
            <a:defRPr b="1"/>
          </a:pPr>
          <a:r>
            <a:rPr lang="en-US" b="1"/>
            <a:t>Engineering Strategy</a:t>
          </a:r>
          <a:endParaRPr lang="en-US"/>
        </a:p>
      </dgm:t>
    </dgm:pt>
    <dgm:pt modelId="{B5F5B40F-5E65-4D7A-AFA6-7D7C356D936E}" type="parTrans" cxnId="{644CECF7-006A-456B-B653-A55288D50E26}">
      <dgm:prSet/>
      <dgm:spPr/>
      <dgm:t>
        <a:bodyPr/>
        <a:lstStyle/>
        <a:p>
          <a:endParaRPr lang="en-US"/>
        </a:p>
      </dgm:t>
    </dgm:pt>
    <dgm:pt modelId="{BDA1EA66-470F-4B21-BE48-F6AAB388B6DB}" type="sibTrans" cxnId="{644CECF7-006A-456B-B653-A55288D50E26}">
      <dgm:prSet/>
      <dgm:spPr/>
      <dgm:t>
        <a:bodyPr/>
        <a:lstStyle/>
        <a:p>
          <a:endParaRPr lang="en-US"/>
        </a:p>
      </dgm:t>
    </dgm:pt>
    <dgm:pt modelId="{54379A65-8194-4D08-A20B-E8B8E3EB3D9D}">
      <dgm:prSet/>
      <dgm:spPr/>
      <dgm:t>
        <a:bodyPr/>
        <a:lstStyle/>
        <a:p>
          <a:r>
            <a:rPr lang="en-US"/>
            <a:t>I have designed an 'Offline-Online' architecture to ensure the system is scalable. Processing 18,000 images is computationally heavy, so I have separated the 'maths' from the 'interface'.</a:t>
          </a:r>
        </a:p>
      </dgm:t>
    </dgm:pt>
    <dgm:pt modelId="{14D58431-2B79-4351-9AA7-C3DFB9F481CE}" type="parTrans" cxnId="{6B567EB0-F85C-4C83-B9D0-D3A359FC2A81}">
      <dgm:prSet/>
      <dgm:spPr/>
      <dgm:t>
        <a:bodyPr/>
        <a:lstStyle/>
        <a:p>
          <a:endParaRPr lang="en-US"/>
        </a:p>
      </dgm:t>
    </dgm:pt>
    <dgm:pt modelId="{0E00C01F-40A8-4323-A2A7-8C06EB48A496}" type="sibTrans" cxnId="{6B567EB0-F85C-4C83-B9D0-D3A359FC2A81}">
      <dgm:prSet/>
      <dgm:spPr/>
      <dgm:t>
        <a:bodyPr/>
        <a:lstStyle/>
        <a:p>
          <a:endParaRPr lang="en-US"/>
        </a:p>
      </dgm:t>
    </dgm:pt>
    <dgm:pt modelId="{98E7FCCC-EBC7-4237-BBA1-2A0F76CCC3AF}">
      <dgm:prSet/>
      <dgm:spPr/>
      <dgm:t>
        <a:bodyPr/>
        <a:lstStyle/>
        <a:p>
          <a:pPr>
            <a:defRPr b="1"/>
          </a:pPr>
          <a:r>
            <a:rPr lang="en-US" b="1"/>
            <a:t>Phase A: The Offline Engine (Backend)</a:t>
          </a:r>
          <a:endParaRPr lang="en-US"/>
        </a:p>
      </dgm:t>
    </dgm:pt>
    <dgm:pt modelId="{9868C9CE-5A5E-41D1-A93E-6385000B6C45}" type="parTrans" cxnId="{010350E2-9035-4692-BB48-7630AB24D16F}">
      <dgm:prSet/>
      <dgm:spPr/>
      <dgm:t>
        <a:bodyPr/>
        <a:lstStyle/>
        <a:p>
          <a:endParaRPr lang="en-US"/>
        </a:p>
      </dgm:t>
    </dgm:pt>
    <dgm:pt modelId="{00B46698-CB55-41B7-8C62-7DEAC89B72F1}" type="sibTrans" cxnId="{010350E2-9035-4692-BB48-7630AB24D16F}">
      <dgm:prSet/>
      <dgm:spPr/>
      <dgm:t>
        <a:bodyPr/>
        <a:lstStyle/>
        <a:p>
          <a:endParaRPr lang="en-US"/>
        </a:p>
      </dgm:t>
    </dgm:pt>
    <dgm:pt modelId="{BED52ADD-553B-4B54-9A87-2505B40E16B9}">
      <dgm:prSet/>
      <dgm:spPr/>
      <dgm:t>
        <a:bodyPr/>
        <a:lstStyle/>
        <a:p>
          <a:r>
            <a:rPr lang="en-US"/>
            <a:t>This pipeline ingests the raw CrisisMMD data, cleans it, and feeds it through the CLIP model.</a:t>
          </a:r>
        </a:p>
      </dgm:t>
    </dgm:pt>
    <dgm:pt modelId="{D478AF3A-A4EB-42A0-8D19-A674557EF40C}" type="parTrans" cxnId="{AAFDB438-7A76-4AE8-84EC-46527A977B73}">
      <dgm:prSet/>
      <dgm:spPr/>
      <dgm:t>
        <a:bodyPr/>
        <a:lstStyle/>
        <a:p>
          <a:endParaRPr lang="en-US"/>
        </a:p>
      </dgm:t>
    </dgm:pt>
    <dgm:pt modelId="{7D09D1FE-CB75-46CA-A373-C711A756BADF}" type="sibTrans" cxnId="{AAFDB438-7A76-4AE8-84EC-46527A977B73}">
      <dgm:prSet/>
      <dgm:spPr/>
      <dgm:t>
        <a:bodyPr/>
        <a:lstStyle/>
        <a:p>
          <a:endParaRPr lang="en-US"/>
        </a:p>
      </dgm:t>
    </dgm:pt>
    <dgm:pt modelId="{19D19966-722A-4C0A-8C6B-A9E2A8814957}">
      <dgm:prSet/>
      <dgm:spPr/>
      <dgm:t>
        <a:bodyPr/>
        <a:lstStyle/>
        <a:p>
          <a:r>
            <a:rPr lang="en-US"/>
            <a:t>- It outputs a lightweight set of vector coordinates (.npy files) rather than processing images in real-time.</a:t>
          </a:r>
        </a:p>
      </dgm:t>
    </dgm:pt>
    <dgm:pt modelId="{63D36D03-74B4-444D-A074-DFF725CF4E1A}" type="parTrans" cxnId="{6B77F0ED-FC61-4B0C-800D-C4EFB2BD313F}">
      <dgm:prSet/>
      <dgm:spPr/>
      <dgm:t>
        <a:bodyPr/>
        <a:lstStyle/>
        <a:p>
          <a:endParaRPr lang="en-US"/>
        </a:p>
      </dgm:t>
    </dgm:pt>
    <dgm:pt modelId="{F47E5A32-81DF-4FA1-BC9F-CBA0A0B91E0E}" type="sibTrans" cxnId="{6B77F0ED-FC61-4B0C-800D-C4EFB2BD313F}">
      <dgm:prSet/>
      <dgm:spPr/>
      <dgm:t>
        <a:bodyPr/>
        <a:lstStyle/>
        <a:p>
          <a:endParaRPr lang="en-US"/>
        </a:p>
      </dgm:t>
    </dgm:pt>
    <dgm:pt modelId="{C79BA9C5-8EF6-4B58-BCA1-050253515108}">
      <dgm:prSet/>
      <dgm:spPr/>
      <dgm:t>
        <a:bodyPr/>
        <a:lstStyle/>
        <a:p>
          <a:pPr>
            <a:defRPr b="1"/>
          </a:pPr>
          <a:r>
            <a:rPr lang="en-US" b="1"/>
            <a:t>Phase B: The Online Visualisation (Frontend)</a:t>
          </a:r>
          <a:endParaRPr lang="en-US"/>
        </a:p>
      </dgm:t>
    </dgm:pt>
    <dgm:pt modelId="{7EC7085B-CFBB-4422-890B-D0CC4B040D6D}" type="parTrans" cxnId="{2E50D693-E3A7-45EA-A405-D59FDC01F038}">
      <dgm:prSet/>
      <dgm:spPr/>
      <dgm:t>
        <a:bodyPr/>
        <a:lstStyle/>
        <a:p>
          <a:endParaRPr lang="en-US"/>
        </a:p>
      </dgm:t>
    </dgm:pt>
    <dgm:pt modelId="{263D3FB0-B8FC-4B25-AD2A-77810B2CC85E}" type="sibTrans" cxnId="{2E50D693-E3A7-45EA-A405-D59FDC01F038}">
      <dgm:prSet/>
      <dgm:spPr/>
      <dgm:t>
        <a:bodyPr/>
        <a:lstStyle/>
        <a:p>
          <a:endParaRPr lang="en-US"/>
        </a:p>
      </dgm:t>
    </dgm:pt>
    <dgm:pt modelId="{74D904A1-1DA3-4058-BD8A-712E01A3636A}">
      <dgm:prSet/>
      <dgm:spPr/>
      <dgm:t>
        <a:bodyPr/>
        <a:lstStyle/>
        <a:p>
          <a:r>
            <a:rPr lang="en-US"/>
            <a:t>I am using Dash and Plotly to build the user interface.</a:t>
          </a:r>
        </a:p>
      </dgm:t>
    </dgm:pt>
    <dgm:pt modelId="{700B4266-0C64-4396-A3D5-D858F04B1467}" type="parTrans" cxnId="{122851DA-B085-46E2-B38E-DF5367001DB1}">
      <dgm:prSet/>
      <dgm:spPr/>
      <dgm:t>
        <a:bodyPr/>
        <a:lstStyle/>
        <a:p>
          <a:endParaRPr lang="en-US"/>
        </a:p>
      </dgm:t>
    </dgm:pt>
    <dgm:pt modelId="{A8508307-0AEC-4653-93A8-D4019864D20D}" type="sibTrans" cxnId="{122851DA-B085-46E2-B38E-DF5367001DB1}">
      <dgm:prSet/>
      <dgm:spPr/>
      <dgm:t>
        <a:bodyPr/>
        <a:lstStyle/>
        <a:p>
          <a:endParaRPr lang="en-US"/>
        </a:p>
      </dgm:t>
    </dgm:pt>
    <dgm:pt modelId="{87EEE5DC-1EED-4313-A5D5-75FD9B0AD5E8}">
      <dgm:prSet/>
      <dgm:spPr/>
      <dgm:t>
        <a:bodyPr/>
        <a:lstStyle/>
        <a:p>
          <a:r>
            <a:rPr lang="en-GB"/>
            <a:t>A lot of the h</a:t>
          </a:r>
          <a:r>
            <a:rPr lang="en-US"/>
            <a:t>eavy lifting is done offline, the dashboard remains responsive and fast, allowing for smooth user interaction on standard hardware.</a:t>
          </a:r>
        </a:p>
      </dgm:t>
    </dgm:pt>
    <dgm:pt modelId="{3FDCBD18-99C1-4312-A90A-540D88871EC9}" type="parTrans" cxnId="{2EEA1FB8-7539-40D2-8BDD-D9DAA7321E69}">
      <dgm:prSet/>
      <dgm:spPr/>
      <dgm:t>
        <a:bodyPr/>
        <a:lstStyle/>
        <a:p>
          <a:endParaRPr lang="en-US"/>
        </a:p>
      </dgm:t>
    </dgm:pt>
    <dgm:pt modelId="{53249E29-831D-4E7F-A05E-5E24597D87C5}" type="sibTrans" cxnId="{2EEA1FB8-7539-40D2-8BDD-D9DAA7321E69}">
      <dgm:prSet/>
      <dgm:spPr/>
      <dgm:t>
        <a:bodyPr/>
        <a:lstStyle/>
        <a:p>
          <a:endParaRPr lang="en-US"/>
        </a:p>
      </dgm:t>
    </dgm:pt>
    <dgm:pt modelId="{4B67A83F-075E-4FA4-8DA0-A4E6804F93C9}" type="pres">
      <dgm:prSet presAssocID="{D6815FE0-2B56-47BE-928E-C89E13D2573A}" presName="root" presStyleCnt="0">
        <dgm:presLayoutVars>
          <dgm:dir/>
          <dgm:resizeHandles val="exact"/>
        </dgm:presLayoutVars>
      </dgm:prSet>
      <dgm:spPr/>
    </dgm:pt>
    <dgm:pt modelId="{AF580A32-52D4-4014-9656-879062AB6F96}" type="pres">
      <dgm:prSet presAssocID="{DD289425-1158-4663-A4D9-13BC7578F810}" presName="compNode" presStyleCnt="0"/>
      <dgm:spPr/>
    </dgm:pt>
    <dgm:pt modelId="{904A405B-AF82-4027-80A3-89E90D335C41}" type="pres">
      <dgm:prSet presAssocID="{DD289425-1158-4663-A4D9-13BC7578F81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63749BFE-D269-4910-B0EB-84C15D1994A4}" type="pres">
      <dgm:prSet presAssocID="{DD289425-1158-4663-A4D9-13BC7578F810}" presName="iconSpace" presStyleCnt="0"/>
      <dgm:spPr/>
    </dgm:pt>
    <dgm:pt modelId="{449BD463-F016-4A49-9DAE-FC661E2C298A}" type="pres">
      <dgm:prSet presAssocID="{DD289425-1158-4663-A4D9-13BC7578F810}" presName="parTx" presStyleLbl="revTx" presStyleIdx="0" presStyleCnt="6">
        <dgm:presLayoutVars>
          <dgm:chMax val="0"/>
          <dgm:chPref val="0"/>
        </dgm:presLayoutVars>
      </dgm:prSet>
      <dgm:spPr/>
    </dgm:pt>
    <dgm:pt modelId="{7302C4FE-FC98-4452-AE66-58D55A1842F9}" type="pres">
      <dgm:prSet presAssocID="{DD289425-1158-4663-A4D9-13BC7578F810}" presName="txSpace" presStyleCnt="0"/>
      <dgm:spPr/>
    </dgm:pt>
    <dgm:pt modelId="{DF66B122-88AB-40D2-8B1C-433AA895CAF9}" type="pres">
      <dgm:prSet presAssocID="{DD289425-1158-4663-A4D9-13BC7578F810}" presName="desTx" presStyleLbl="revTx" presStyleIdx="1" presStyleCnt="6">
        <dgm:presLayoutVars/>
      </dgm:prSet>
      <dgm:spPr/>
    </dgm:pt>
    <dgm:pt modelId="{966C7A63-82C0-4C30-9B01-8FE605F83D94}" type="pres">
      <dgm:prSet presAssocID="{BDA1EA66-470F-4B21-BE48-F6AAB388B6DB}" presName="sibTrans" presStyleCnt="0"/>
      <dgm:spPr/>
    </dgm:pt>
    <dgm:pt modelId="{3ADCDD6F-5742-409A-B69D-43DD575461F1}" type="pres">
      <dgm:prSet presAssocID="{98E7FCCC-EBC7-4237-BBA1-2A0F76CCC3AF}" presName="compNode" presStyleCnt="0"/>
      <dgm:spPr/>
    </dgm:pt>
    <dgm:pt modelId="{99AE7189-1788-4AAB-A8B9-5DCECD400545}" type="pres">
      <dgm:prSet presAssocID="{98E7FCCC-EBC7-4237-BBA1-2A0F76CCC3A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3A072F59-68E9-4742-953B-9D5B0454894A}" type="pres">
      <dgm:prSet presAssocID="{98E7FCCC-EBC7-4237-BBA1-2A0F76CCC3AF}" presName="iconSpace" presStyleCnt="0"/>
      <dgm:spPr/>
    </dgm:pt>
    <dgm:pt modelId="{AD257528-F68C-4FD6-9CDC-E119F0ABAE30}" type="pres">
      <dgm:prSet presAssocID="{98E7FCCC-EBC7-4237-BBA1-2A0F76CCC3AF}" presName="parTx" presStyleLbl="revTx" presStyleIdx="2" presStyleCnt="6">
        <dgm:presLayoutVars>
          <dgm:chMax val="0"/>
          <dgm:chPref val="0"/>
        </dgm:presLayoutVars>
      </dgm:prSet>
      <dgm:spPr/>
    </dgm:pt>
    <dgm:pt modelId="{2823C3DA-70B5-4145-BBE3-EA515CB18F04}" type="pres">
      <dgm:prSet presAssocID="{98E7FCCC-EBC7-4237-BBA1-2A0F76CCC3AF}" presName="txSpace" presStyleCnt="0"/>
      <dgm:spPr/>
    </dgm:pt>
    <dgm:pt modelId="{716825BC-F51B-4F57-AC5E-446C42C2C691}" type="pres">
      <dgm:prSet presAssocID="{98E7FCCC-EBC7-4237-BBA1-2A0F76CCC3AF}" presName="desTx" presStyleLbl="revTx" presStyleIdx="3" presStyleCnt="6">
        <dgm:presLayoutVars/>
      </dgm:prSet>
      <dgm:spPr/>
    </dgm:pt>
    <dgm:pt modelId="{E80FD2C0-135F-4ED3-A855-6E172D670DFB}" type="pres">
      <dgm:prSet presAssocID="{00B46698-CB55-41B7-8C62-7DEAC89B72F1}" presName="sibTrans" presStyleCnt="0"/>
      <dgm:spPr/>
    </dgm:pt>
    <dgm:pt modelId="{468A173B-9847-4F13-86A2-76DB00D2E882}" type="pres">
      <dgm:prSet presAssocID="{C79BA9C5-8EF6-4B58-BCA1-050253515108}" presName="compNode" presStyleCnt="0"/>
      <dgm:spPr/>
    </dgm:pt>
    <dgm:pt modelId="{CC45F892-929A-449C-8250-5854E82F794B}" type="pres">
      <dgm:prSet presAssocID="{C79BA9C5-8EF6-4B58-BCA1-05025351510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5687BA14-BEAF-495F-B39D-1127FC90BE74}" type="pres">
      <dgm:prSet presAssocID="{C79BA9C5-8EF6-4B58-BCA1-050253515108}" presName="iconSpace" presStyleCnt="0"/>
      <dgm:spPr/>
    </dgm:pt>
    <dgm:pt modelId="{E2F622B3-2F59-4CBA-92AD-311C3E28898D}" type="pres">
      <dgm:prSet presAssocID="{C79BA9C5-8EF6-4B58-BCA1-050253515108}" presName="parTx" presStyleLbl="revTx" presStyleIdx="4" presStyleCnt="6">
        <dgm:presLayoutVars>
          <dgm:chMax val="0"/>
          <dgm:chPref val="0"/>
        </dgm:presLayoutVars>
      </dgm:prSet>
      <dgm:spPr/>
    </dgm:pt>
    <dgm:pt modelId="{E6F25CA4-EC5B-4B9D-8D92-EAEAF9F215A3}" type="pres">
      <dgm:prSet presAssocID="{C79BA9C5-8EF6-4B58-BCA1-050253515108}" presName="txSpace" presStyleCnt="0"/>
      <dgm:spPr/>
    </dgm:pt>
    <dgm:pt modelId="{C90447AF-DD5C-4D4C-9A2F-7C760D2C6015}" type="pres">
      <dgm:prSet presAssocID="{C79BA9C5-8EF6-4B58-BCA1-050253515108}" presName="desTx" presStyleLbl="revTx" presStyleIdx="5" presStyleCnt="6">
        <dgm:presLayoutVars/>
      </dgm:prSet>
      <dgm:spPr/>
    </dgm:pt>
  </dgm:ptLst>
  <dgm:cxnLst>
    <dgm:cxn modelId="{1D1C752B-93D5-4057-8101-536C170DB375}" type="presOf" srcId="{19D19966-722A-4C0A-8C6B-A9E2A8814957}" destId="{716825BC-F51B-4F57-AC5E-446C42C2C691}" srcOrd="0" destOrd="1" presId="urn:microsoft.com/office/officeart/2018/5/layout/CenteredIconLabelDescriptionList"/>
    <dgm:cxn modelId="{ECB55D2F-8EAD-4A90-9317-0B6F9F62B500}" type="presOf" srcId="{54379A65-8194-4D08-A20B-E8B8E3EB3D9D}" destId="{DF66B122-88AB-40D2-8B1C-433AA895CAF9}" srcOrd="0" destOrd="0" presId="urn:microsoft.com/office/officeart/2018/5/layout/CenteredIconLabelDescriptionList"/>
    <dgm:cxn modelId="{C36F0037-E5D6-490C-AE31-604E02F608B3}" type="presOf" srcId="{DD289425-1158-4663-A4D9-13BC7578F810}" destId="{449BD463-F016-4A49-9DAE-FC661E2C298A}" srcOrd="0" destOrd="0" presId="urn:microsoft.com/office/officeart/2018/5/layout/CenteredIconLabelDescriptionList"/>
    <dgm:cxn modelId="{AAFDB438-7A76-4AE8-84EC-46527A977B73}" srcId="{98E7FCCC-EBC7-4237-BBA1-2A0F76CCC3AF}" destId="{BED52ADD-553B-4B54-9A87-2505B40E16B9}" srcOrd="0" destOrd="0" parTransId="{D478AF3A-A4EB-42A0-8D19-A674557EF40C}" sibTransId="{7D09D1FE-CB75-46CA-A373-C711A756BADF}"/>
    <dgm:cxn modelId="{1FFA066A-54B0-4136-ADB5-CD4F1A9AF894}" type="presOf" srcId="{98E7FCCC-EBC7-4237-BBA1-2A0F76CCC3AF}" destId="{AD257528-F68C-4FD6-9CDC-E119F0ABAE30}" srcOrd="0" destOrd="0" presId="urn:microsoft.com/office/officeart/2018/5/layout/CenteredIconLabelDescriptionList"/>
    <dgm:cxn modelId="{6065897F-621F-44E1-B074-5C3ABC00DBAA}" type="presOf" srcId="{74D904A1-1DA3-4058-BD8A-712E01A3636A}" destId="{C90447AF-DD5C-4D4C-9A2F-7C760D2C6015}" srcOrd="0" destOrd="0" presId="urn:microsoft.com/office/officeart/2018/5/layout/CenteredIconLabelDescriptionList"/>
    <dgm:cxn modelId="{2D9F4484-CA84-4B33-8D56-EEC2B4ADC71E}" type="presOf" srcId="{D6815FE0-2B56-47BE-928E-C89E13D2573A}" destId="{4B67A83F-075E-4FA4-8DA0-A4E6804F93C9}" srcOrd="0" destOrd="0" presId="urn:microsoft.com/office/officeart/2018/5/layout/CenteredIconLabelDescriptionList"/>
    <dgm:cxn modelId="{89FAFF8C-62BE-44D5-8062-B693341977B9}" type="presOf" srcId="{87EEE5DC-1EED-4313-A5D5-75FD9B0AD5E8}" destId="{C90447AF-DD5C-4D4C-9A2F-7C760D2C6015}" srcOrd="0" destOrd="1" presId="urn:microsoft.com/office/officeart/2018/5/layout/CenteredIconLabelDescriptionList"/>
    <dgm:cxn modelId="{2E50D693-E3A7-45EA-A405-D59FDC01F038}" srcId="{D6815FE0-2B56-47BE-928E-C89E13D2573A}" destId="{C79BA9C5-8EF6-4B58-BCA1-050253515108}" srcOrd="2" destOrd="0" parTransId="{7EC7085B-CFBB-4422-890B-D0CC4B040D6D}" sibTransId="{263D3FB0-B8FC-4B25-AD2A-77810B2CC85E}"/>
    <dgm:cxn modelId="{6B567EB0-F85C-4C83-B9D0-D3A359FC2A81}" srcId="{DD289425-1158-4663-A4D9-13BC7578F810}" destId="{54379A65-8194-4D08-A20B-E8B8E3EB3D9D}" srcOrd="0" destOrd="0" parTransId="{14D58431-2B79-4351-9AA7-C3DFB9F481CE}" sibTransId="{0E00C01F-40A8-4323-A2A7-8C06EB48A496}"/>
    <dgm:cxn modelId="{2EEA1FB8-7539-40D2-8BDD-D9DAA7321E69}" srcId="{C79BA9C5-8EF6-4B58-BCA1-050253515108}" destId="{87EEE5DC-1EED-4313-A5D5-75FD9B0AD5E8}" srcOrd="1" destOrd="0" parTransId="{3FDCBD18-99C1-4312-A90A-540D88871EC9}" sibTransId="{53249E29-831D-4E7F-A05E-5E24597D87C5}"/>
    <dgm:cxn modelId="{87A810C4-2FEF-4E18-BEE9-EE29CEFEF929}" type="presOf" srcId="{C79BA9C5-8EF6-4B58-BCA1-050253515108}" destId="{E2F622B3-2F59-4CBA-92AD-311C3E28898D}" srcOrd="0" destOrd="0" presId="urn:microsoft.com/office/officeart/2018/5/layout/CenteredIconLabelDescriptionList"/>
    <dgm:cxn modelId="{8AE58CD9-0E21-4FEE-9591-3820EA874249}" type="presOf" srcId="{BED52ADD-553B-4B54-9A87-2505B40E16B9}" destId="{716825BC-F51B-4F57-AC5E-446C42C2C691}" srcOrd="0" destOrd="0" presId="urn:microsoft.com/office/officeart/2018/5/layout/CenteredIconLabelDescriptionList"/>
    <dgm:cxn modelId="{122851DA-B085-46E2-B38E-DF5367001DB1}" srcId="{C79BA9C5-8EF6-4B58-BCA1-050253515108}" destId="{74D904A1-1DA3-4058-BD8A-712E01A3636A}" srcOrd="0" destOrd="0" parTransId="{700B4266-0C64-4396-A3D5-D858F04B1467}" sibTransId="{A8508307-0AEC-4653-93A8-D4019864D20D}"/>
    <dgm:cxn modelId="{010350E2-9035-4692-BB48-7630AB24D16F}" srcId="{D6815FE0-2B56-47BE-928E-C89E13D2573A}" destId="{98E7FCCC-EBC7-4237-BBA1-2A0F76CCC3AF}" srcOrd="1" destOrd="0" parTransId="{9868C9CE-5A5E-41D1-A93E-6385000B6C45}" sibTransId="{00B46698-CB55-41B7-8C62-7DEAC89B72F1}"/>
    <dgm:cxn modelId="{6B77F0ED-FC61-4B0C-800D-C4EFB2BD313F}" srcId="{98E7FCCC-EBC7-4237-BBA1-2A0F76CCC3AF}" destId="{19D19966-722A-4C0A-8C6B-A9E2A8814957}" srcOrd="1" destOrd="0" parTransId="{63D36D03-74B4-444D-A074-DFF725CF4E1A}" sibTransId="{F47E5A32-81DF-4FA1-BC9F-CBA0A0B91E0E}"/>
    <dgm:cxn modelId="{644CECF7-006A-456B-B653-A55288D50E26}" srcId="{D6815FE0-2B56-47BE-928E-C89E13D2573A}" destId="{DD289425-1158-4663-A4D9-13BC7578F810}" srcOrd="0" destOrd="0" parTransId="{B5F5B40F-5E65-4D7A-AFA6-7D7C356D936E}" sibTransId="{BDA1EA66-470F-4B21-BE48-F6AAB388B6DB}"/>
    <dgm:cxn modelId="{33715B56-A5EE-4CAA-A496-0D8338D52AC7}" type="presParOf" srcId="{4B67A83F-075E-4FA4-8DA0-A4E6804F93C9}" destId="{AF580A32-52D4-4014-9656-879062AB6F96}" srcOrd="0" destOrd="0" presId="urn:microsoft.com/office/officeart/2018/5/layout/CenteredIconLabelDescriptionList"/>
    <dgm:cxn modelId="{B6F3F07A-9D68-4B96-B24F-10E324AA4854}" type="presParOf" srcId="{AF580A32-52D4-4014-9656-879062AB6F96}" destId="{904A405B-AF82-4027-80A3-89E90D335C41}" srcOrd="0" destOrd="0" presId="urn:microsoft.com/office/officeart/2018/5/layout/CenteredIconLabelDescriptionList"/>
    <dgm:cxn modelId="{9E07F151-FB30-44C6-95F5-E3389688E939}" type="presParOf" srcId="{AF580A32-52D4-4014-9656-879062AB6F96}" destId="{63749BFE-D269-4910-B0EB-84C15D1994A4}" srcOrd="1" destOrd="0" presId="urn:microsoft.com/office/officeart/2018/5/layout/CenteredIconLabelDescriptionList"/>
    <dgm:cxn modelId="{6E42DFB4-A06D-4A0A-A7AC-EF0F30031F09}" type="presParOf" srcId="{AF580A32-52D4-4014-9656-879062AB6F96}" destId="{449BD463-F016-4A49-9DAE-FC661E2C298A}" srcOrd="2" destOrd="0" presId="urn:microsoft.com/office/officeart/2018/5/layout/CenteredIconLabelDescriptionList"/>
    <dgm:cxn modelId="{AE4B89A2-C6D8-40B6-919C-659A51D539B4}" type="presParOf" srcId="{AF580A32-52D4-4014-9656-879062AB6F96}" destId="{7302C4FE-FC98-4452-AE66-58D55A1842F9}" srcOrd="3" destOrd="0" presId="urn:microsoft.com/office/officeart/2018/5/layout/CenteredIconLabelDescriptionList"/>
    <dgm:cxn modelId="{477D3F7D-03AA-4B6D-9E75-70DA2CABACE1}" type="presParOf" srcId="{AF580A32-52D4-4014-9656-879062AB6F96}" destId="{DF66B122-88AB-40D2-8B1C-433AA895CAF9}" srcOrd="4" destOrd="0" presId="urn:microsoft.com/office/officeart/2018/5/layout/CenteredIconLabelDescriptionList"/>
    <dgm:cxn modelId="{0B2E0256-E7C7-4CF0-9E0C-EB4D377A4E84}" type="presParOf" srcId="{4B67A83F-075E-4FA4-8DA0-A4E6804F93C9}" destId="{966C7A63-82C0-4C30-9B01-8FE605F83D94}" srcOrd="1" destOrd="0" presId="urn:microsoft.com/office/officeart/2018/5/layout/CenteredIconLabelDescriptionList"/>
    <dgm:cxn modelId="{6598F4C1-F3E5-4829-96D8-F6FF667BD624}" type="presParOf" srcId="{4B67A83F-075E-4FA4-8DA0-A4E6804F93C9}" destId="{3ADCDD6F-5742-409A-B69D-43DD575461F1}" srcOrd="2" destOrd="0" presId="urn:microsoft.com/office/officeart/2018/5/layout/CenteredIconLabelDescriptionList"/>
    <dgm:cxn modelId="{A53D51B4-8E99-455C-BE73-05EBE8E61C08}" type="presParOf" srcId="{3ADCDD6F-5742-409A-B69D-43DD575461F1}" destId="{99AE7189-1788-4AAB-A8B9-5DCECD400545}" srcOrd="0" destOrd="0" presId="urn:microsoft.com/office/officeart/2018/5/layout/CenteredIconLabelDescriptionList"/>
    <dgm:cxn modelId="{760C06A4-A119-4637-8295-9D9BC5BDF0B6}" type="presParOf" srcId="{3ADCDD6F-5742-409A-B69D-43DD575461F1}" destId="{3A072F59-68E9-4742-953B-9D5B0454894A}" srcOrd="1" destOrd="0" presId="urn:microsoft.com/office/officeart/2018/5/layout/CenteredIconLabelDescriptionList"/>
    <dgm:cxn modelId="{076DE62A-3B74-4E50-9766-3F26F9AB15C2}" type="presParOf" srcId="{3ADCDD6F-5742-409A-B69D-43DD575461F1}" destId="{AD257528-F68C-4FD6-9CDC-E119F0ABAE30}" srcOrd="2" destOrd="0" presId="urn:microsoft.com/office/officeart/2018/5/layout/CenteredIconLabelDescriptionList"/>
    <dgm:cxn modelId="{E10F7C0A-1A67-4DD9-A557-EC1B77CE9C42}" type="presParOf" srcId="{3ADCDD6F-5742-409A-B69D-43DD575461F1}" destId="{2823C3DA-70B5-4145-BBE3-EA515CB18F04}" srcOrd="3" destOrd="0" presId="urn:microsoft.com/office/officeart/2018/5/layout/CenteredIconLabelDescriptionList"/>
    <dgm:cxn modelId="{58813990-EE79-4DBD-A6BD-A650DF22F538}" type="presParOf" srcId="{3ADCDD6F-5742-409A-B69D-43DD575461F1}" destId="{716825BC-F51B-4F57-AC5E-446C42C2C691}" srcOrd="4" destOrd="0" presId="urn:microsoft.com/office/officeart/2018/5/layout/CenteredIconLabelDescriptionList"/>
    <dgm:cxn modelId="{83488654-41BC-42F5-942F-F552A482BCB2}" type="presParOf" srcId="{4B67A83F-075E-4FA4-8DA0-A4E6804F93C9}" destId="{E80FD2C0-135F-4ED3-A855-6E172D670DFB}" srcOrd="3" destOrd="0" presId="urn:microsoft.com/office/officeart/2018/5/layout/CenteredIconLabelDescriptionList"/>
    <dgm:cxn modelId="{74C1D193-476B-4D1B-A60B-B8E216BFE1E4}" type="presParOf" srcId="{4B67A83F-075E-4FA4-8DA0-A4E6804F93C9}" destId="{468A173B-9847-4F13-86A2-76DB00D2E882}" srcOrd="4" destOrd="0" presId="urn:microsoft.com/office/officeart/2018/5/layout/CenteredIconLabelDescriptionList"/>
    <dgm:cxn modelId="{05EE2C75-D5B2-4871-809D-50F19074D263}" type="presParOf" srcId="{468A173B-9847-4F13-86A2-76DB00D2E882}" destId="{CC45F892-929A-449C-8250-5854E82F794B}" srcOrd="0" destOrd="0" presId="urn:microsoft.com/office/officeart/2018/5/layout/CenteredIconLabelDescriptionList"/>
    <dgm:cxn modelId="{E1BC6CCC-BC50-4964-8CC3-71C8FD83B1EB}" type="presParOf" srcId="{468A173B-9847-4F13-86A2-76DB00D2E882}" destId="{5687BA14-BEAF-495F-B39D-1127FC90BE74}" srcOrd="1" destOrd="0" presId="urn:microsoft.com/office/officeart/2018/5/layout/CenteredIconLabelDescriptionList"/>
    <dgm:cxn modelId="{C7EA045C-21ED-42B4-8C14-6DE5AAEF479A}" type="presParOf" srcId="{468A173B-9847-4F13-86A2-76DB00D2E882}" destId="{E2F622B3-2F59-4CBA-92AD-311C3E28898D}" srcOrd="2" destOrd="0" presId="urn:microsoft.com/office/officeart/2018/5/layout/CenteredIconLabelDescriptionList"/>
    <dgm:cxn modelId="{E80B4CFF-9735-44D7-93DE-8A8E103EE6F3}" type="presParOf" srcId="{468A173B-9847-4F13-86A2-76DB00D2E882}" destId="{E6F25CA4-EC5B-4B9D-8D92-EAEAF9F215A3}" srcOrd="3" destOrd="0" presId="urn:microsoft.com/office/officeart/2018/5/layout/CenteredIconLabelDescriptionList"/>
    <dgm:cxn modelId="{F9955C62-AFA4-479A-A586-E01979ABF4AD}" type="presParOf" srcId="{468A173B-9847-4F13-86A2-76DB00D2E882}" destId="{C90447AF-DD5C-4D4C-9A2F-7C760D2C6015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9824A1B-A2B6-4FCB-B161-EC5291F90371}" type="doc">
      <dgm:prSet loTypeId="urn:microsoft.com/office/officeart/2018/2/layout/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A6643CA-069F-4333-8068-C4236BD3C7C6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1"/>
            <a:t>Data Ingestion Pipeline</a:t>
          </a:r>
          <a:endParaRPr lang="en-US"/>
        </a:p>
      </dgm:t>
    </dgm:pt>
    <dgm:pt modelId="{856D2924-252F-47B0-A424-AC31638942B4}" type="parTrans" cxnId="{46D21078-F77D-463F-9AA0-68320EEB1ADF}">
      <dgm:prSet/>
      <dgm:spPr/>
      <dgm:t>
        <a:bodyPr/>
        <a:lstStyle/>
        <a:p>
          <a:endParaRPr lang="en-US"/>
        </a:p>
      </dgm:t>
    </dgm:pt>
    <dgm:pt modelId="{BB2212DF-208A-46E8-BEB6-6AB0C5B24D39}" type="sibTrans" cxnId="{46D21078-F77D-463F-9AA0-68320EEB1ADF}">
      <dgm:prSet/>
      <dgm:spPr/>
      <dgm:t>
        <a:bodyPr/>
        <a:lstStyle/>
        <a:p>
          <a:endParaRPr lang="en-US"/>
        </a:p>
      </dgm:t>
    </dgm:pt>
    <dgm:pt modelId="{77F38064-76F0-486B-BB86-66AC1D4637A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 have successfully ingested the full CrisisMMD dataset (approx 18,000 images).</a:t>
          </a:r>
        </a:p>
      </dgm:t>
    </dgm:pt>
    <dgm:pt modelId="{88A7F76C-43C0-4D60-AD36-0CF42C6609CE}" type="parTrans" cxnId="{9BA75D74-57E7-46B2-89A6-B6C8025F5F2B}">
      <dgm:prSet/>
      <dgm:spPr/>
      <dgm:t>
        <a:bodyPr/>
        <a:lstStyle/>
        <a:p>
          <a:endParaRPr lang="en-US"/>
        </a:p>
      </dgm:t>
    </dgm:pt>
    <dgm:pt modelId="{92493FA8-D8C3-46B9-A02B-4A5FA7BFC291}" type="sibTrans" cxnId="{9BA75D74-57E7-46B2-89A6-B6C8025F5F2B}">
      <dgm:prSet/>
      <dgm:spPr/>
      <dgm:t>
        <a:bodyPr/>
        <a:lstStyle/>
        <a:p>
          <a:endParaRPr lang="en-US"/>
        </a:p>
      </dgm:t>
    </dgm:pt>
    <dgm:pt modelId="{F2898FD8-39AE-4F0D-B8A2-92E39E9CB88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 wrote a custom cleaning script to handle corruption, ensuring only valid images are passed to the model.</a:t>
          </a:r>
        </a:p>
      </dgm:t>
    </dgm:pt>
    <dgm:pt modelId="{A60F32AB-DDC2-4370-BF50-1DCC03DBB996}" type="parTrans" cxnId="{B4459AB0-B30F-45D7-A315-1EE86197978B}">
      <dgm:prSet/>
      <dgm:spPr/>
      <dgm:t>
        <a:bodyPr/>
        <a:lstStyle/>
        <a:p>
          <a:endParaRPr lang="en-US"/>
        </a:p>
      </dgm:t>
    </dgm:pt>
    <dgm:pt modelId="{C45EFEA0-9EEB-445C-BFA7-0415DD1A1A26}" type="sibTrans" cxnId="{B4459AB0-B30F-45D7-A315-1EE86197978B}">
      <dgm:prSet/>
      <dgm:spPr/>
      <dgm:t>
        <a:bodyPr/>
        <a:lstStyle/>
        <a:p>
          <a:endParaRPr lang="en-US"/>
        </a:p>
      </dgm:t>
    </dgm:pt>
    <dgm:pt modelId="{5B840BCB-76D0-4161-A8C9-3B3EDE74B4FE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1"/>
            <a:t>Validation Prototype (V4)</a:t>
          </a:r>
          <a:endParaRPr lang="en-US"/>
        </a:p>
      </dgm:t>
    </dgm:pt>
    <dgm:pt modelId="{9A5ED212-5E79-41CD-8C24-BC23FF24C823}" type="parTrans" cxnId="{7564E579-40C6-4DE1-89E1-4596ED6640AA}">
      <dgm:prSet/>
      <dgm:spPr/>
      <dgm:t>
        <a:bodyPr/>
        <a:lstStyle/>
        <a:p>
          <a:endParaRPr lang="en-US"/>
        </a:p>
      </dgm:t>
    </dgm:pt>
    <dgm:pt modelId="{E573CAF5-F975-4815-B349-77A88CB696CF}" type="sibTrans" cxnId="{7564E579-40C6-4DE1-89E1-4596ED6640AA}">
      <dgm:prSet/>
      <dgm:spPr/>
      <dgm:t>
        <a:bodyPr/>
        <a:lstStyle/>
        <a:p>
          <a:endParaRPr lang="en-US"/>
        </a:p>
      </dgm:t>
    </dgm:pt>
    <dgm:pt modelId="{962CFCF5-399C-48D5-923A-452500BB0CC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 built a grid-based explorer in Dash to visually verify the quality of the metadata.</a:t>
          </a:r>
        </a:p>
      </dgm:t>
    </dgm:pt>
    <dgm:pt modelId="{D71FE02A-6F32-48FB-8667-975392B63F99}" type="parTrans" cxnId="{E196D998-80A3-4373-9D47-F415C561B26C}">
      <dgm:prSet/>
      <dgm:spPr/>
      <dgm:t>
        <a:bodyPr/>
        <a:lstStyle/>
        <a:p>
          <a:endParaRPr lang="en-US"/>
        </a:p>
      </dgm:t>
    </dgm:pt>
    <dgm:pt modelId="{3CA2E85A-DD30-40A1-B8B6-61921F172E54}" type="sibTrans" cxnId="{E196D998-80A3-4373-9D47-F415C561B26C}">
      <dgm:prSet/>
      <dgm:spPr/>
      <dgm:t>
        <a:bodyPr/>
        <a:lstStyle/>
        <a:p>
          <a:endParaRPr lang="en-US"/>
        </a:p>
      </dgm:t>
    </dgm:pt>
    <dgm:pt modelId="{73E2D51E-626D-447D-95C0-5872094FEA1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This step confirmed that the image resolution (min 200x200px) is sufficient for the CLIP vectorisation process.</a:t>
          </a:r>
        </a:p>
      </dgm:t>
    </dgm:pt>
    <dgm:pt modelId="{4BAC54F9-DA80-466D-AD05-7E08339810DC}" type="parTrans" cxnId="{05887811-0E36-4C61-987D-99A3867FB3AA}">
      <dgm:prSet/>
      <dgm:spPr/>
      <dgm:t>
        <a:bodyPr/>
        <a:lstStyle/>
        <a:p>
          <a:endParaRPr lang="en-US"/>
        </a:p>
      </dgm:t>
    </dgm:pt>
    <dgm:pt modelId="{E1CEB802-E4EA-4D61-B3D6-A981DE45080F}" type="sibTrans" cxnId="{05887811-0E36-4C61-987D-99A3867FB3AA}">
      <dgm:prSet/>
      <dgm:spPr/>
      <dgm:t>
        <a:bodyPr/>
        <a:lstStyle/>
        <a:p>
          <a:endParaRPr lang="en-US"/>
        </a:p>
      </dgm:t>
    </dgm:pt>
    <dgm:pt modelId="{F6DE9F5E-974D-42AB-97A0-23EC02D4349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1"/>
            <a:t>Environment Setup</a:t>
          </a:r>
          <a:endParaRPr lang="en-US"/>
        </a:p>
      </dgm:t>
    </dgm:pt>
    <dgm:pt modelId="{00066EC8-395C-491A-9CD1-478AC6AA05AA}" type="parTrans" cxnId="{60A616DF-1378-4912-AB6B-7A5CA15FFCA0}">
      <dgm:prSet/>
      <dgm:spPr/>
      <dgm:t>
        <a:bodyPr/>
        <a:lstStyle/>
        <a:p>
          <a:endParaRPr lang="en-US"/>
        </a:p>
      </dgm:t>
    </dgm:pt>
    <dgm:pt modelId="{B2480841-7F8A-4964-A3DA-97519B0EE1C6}" type="sibTrans" cxnId="{60A616DF-1378-4912-AB6B-7A5CA15FFCA0}">
      <dgm:prSet/>
      <dgm:spPr/>
      <dgm:t>
        <a:bodyPr/>
        <a:lstStyle/>
        <a:p>
          <a:endParaRPr lang="en-US"/>
        </a:p>
      </dgm:t>
    </dgm:pt>
    <dgm:pt modelId="{470EFAD6-57B9-4B27-A441-7BD54D6A8A7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My local development environment is fully configured with PyTorch and CUDA acceleration.</a:t>
          </a:r>
        </a:p>
      </dgm:t>
    </dgm:pt>
    <dgm:pt modelId="{21FF40FF-03C0-4B06-8961-FCFAA872E13A}" type="parTrans" cxnId="{51D88A1F-1B74-407A-950E-7EA0A2C05107}">
      <dgm:prSet/>
      <dgm:spPr/>
      <dgm:t>
        <a:bodyPr/>
        <a:lstStyle/>
        <a:p>
          <a:endParaRPr lang="en-US"/>
        </a:p>
      </dgm:t>
    </dgm:pt>
    <dgm:pt modelId="{0ED532D4-2DE1-44E1-AA42-072E94D608CB}" type="sibTrans" cxnId="{51D88A1F-1B74-407A-950E-7EA0A2C05107}">
      <dgm:prSet/>
      <dgm:spPr/>
      <dgm:t>
        <a:bodyPr/>
        <a:lstStyle/>
        <a:p>
          <a:endParaRPr lang="en-US"/>
        </a:p>
      </dgm:t>
    </dgm:pt>
    <dgm:pt modelId="{4E9906B9-3FB1-42D6-8648-1B224D3DDD2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The core vectorisation pipeline is currently running, marking the start of Phase 3.</a:t>
          </a:r>
        </a:p>
      </dgm:t>
    </dgm:pt>
    <dgm:pt modelId="{11304024-6486-4532-97C7-A2D79C8EFA0B}" type="parTrans" cxnId="{6EEFA95F-5958-4ADE-B509-5AADC5744A87}">
      <dgm:prSet/>
      <dgm:spPr/>
      <dgm:t>
        <a:bodyPr/>
        <a:lstStyle/>
        <a:p>
          <a:endParaRPr lang="en-US"/>
        </a:p>
      </dgm:t>
    </dgm:pt>
    <dgm:pt modelId="{C861F7B4-9153-43D5-AECD-D6EAAD71B1ED}" type="sibTrans" cxnId="{6EEFA95F-5958-4ADE-B509-5AADC5744A87}">
      <dgm:prSet/>
      <dgm:spPr/>
      <dgm:t>
        <a:bodyPr/>
        <a:lstStyle/>
        <a:p>
          <a:endParaRPr lang="en-US"/>
        </a:p>
      </dgm:t>
    </dgm:pt>
    <dgm:pt modelId="{8F3BD9FB-73A7-409E-BDB2-BD37ADAA3939}" type="pres">
      <dgm:prSet presAssocID="{C9824A1B-A2B6-4FCB-B161-EC5291F90371}" presName="root" presStyleCnt="0">
        <dgm:presLayoutVars>
          <dgm:dir/>
          <dgm:resizeHandles val="exact"/>
        </dgm:presLayoutVars>
      </dgm:prSet>
      <dgm:spPr/>
    </dgm:pt>
    <dgm:pt modelId="{EFDB8AC9-F231-44F0-A024-66CED9131C65}" type="pres">
      <dgm:prSet presAssocID="{EA6643CA-069F-4333-8068-C4236BD3C7C6}" presName="compNode" presStyleCnt="0"/>
      <dgm:spPr/>
    </dgm:pt>
    <dgm:pt modelId="{F737DD49-3AFD-44C6-973D-37E6BFFBC0F2}" type="pres">
      <dgm:prSet presAssocID="{EA6643CA-069F-4333-8068-C4236BD3C7C6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734285D2-C862-48B7-A641-E3608E9F0E74}" type="pres">
      <dgm:prSet presAssocID="{EA6643CA-069F-4333-8068-C4236BD3C7C6}" presName="iconSpace" presStyleCnt="0"/>
      <dgm:spPr/>
    </dgm:pt>
    <dgm:pt modelId="{3AA2BD2D-29A7-4178-8173-AE7616742D69}" type="pres">
      <dgm:prSet presAssocID="{EA6643CA-069F-4333-8068-C4236BD3C7C6}" presName="parTx" presStyleLbl="revTx" presStyleIdx="0" presStyleCnt="6">
        <dgm:presLayoutVars>
          <dgm:chMax val="0"/>
          <dgm:chPref val="0"/>
        </dgm:presLayoutVars>
      </dgm:prSet>
      <dgm:spPr/>
    </dgm:pt>
    <dgm:pt modelId="{85B560E7-6B56-47AA-949E-A3A5AA8BF9F5}" type="pres">
      <dgm:prSet presAssocID="{EA6643CA-069F-4333-8068-C4236BD3C7C6}" presName="txSpace" presStyleCnt="0"/>
      <dgm:spPr/>
    </dgm:pt>
    <dgm:pt modelId="{2B3F1570-9E9B-4773-AFF3-E0EFE6F59177}" type="pres">
      <dgm:prSet presAssocID="{EA6643CA-069F-4333-8068-C4236BD3C7C6}" presName="desTx" presStyleLbl="revTx" presStyleIdx="1" presStyleCnt="6">
        <dgm:presLayoutVars/>
      </dgm:prSet>
      <dgm:spPr/>
    </dgm:pt>
    <dgm:pt modelId="{415698A8-22F8-42BC-82AF-92CDE6AB99CA}" type="pres">
      <dgm:prSet presAssocID="{BB2212DF-208A-46E8-BEB6-6AB0C5B24D39}" presName="sibTrans" presStyleCnt="0"/>
      <dgm:spPr/>
    </dgm:pt>
    <dgm:pt modelId="{D3D84715-7064-4134-B93B-33DC51F2095A}" type="pres">
      <dgm:prSet presAssocID="{5B840BCB-76D0-4161-A8C9-3B3EDE74B4FE}" presName="compNode" presStyleCnt="0"/>
      <dgm:spPr/>
    </dgm:pt>
    <dgm:pt modelId="{DBBC9CCB-04C6-411C-856B-CEF5AA21AA47}" type="pres">
      <dgm:prSet presAssocID="{5B840BCB-76D0-4161-A8C9-3B3EDE74B4F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2328EF63-E65D-40B2-BE56-5A3EC007917F}" type="pres">
      <dgm:prSet presAssocID="{5B840BCB-76D0-4161-A8C9-3B3EDE74B4FE}" presName="iconSpace" presStyleCnt="0"/>
      <dgm:spPr/>
    </dgm:pt>
    <dgm:pt modelId="{9DA3BF17-1728-4C48-A3C9-205E7B8185A4}" type="pres">
      <dgm:prSet presAssocID="{5B840BCB-76D0-4161-A8C9-3B3EDE74B4FE}" presName="parTx" presStyleLbl="revTx" presStyleIdx="2" presStyleCnt="6">
        <dgm:presLayoutVars>
          <dgm:chMax val="0"/>
          <dgm:chPref val="0"/>
        </dgm:presLayoutVars>
      </dgm:prSet>
      <dgm:spPr/>
    </dgm:pt>
    <dgm:pt modelId="{B46A6C3D-4045-4220-BEC7-280C98BE6F92}" type="pres">
      <dgm:prSet presAssocID="{5B840BCB-76D0-4161-A8C9-3B3EDE74B4FE}" presName="txSpace" presStyleCnt="0"/>
      <dgm:spPr/>
    </dgm:pt>
    <dgm:pt modelId="{E966A290-61F1-43DB-BE29-69A8ECFB4386}" type="pres">
      <dgm:prSet presAssocID="{5B840BCB-76D0-4161-A8C9-3B3EDE74B4FE}" presName="desTx" presStyleLbl="revTx" presStyleIdx="3" presStyleCnt="6">
        <dgm:presLayoutVars/>
      </dgm:prSet>
      <dgm:spPr/>
    </dgm:pt>
    <dgm:pt modelId="{6F6CCE9B-2581-4A47-877B-851ADF98E162}" type="pres">
      <dgm:prSet presAssocID="{E573CAF5-F975-4815-B349-77A88CB696CF}" presName="sibTrans" presStyleCnt="0"/>
      <dgm:spPr/>
    </dgm:pt>
    <dgm:pt modelId="{4CC9D446-7ACA-4209-ABF4-5711866CC4EA}" type="pres">
      <dgm:prSet presAssocID="{F6DE9F5E-974D-42AB-97A0-23EC02D4349B}" presName="compNode" presStyleCnt="0"/>
      <dgm:spPr/>
    </dgm:pt>
    <dgm:pt modelId="{37BCBA6D-E29E-42DB-8A32-7EA5D1A226A4}" type="pres">
      <dgm:prSet presAssocID="{F6DE9F5E-974D-42AB-97A0-23EC02D4349B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0A257ACA-B7E4-4E88-AF5D-8C89BFF589A8}" type="pres">
      <dgm:prSet presAssocID="{F6DE9F5E-974D-42AB-97A0-23EC02D4349B}" presName="iconSpace" presStyleCnt="0"/>
      <dgm:spPr/>
    </dgm:pt>
    <dgm:pt modelId="{B0B1793D-757B-4539-A581-C5304333DB1D}" type="pres">
      <dgm:prSet presAssocID="{F6DE9F5E-974D-42AB-97A0-23EC02D4349B}" presName="parTx" presStyleLbl="revTx" presStyleIdx="4" presStyleCnt="6">
        <dgm:presLayoutVars>
          <dgm:chMax val="0"/>
          <dgm:chPref val="0"/>
        </dgm:presLayoutVars>
      </dgm:prSet>
      <dgm:spPr/>
    </dgm:pt>
    <dgm:pt modelId="{60EA76F7-4AC5-4244-AA0F-45A83C4E61CF}" type="pres">
      <dgm:prSet presAssocID="{F6DE9F5E-974D-42AB-97A0-23EC02D4349B}" presName="txSpace" presStyleCnt="0"/>
      <dgm:spPr/>
    </dgm:pt>
    <dgm:pt modelId="{FE95D74A-D977-4240-AC6E-FF606BBA7913}" type="pres">
      <dgm:prSet presAssocID="{F6DE9F5E-974D-42AB-97A0-23EC02D4349B}" presName="desTx" presStyleLbl="revTx" presStyleIdx="5" presStyleCnt="6">
        <dgm:presLayoutVars/>
      </dgm:prSet>
      <dgm:spPr/>
    </dgm:pt>
  </dgm:ptLst>
  <dgm:cxnLst>
    <dgm:cxn modelId="{05887811-0E36-4C61-987D-99A3867FB3AA}" srcId="{5B840BCB-76D0-4161-A8C9-3B3EDE74B4FE}" destId="{73E2D51E-626D-447D-95C0-5872094FEA14}" srcOrd="1" destOrd="0" parTransId="{4BAC54F9-DA80-466D-AD05-7E08339810DC}" sibTransId="{E1CEB802-E4EA-4D61-B3D6-A981DE45080F}"/>
    <dgm:cxn modelId="{51D88A1F-1B74-407A-950E-7EA0A2C05107}" srcId="{F6DE9F5E-974D-42AB-97A0-23EC02D4349B}" destId="{470EFAD6-57B9-4B27-A441-7BD54D6A8A71}" srcOrd="0" destOrd="0" parTransId="{21FF40FF-03C0-4B06-8961-FCFAA872E13A}" sibTransId="{0ED532D4-2DE1-44E1-AA42-072E94D608CB}"/>
    <dgm:cxn modelId="{5170F22B-7F56-485B-A377-C9D5B73154B1}" type="presOf" srcId="{4E9906B9-3FB1-42D6-8648-1B224D3DDD2D}" destId="{FE95D74A-D977-4240-AC6E-FF606BBA7913}" srcOrd="0" destOrd="1" presId="urn:microsoft.com/office/officeart/2018/2/layout/IconLabelDescriptionList"/>
    <dgm:cxn modelId="{E723B235-BA21-47F7-8674-F02098360467}" type="presOf" srcId="{962CFCF5-399C-48D5-923A-452500BB0CCD}" destId="{E966A290-61F1-43DB-BE29-69A8ECFB4386}" srcOrd="0" destOrd="0" presId="urn:microsoft.com/office/officeart/2018/2/layout/IconLabelDescriptionList"/>
    <dgm:cxn modelId="{D9D85A5B-D653-41CB-B106-AD812B19F689}" type="presOf" srcId="{73E2D51E-626D-447D-95C0-5872094FEA14}" destId="{E966A290-61F1-43DB-BE29-69A8ECFB4386}" srcOrd="0" destOrd="1" presId="urn:microsoft.com/office/officeart/2018/2/layout/IconLabelDescriptionList"/>
    <dgm:cxn modelId="{6EEFA95F-5958-4ADE-B509-5AADC5744A87}" srcId="{F6DE9F5E-974D-42AB-97A0-23EC02D4349B}" destId="{4E9906B9-3FB1-42D6-8648-1B224D3DDD2D}" srcOrd="1" destOrd="0" parTransId="{11304024-6486-4532-97C7-A2D79C8EFA0B}" sibTransId="{C861F7B4-9153-43D5-AECD-D6EAAD71B1ED}"/>
    <dgm:cxn modelId="{11EA3A4F-5FAB-48B0-BA16-9E1BD7E07F09}" type="presOf" srcId="{77F38064-76F0-486B-BB86-66AC1D4637AA}" destId="{2B3F1570-9E9B-4773-AFF3-E0EFE6F59177}" srcOrd="0" destOrd="0" presId="urn:microsoft.com/office/officeart/2018/2/layout/IconLabelDescriptionList"/>
    <dgm:cxn modelId="{9BA75D74-57E7-46B2-89A6-B6C8025F5F2B}" srcId="{EA6643CA-069F-4333-8068-C4236BD3C7C6}" destId="{77F38064-76F0-486B-BB86-66AC1D4637AA}" srcOrd="0" destOrd="0" parTransId="{88A7F76C-43C0-4D60-AD36-0CF42C6609CE}" sibTransId="{92493FA8-D8C3-46B9-A02B-4A5FA7BFC291}"/>
    <dgm:cxn modelId="{847CEB56-7DD1-42D6-B261-C26A0B06587C}" type="presOf" srcId="{5B840BCB-76D0-4161-A8C9-3B3EDE74B4FE}" destId="{9DA3BF17-1728-4C48-A3C9-205E7B8185A4}" srcOrd="0" destOrd="0" presId="urn:microsoft.com/office/officeart/2018/2/layout/IconLabelDescriptionList"/>
    <dgm:cxn modelId="{46D21078-F77D-463F-9AA0-68320EEB1ADF}" srcId="{C9824A1B-A2B6-4FCB-B161-EC5291F90371}" destId="{EA6643CA-069F-4333-8068-C4236BD3C7C6}" srcOrd="0" destOrd="0" parTransId="{856D2924-252F-47B0-A424-AC31638942B4}" sibTransId="{BB2212DF-208A-46E8-BEB6-6AB0C5B24D39}"/>
    <dgm:cxn modelId="{7564E579-40C6-4DE1-89E1-4596ED6640AA}" srcId="{C9824A1B-A2B6-4FCB-B161-EC5291F90371}" destId="{5B840BCB-76D0-4161-A8C9-3B3EDE74B4FE}" srcOrd="1" destOrd="0" parTransId="{9A5ED212-5E79-41CD-8C24-BC23FF24C823}" sibTransId="{E573CAF5-F975-4815-B349-77A88CB696CF}"/>
    <dgm:cxn modelId="{0E75EF87-7C13-42ED-9F76-52EE6F48F740}" type="presOf" srcId="{F6DE9F5E-974D-42AB-97A0-23EC02D4349B}" destId="{B0B1793D-757B-4539-A581-C5304333DB1D}" srcOrd="0" destOrd="0" presId="urn:microsoft.com/office/officeart/2018/2/layout/IconLabelDescriptionList"/>
    <dgm:cxn modelId="{A1F01B8B-9420-409C-976D-6CA73423E202}" type="presOf" srcId="{EA6643CA-069F-4333-8068-C4236BD3C7C6}" destId="{3AA2BD2D-29A7-4178-8173-AE7616742D69}" srcOrd="0" destOrd="0" presId="urn:microsoft.com/office/officeart/2018/2/layout/IconLabelDescriptionList"/>
    <dgm:cxn modelId="{E196D998-80A3-4373-9D47-F415C561B26C}" srcId="{5B840BCB-76D0-4161-A8C9-3B3EDE74B4FE}" destId="{962CFCF5-399C-48D5-923A-452500BB0CCD}" srcOrd="0" destOrd="0" parTransId="{D71FE02A-6F32-48FB-8667-975392B63F99}" sibTransId="{3CA2E85A-DD30-40A1-B8B6-61921F172E54}"/>
    <dgm:cxn modelId="{167588AD-A22B-4AB4-865F-8F87D867469B}" type="presOf" srcId="{470EFAD6-57B9-4B27-A441-7BD54D6A8A71}" destId="{FE95D74A-D977-4240-AC6E-FF606BBA7913}" srcOrd="0" destOrd="0" presId="urn:microsoft.com/office/officeart/2018/2/layout/IconLabelDescriptionList"/>
    <dgm:cxn modelId="{640AB5AE-0932-4EAC-8C0F-FE3792F06AF0}" type="presOf" srcId="{C9824A1B-A2B6-4FCB-B161-EC5291F90371}" destId="{8F3BD9FB-73A7-409E-BDB2-BD37ADAA3939}" srcOrd="0" destOrd="0" presId="urn:microsoft.com/office/officeart/2018/2/layout/IconLabelDescriptionList"/>
    <dgm:cxn modelId="{B4459AB0-B30F-45D7-A315-1EE86197978B}" srcId="{EA6643CA-069F-4333-8068-C4236BD3C7C6}" destId="{F2898FD8-39AE-4F0D-B8A2-92E39E9CB88B}" srcOrd="1" destOrd="0" parTransId="{A60F32AB-DDC2-4370-BF50-1DCC03DBB996}" sibTransId="{C45EFEA0-9EEB-445C-BFA7-0415DD1A1A26}"/>
    <dgm:cxn modelId="{60A616DF-1378-4912-AB6B-7A5CA15FFCA0}" srcId="{C9824A1B-A2B6-4FCB-B161-EC5291F90371}" destId="{F6DE9F5E-974D-42AB-97A0-23EC02D4349B}" srcOrd="2" destOrd="0" parTransId="{00066EC8-395C-491A-9CD1-478AC6AA05AA}" sibTransId="{B2480841-7F8A-4964-A3DA-97519B0EE1C6}"/>
    <dgm:cxn modelId="{9890CBFE-5C08-4CF0-9C4F-D6B629F79607}" type="presOf" srcId="{F2898FD8-39AE-4F0D-B8A2-92E39E9CB88B}" destId="{2B3F1570-9E9B-4773-AFF3-E0EFE6F59177}" srcOrd="0" destOrd="1" presId="urn:microsoft.com/office/officeart/2018/2/layout/IconLabelDescriptionList"/>
    <dgm:cxn modelId="{73F6E560-A0A3-45E5-A205-D31108601603}" type="presParOf" srcId="{8F3BD9FB-73A7-409E-BDB2-BD37ADAA3939}" destId="{EFDB8AC9-F231-44F0-A024-66CED9131C65}" srcOrd="0" destOrd="0" presId="urn:microsoft.com/office/officeart/2018/2/layout/IconLabelDescriptionList"/>
    <dgm:cxn modelId="{0D7F8432-819F-482A-8AE6-A048CAE84FAF}" type="presParOf" srcId="{EFDB8AC9-F231-44F0-A024-66CED9131C65}" destId="{F737DD49-3AFD-44C6-973D-37E6BFFBC0F2}" srcOrd="0" destOrd="0" presId="urn:microsoft.com/office/officeart/2018/2/layout/IconLabelDescriptionList"/>
    <dgm:cxn modelId="{6D6763EF-5B40-484C-B752-1ED902CAF376}" type="presParOf" srcId="{EFDB8AC9-F231-44F0-A024-66CED9131C65}" destId="{734285D2-C862-48B7-A641-E3608E9F0E74}" srcOrd="1" destOrd="0" presId="urn:microsoft.com/office/officeart/2018/2/layout/IconLabelDescriptionList"/>
    <dgm:cxn modelId="{2AB07830-FA9B-49D6-9816-E194E0100725}" type="presParOf" srcId="{EFDB8AC9-F231-44F0-A024-66CED9131C65}" destId="{3AA2BD2D-29A7-4178-8173-AE7616742D69}" srcOrd="2" destOrd="0" presId="urn:microsoft.com/office/officeart/2018/2/layout/IconLabelDescriptionList"/>
    <dgm:cxn modelId="{2F4F65AA-8C5B-4D3D-A0CE-05A429E3080B}" type="presParOf" srcId="{EFDB8AC9-F231-44F0-A024-66CED9131C65}" destId="{85B560E7-6B56-47AA-949E-A3A5AA8BF9F5}" srcOrd="3" destOrd="0" presId="urn:microsoft.com/office/officeart/2018/2/layout/IconLabelDescriptionList"/>
    <dgm:cxn modelId="{F899995A-B7A2-4207-A258-CAEFD2FFAC95}" type="presParOf" srcId="{EFDB8AC9-F231-44F0-A024-66CED9131C65}" destId="{2B3F1570-9E9B-4773-AFF3-E0EFE6F59177}" srcOrd="4" destOrd="0" presId="urn:microsoft.com/office/officeart/2018/2/layout/IconLabelDescriptionList"/>
    <dgm:cxn modelId="{36253CC2-8DA0-49E3-9156-63D90FD841CE}" type="presParOf" srcId="{8F3BD9FB-73A7-409E-BDB2-BD37ADAA3939}" destId="{415698A8-22F8-42BC-82AF-92CDE6AB99CA}" srcOrd="1" destOrd="0" presId="urn:microsoft.com/office/officeart/2018/2/layout/IconLabelDescriptionList"/>
    <dgm:cxn modelId="{9F6AAFC8-8FF4-477F-8DDC-70D1C6AFED3C}" type="presParOf" srcId="{8F3BD9FB-73A7-409E-BDB2-BD37ADAA3939}" destId="{D3D84715-7064-4134-B93B-33DC51F2095A}" srcOrd="2" destOrd="0" presId="urn:microsoft.com/office/officeart/2018/2/layout/IconLabelDescriptionList"/>
    <dgm:cxn modelId="{49697CA2-BED0-43C5-9069-39B7426B491C}" type="presParOf" srcId="{D3D84715-7064-4134-B93B-33DC51F2095A}" destId="{DBBC9CCB-04C6-411C-856B-CEF5AA21AA47}" srcOrd="0" destOrd="0" presId="urn:microsoft.com/office/officeart/2018/2/layout/IconLabelDescriptionList"/>
    <dgm:cxn modelId="{E13ADDCC-0FAC-4CF8-9776-0B08C7496C40}" type="presParOf" srcId="{D3D84715-7064-4134-B93B-33DC51F2095A}" destId="{2328EF63-E65D-40B2-BE56-5A3EC007917F}" srcOrd="1" destOrd="0" presId="urn:microsoft.com/office/officeart/2018/2/layout/IconLabelDescriptionList"/>
    <dgm:cxn modelId="{EAA8A778-1FB9-499B-86AE-22AC4FFCEE37}" type="presParOf" srcId="{D3D84715-7064-4134-B93B-33DC51F2095A}" destId="{9DA3BF17-1728-4C48-A3C9-205E7B8185A4}" srcOrd="2" destOrd="0" presId="urn:microsoft.com/office/officeart/2018/2/layout/IconLabelDescriptionList"/>
    <dgm:cxn modelId="{4F071FCB-C469-440C-8EC0-651E1D72F24A}" type="presParOf" srcId="{D3D84715-7064-4134-B93B-33DC51F2095A}" destId="{B46A6C3D-4045-4220-BEC7-280C98BE6F92}" srcOrd="3" destOrd="0" presId="urn:microsoft.com/office/officeart/2018/2/layout/IconLabelDescriptionList"/>
    <dgm:cxn modelId="{A64545A3-DB02-4040-941F-B219032D4A68}" type="presParOf" srcId="{D3D84715-7064-4134-B93B-33DC51F2095A}" destId="{E966A290-61F1-43DB-BE29-69A8ECFB4386}" srcOrd="4" destOrd="0" presId="urn:microsoft.com/office/officeart/2018/2/layout/IconLabelDescriptionList"/>
    <dgm:cxn modelId="{2A1024C3-1BB2-4709-82A7-4B91D294593C}" type="presParOf" srcId="{8F3BD9FB-73A7-409E-BDB2-BD37ADAA3939}" destId="{6F6CCE9B-2581-4A47-877B-851ADF98E162}" srcOrd="3" destOrd="0" presId="urn:microsoft.com/office/officeart/2018/2/layout/IconLabelDescriptionList"/>
    <dgm:cxn modelId="{6F3C371C-A881-4EAF-8E44-1255EE9F3BB8}" type="presParOf" srcId="{8F3BD9FB-73A7-409E-BDB2-BD37ADAA3939}" destId="{4CC9D446-7ACA-4209-ABF4-5711866CC4EA}" srcOrd="4" destOrd="0" presId="urn:microsoft.com/office/officeart/2018/2/layout/IconLabelDescriptionList"/>
    <dgm:cxn modelId="{1C972B5E-5CE6-4424-872B-91B108746470}" type="presParOf" srcId="{4CC9D446-7ACA-4209-ABF4-5711866CC4EA}" destId="{37BCBA6D-E29E-42DB-8A32-7EA5D1A226A4}" srcOrd="0" destOrd="0" presId="urn:microsoft.com/office/officeart/2018/2/layout/IconLabelDescriptionList"/>
    <dgm:cxn modelId="{0D61EDBC-8201-413E-86DE-38A6E152F631}" type="presParOf" srcId="{4CC9D446-7ACA-4209-ABF4-5711866CC4EA}" destId="{0A257ACA-B7E4-4E88-AF5D-8C89BFF589A8}" srcOrd="1" destOrd="0" presId="urn:microsoft.com/office/officeart/2018/2/layout/IconLabelDescriptionList"/>
    <dgm:cxn modelId="{CE15235B-E65B-4911-9DB0-E50BB56CB878}" type="presParOf" srcId="{4CC9D446-7ACA-4209-ABF4-5711866CC4EA}" destId="{B0B1793D-757B-4539-A581-C5304333DB1D}" srcOrd="2" destOrd="0" presId="urn:microsoft.com/office/officeart/2018/2/layout/IconLabelDescriptionList"/>
    <dgm:cxn modelId="{01D2AA16-8116-422A-A552-E7BAB1CF16E5}" type="presParOf" srcId="{4CC9D446-7ACA-4209-ABF4-5711866CC4EA}" destId="{60EA76F7-4AC5-4244-AA0F-45A83C4E61CF}" srcOrd="3" destOrd="0" presId="urn:microsoft.com/office/officeart/2018/2/layout/IconLabelDescriptionList"/>
    <dgm:cxn modelId="{1D26C122-655E-4C8F-A655-69A89E7CAC0E}" type="presParOf" srcId="{4CC9D446-7ACA-4209-ABF4-5711866CC4EA}" destId="{FE95D74A-D977-4240-AC6E-FF606BBA7913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E493EAA-C0EC-4B92-96A6-DB72D4829850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D5EFFC2-0AED-418D-A4F0-324A14DF6664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1"/>
            <a:t>Challenge 1: Metadata Inconsistency</a:t>
          </a:r>
          <a:endParaRPr lang="en-US"/>
        </a:p>
      </dgm:t>
    </dgm:pt>
    <dgm:pt modelId="{FA84FC25-D9F7-4CF5-BB26-9556C6F5D0E2}" type="parTrans" cxnId="{B720657E-D4D4-4C70-9080-2A77F83E87D1}">
      <dgm:prSet/>
      <dgm:spPr/>
      <dgm:t>
        <a:bodyPr/>
        <a:lstStyle/>
        <a:p>
          <a:endParaRPr lang="en-US"/>
        </a:p>
      </dgm:t>
    </dgm:pt>
    <dgm:pt modelId="{F3B53406-81DB-4472-A309-3FFF6D7F6E10}" type="sibTrans" cxnId="{B720657E-D4D4-4C70-9080-2A77F83E87D1}">
      <dgm:prSet/>
      <dgm:spPr/>
      <dgm:t>
        <a:bodyPr/>
        <a:lstStyle/>
        <a:p>
          <a:endParaRPr lang="en-US"/>
        </a:p>
      </dgm:t>
    </dgm:pt>
    <dgm:pt modelId="{AEF98654-81FA-443D-BA3F-227FE8415AF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 discovered that about 5% of the dataset had corrupt file headers or missing JSON labels.</a:t>
          </a:r>
        </a:p>
      </dgm:t>
    </dgm:pt>
    <dgm:pt modelId="{DC409EAA-6031-4DFB-9417-29A890F539E7}" type="parTrans" cxnId="{14F6440F-96AE-4279-901A-25E3634C81B7}">
      <dgm:prSet/>
      <dgm:spPr/>
      <dgm:t>
        <a:bodyPr/>
        <a:lstStyle/>
        <a:p>
          <a:endParaRPr lang="en-US"/>
        </a:p>
      </dgm:t>
    </dgm:pt>
    <dgm:pt modelId="{93433C6B-A4B7-4871-AB61-C74EF30C3353}" type="sibTrans" cxnId="{14F6440F-96AE-4279-901A-25E3634C81B7}">
      <dgm:prSet/>
      <dgm:spPr/>
      <dgm:t>
        <a:bodyPr/>
        <a:lstStyle/>
        <a:p>
          <a:endParaRPr lang="en-US"/>
        </a:p>
      </dgm:t>
    </dgm:pt>
    <dgm:pt modelId="{2AA672D1-AF2D-4744-8CF0-4055D386B262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M</a:t>
          </a:r>
          <a:r>
            <a:rPr lang="en-US"/>
            <a:t>itigation: I implemented a 'defensive ingestion' loop with error logging. This ensures the pipeline skips bad files gracefully instead of crashing during the expensive training run.</a:t>
          </a:r>
        </a:p>
      </dgm:t>
    </dgm:pt>
    <dgm:pt modelId="{49D70E4E-4D34-41BB-90E7-28B98B33F48A}" type="parTrans" cxnId="{274A6EF6-2FDF-42A9-9CBD-B7B3E0E99186}">
      <dgm:prSet/>
      <dgm:spPr/>
      <dgm:t>
        <a:bodyPr/>
        <a:lstStyle/>
        <a:p>
          <a:endParaRPr lang="en-US"/>
        </a:p>
      </dgm:t>
    </dgm:pt>
    <dgm:pt modelId="{53B351F1-C0AF-40A9-9AE1-B8FA8B5F7529}" type="sibTrans" cxnId="{274A6EF6-2FDF-42A9-9CBD-B7B3E0E99186}">
      <dgm:prSet/>
      <dgm:spPr/>
      <dgm:t>
        <a:bodyPr/>
        <a:lstStyle/>
        <a:p>
          <a:endParaRPr lang="en-US"/>
        </a:p>
      </dgm:t>
    </dgm:pt>
    <dgm:pt modelId="{7B687607-382A-4987-964C-2CD83BDD166C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1"/>
            <a:t>Challenge 2: Computational Load</a:t>
          </a:r>
          <a:endParaRPr lang="en-US"/>
        </a:p>
      </dgm:t>
    </dgm:pt>
    <dgm:pt modelId="{5B90C8FE-F9EB-4780-A7F0-D656F19E322B}" type="parTrans" cxnId="{B3886F42-4A3F-4FCF-A5AF-FFE0D6D1CECF}">
      <dgm:prSet/>
      <dgm:spPr/>
      <dgm:t>
        <a:bodyPr/>
        <a:lstStyle/>
        <a:p>
          <a:endParaRPr lang="en-US"/>
        </a:p>
      </dgm:t>
    </dgm:pt>
    <dgm:pt modelId="{78A597B1-6C2F-4E7D-8278-BCAD6DA9DAD4}" type="sibTrans" cxnId="{B3886F42-4A3F-4FCF-A5AF-FFE0D6D1CECF}">
      <dgm:prSet/>
      <dgm:spPr/>
      <dgm:t>
        <a:bodyPr/>
        <a:lstStyle/>
        <a:p>
          <a:endParaRPr lang="en-US"/>
        </a:p>
      </dgm:t>
    </dgm:pt>
    <dgm:pt modelId="{4FCBB8E6-A04B-4E5C-989A-052AA2E96B6A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Running the ViT-B/32 model on 18,000 images exceeds typical local memory limits.</a:t>
          </a:r>
          <a:endParaRPr lang="en-US"/>
        </a:p>
      </dgm:t>
    </dgm:pt>
    <dgm:pt modelId="{7922D6A3-CEFA-45A3-AF17-A567E29C6C3E}" type="parTrans" cxnId="{7C0EB393-7ABA-48B7-AE99-55197DD526BC}">
      <dgm:prSet/>
      <dgm:spPr/>
      <dgm:t>
        <a:bodyPr/>
        <a:lstStyle/>
        <a:p>
          <a:endParaRPr lang="en-US"/>
        </a:p>
      </dgm:t>
    </dgm:pt>
    <dgm:pt modelId="{CF57F5AF-20CC-4132-8CCE-4751F5FD71FD}" type="sibTrans" cxnId="{7C0EB393-7ABA-48B7-AE99-55197DD526BC}">
      <dgm:prSet/>
      <dgm:spPr/>
      <dgm:t>
        <a:bodyPr/>
        <a:lstStyle/>
        <a:p>
          <a:endParaRPr lang="en-US"/>
        </a:p>
      </dgm:t>
    </dgm:pt>
    <dgm:pt modelId="{22D9BA60-EBA4-49E6-BA7C-EDEE7CB62C7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Mitigation: I wrote the script to process images in batches of 32. I also have a fallback strategy to deploy the script to Google Colab's GPU infrastructure if my local hardware throttles.</a:t>
          </a:r>
        </a:p>
      </dgm:t>
    </dgm:pt>
    <dgm:pt modelId="{212ABA0A-F724-4200-B2AF-8C6C037A731F}" type="parTrans" cxnId="{594F7A3D-3A4E-43DD-A750-92354817A666}">
      <dgm:prSet/>
      <dgm:spPr/>
      <dgm:t>
        <a:bodyPr/>
        <a:lstStyle/>
        <a:p>
          <a:endParaRPr lang="en-US"/>
        </a:p>
      </dgm:t>
    </dgm:pt>
    <dgm:pt modelId="{A5DC4E87-BAB4-4B05-9AEA-5735C1A174D9}" type="sibTrans" cxnId="{594F7A3D-3A4E-43DD-A750-92354817A666}">
      <dgm:prSet/>
      <dgm:spPr/>
      <dgm:t>
        <a:bodyPr/>
        <a:lstStyle/>
        <a:p>
          <a:endParaRPr lang="en-US"/>
        </a:p>
      </dgm:t>
    </dgm:pt>
    <dgm:pt modelId="{89CFDD35-5BDA-41DF-84CF-C27488173100}" type="pres">
      <dgm:prSet presAssocID="{DE493EAA-C0EC-4B92-96A6-DB72D4829850}" presName="root" presStyleCnt="0">
        <dgm:presLayoutVars>
          <dgm:dir/>
          <dgm:resizeHandles val="exact"/>
        </dgm:presLayoutVars>
      </dgm:prSet>
      <dgm:spPr/>
    </dgm:pt>
    <dgm:pt modelId="{85B1D21F-6C90-44DF-A14F-5C96515BE75C}" type="pres">
      <dgm:prSet presAssocID="{DD5EFFC2-0AED-418D-A4F0-324A14DF6664}" presName="compNode" presStyleCnt="0"/>
      <dgm:spPr/>
    </dgm:pt>
    <dgm:pt modelId="{F5A7FF2D-1C57-497F-AB57-83F71ACE6751}" type="pres">
      <dgm:prSet presAssocID="{DD5EFFC2-0AED-418D-A4F0-324A14DF6664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BE396201-9AFF-4532-A345-E358753A4D1C}" type="pres">
      <dgm:prSet presAssocID="{DD5EFFC2-0AED-418D-A4F0-324A14DF6664}" presName="iconSpace" presStyleCnt="0"/>
      <dgm:spPr/>
    </dgm:pt>
    <dgm:pt modelId="{B036B0CF-9789-4CCD-819A-1EF60AAFB0BB}" type="pres">
      <dgm:prSet presAssocID="{DD5EFFC2-0AED-418D-A4F0-324A14DF6664}" presName="parTx" presStyleLbl="revTx" presStyleIdx="0" presStyleCnt="4">
        <dgm:presLayoutVars>
          <dgm:chMax val="0"/>
          <dgm:chPref val="0"/>
        </dgm:presLayoutVars>
      </dgm:prSet>
      <dgm:spPr/>
    </dgm:pt>
    <dgm:pt modelId="{E9FB3B54-762A-4CBC-9E4E-600089FEA355}" type="pres">
      <dgm:prSet presAssocID="{DD5EFFC2-0AED-418D-A4F0-324A14DF6664}" presName="txSpace" presStyleCnt="0"/>
      <dgm:spPr/>
    </dgm:pt>
    <dgm:pt modelId="{83464156-A1F9-4517-A783-1C06D3B960AE}" type="pres">
      <dgm:prSet presAssocID="{DD5EFFC2-0AED-418D-A4F0-324A14DF6664}" presName="desTx" presStyleLbl="revTx" presStyleIdx="1" presStyleCnt="4">
        <dgm:presLayoutVars/>
      </dgm:prSet>
      <dgm:spPr/>
    </dgm:pt>
    <dgm:pt modelId="{2C4EE862-2931-4312-80DA-CF34EEA06723}" type="pres">
      <dgm:prSet presAssocID="{F3B53406-81DB-4472-A309-3FFF6D7F6E10}" presName="sibTrans" presStyleCnt="0"/>
      <dgm:spPr/>
    </dgm:pt>
    <dgm:pt modelId="{47932017-23B0-4D9A-86E7-1F2631568E3E}" type="pres">
      <dgm:prSet presAssocID="{7B687607-382A-4987-964C-2CD83BDD166C}" presName="compNode" presStyleCnt="0"/>
      <dgm:spPr/>
    </dgm:pt>
    <dgm:pt modelId="{E67184A9-6587-42CD-B424-775D833D0240}" type="pres">
      <dgm:prSet presAssocID="{7B687607-382A-4987-964C-2CD83BDD166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273BD54F-C99B-4B97-85AF-B3354C85AE16}" type="pres">
      <dgm:prSet presAssocID="{7B687607-382A-4987-964C-2CD83BDD166C}" presName="iconSpace" presStyleCnt="0"/>
      <dgm:spPr/>
    </dgm:pt>
    <dgm:pt modelId="{27F3AEC8-708A-4209-A1D8-381A11692CBF}" type="pres">
      <dgm:prSet presAssocID="{7B687607-382A-4987-964C-2CD83BDD166C}" presName="parTx" presStyleLbl="revTx" presStyleIdx="2" presStyleCnt="4">
        <dgm:presLayoutVars>
          <dgm:chMax val="0"/>
          <dgm:chPref val="0"/>
        </dgm:presLayoutVars>
      </dgm:prSet>
      <dgm:spPr/>
    </dgm:pt>
    <dgm:pt modelId="{C4278413-E9BB-439E-AEA6-C114AE7F022C}" type="pres">
      <dgm:prSet presAssocID="{7B687607-382A-4987-964C-2CD83BDD166C}" presName="txSpace" presStyleCnt="0"/>
      <dgm:spPr/>
    </dgm:pt>
    <dgm:pt modelId="{5C670D18-F04C-4BB0-A579-EC5CF1B1AB80}" type="pres">
      <dgm:prSet presAssocID="{7B687607-382A-4987-964C-2CD83BDD166C}" presName="desTx" presStyleLbl="revTx" presStyleIdx="3" presStyleCnt="4">
        <dgm:presLayoutVars/>
      </dgm:prSet>
      <dgm:spPr/>
    </dgm:pt>
  </dgm:ptLst>
  <dgm:cxnLst>
    <dgm:cxn modelId="{2FD02405-2271-46C9-AF5E-3D57EC9FC962}" type="presOf" srcId="{AEF98654-81FA-443D-BA3F-227FE8415AF7}" destId="{83464156-A1F9-4517-A783-1C06D3B960AE}" srcOrd="0" destOrd="0" presId="urn:microsoft.com/office/officeart/2018/5/layout/CenteredIconLabelDescriptionList"/>
    <dgm:cxn modelId="{14F6440F-96AE-4279-901A-25E3634C81B7}" srcId="{DD5EFFC2-0AED-418D-A4F0-324A14DF6664}" destId="{AEF98654-81FA-443D-BA3F-227FE8415AF7}" srcOrd="0" destOrd="0" parTransId="{DC409EAA-6031-4DFB-9417-29A890F539E7}" sibTransId="{93433C6B-A4B7-4871-AB61-C74EF30C3353}"/>
    <dgm:cxn modelId="{594F7A3D-3A4E-43DD-A750-92354817A666}" srcId="{7B687607-382A-4987-964C-2CD83BDD166C}" destId="{22D9BA60-EBA4-49E6-BA7C-EDEE7CB62C70}" srcOrd="1" destOrd="0" parTransId="{212ABA0A-F724-4200-B2AF-8C6C037A731F}" sibTransId="{A5DC4E87-BAB4-4B05-9AEA-5735C1A174D9}"/>
    <dgm:cxn modelId="{B3886F42-4A3F-4FCF-A5AF-FFE0D6D1CECF}" srcId="{DE493EAA-C0EC-4B92-96A6-DB72D4829850}" destId="{7B687607-382A-4987-964C-2CD83BDD166C}" srcOrd="1" destOrd="0" parTransId="{5B90C8FE-F9EB-4780-A7F0-D656F19E322B}" sibTransId="{78A597B1-6C2F-4E7D-8278-BCAD6DA9DAD4}"/>
    <dgm:cxn modelId="{86095A50-E4E6-4C76-90AE-9172951ACBAF}" type="presOf" srcId="{2AA672D1-AF2D-4744-8CF0-4055D386B262}" destId="{83464156-A1F9-4517-A783-1C06D3B960AE}" srcOrd="0" destOrd="1" presId="urn:microsoft.com/office/officeart/2018/5/layout/CenteredIconLabelDescriptionList"/>
    <dgm:cxn modelId="{19EE9D52-A8F2-4D91-9568-0C1F5588622C}" type="presOf" srcId="{DE493EAA-C0EC-4B92-96A6-DB72D4829850}" destId="{89CFDD35-5BDA-41DF-84CF-C27488173100}" srcOrd="0" destOrd="0" presId="urn:microsoft.com/office/officeart/2018/5/layout/CenteredIconLabelDescriptionList"/>
    <dgm:cxn modelId="{42FFA079-7C9D-4398-A54E-2568075B73C5}" type="presOf" srcId="{22D9BA60-EBA4-49E6-BA7C-EDEE7CB62C70}" destId="{5C670D18-F04C-4BB0-A579-EC5CF1B1AB80}" srcOrd="0" destOrd="1" presId="urn:microsoft.com/office/officeart/2018/5/layout/CenteredIconLabelDescriptionList"/>
    <dgm:cxn modelId="{B720657E-D4D4-4C70-9080-2A77F83E87D1}" srcId="{DE493EAA-C0EC-4B92-96A6-DB72D4829850}" destId="{DD5EFFC2-0AED-418D-A4F0-324A14DF6664}" srcOrd="0" destOrd="0" parTransId="{FA84FC25-D9F7-4CF5-BB26-9556C6F5D0E2}" sibTransId="{F3B53406-81DB-4472-A309-3FFF6D7F6E10}"/>
    <dgm:cxn modelId="{7C0EB393-7ABA-48B7-AE99-55197DD526BC}" srcId="{7B687607-382A-4987-964C-2CD83BDD166C}" destId="{4FCBB8E6-A04B-4E5C-989A-052AA2E96B6A}" srcOrd="0" destOrd="0" parTransId="{7922D6A3-CEFA-45A3-AF17-A567E29C6C3E}" sibTransId="{CF57F5AF-20CC-4132-8CCE-4751F5FD71FD}"/>
    <dgm:cxn modelId="{012D5FC0-D4BD-4E49-B4C5-01D6BAD920FA}" type="presOf" srcId="{7B687607-382A-4987-964C-2CD83BDD166C}" destId="{27F3AEC8-708A-4209-A1D8-381A11692CBF}" srcOrd="0" destOrd="0" presId="urn:microsoft.com/office/officeart/2018/5/layout/CenteredIconLabelDescriptionList"/>
    <dgm:cxn modelId="{9DEE4AD0-0D70-4698-A29B-673281444A6E}" type="presOf" srcId="{DD5EFFC2-0AED-418D-A4F0-324A14DF6664}" destId="{B036B0CF-9789-4CCD-819A-1EF60AAFB0BB}" srcOrd="0" destOrd="0" presId="urn:microsoft.com/office/officeart/2018/5/layout/CenteredIconLabelDescriptionList"/>
    <dgm:cxn modelId="{676534E6-BDAD-4C80-8BC0-DC905EA24DCA}" type="presOf" srcId="{4FCBB8E6-A04B-4E5C-989A-052AA2E96B6A}" destId="{5C670D18-F04C-4BB0-A579-EC5CF1B1AB80}" srcOrd="0" destOrd="0" presId="urn:microsoft.com/office/officeart/2018/5/layout/CenteredIconLabelDescriptionList"/>
    <dgm:cxn modelId="{274A6EF6-2FDF-42A9-9CBD-B7B3E0E99186}" srcId="{DD5EFFC2-0AED-418D-A4F0-324A14DF6664}" destId="{2AA672D1-AF2D-4744-8CF0-4055D386B262}" srcOrd="1" destOrd="0" parTransId="{49D70E4E-4D34-41BB-90E7-28B98B33F48A}" sibTransId="{53B351F1-C0AF-40A9-9AE1-B8FA8B5F7529}"/>
    <dgm:cxn modelId="{6DB28983-D335-496C-BED7-E86A0F5B2B90}" type="presParOf" srcId="{89CFDD35-5BDA-41DF-84CF-C27488173100}" destId="{85B1D21F-6C90-44DF-A14F-5C96515BE75C}" srcOrd="0" destOrd="0" presId="urn:microsoft.com/office/officeart/2018/5/layout/CenteredIconLabelDescriptionList"/>
    <dgm:cxn modelId="{155E7A0E-A54C-4BDD-AA64-96330F114EFB}" type="presParOf" srcId="{85B1D21F-6C90-44DF-A14F-5C96515BE75C}" destId="{F5A7FF2D-1C57-497F-AB57-83F71ACE6751}" srcOrd="0" destOrd="0" presId="urn:microsoft.com/office/officeart/2018/5/layout/CenteredIconLabelDescriptionList"/>
    <dgm:cxn modelId="{208BDE47-24DD-47CB-9D36-4D8EE47D31F8}" type="presParOf" srcId="{85B1D21F-6C90-44DF-A14F-5C96515BE75C}" destId="{BE396201-9AFF-4532-A345-E358753A4D1C}" srcOrd="1" destOrd="0" presId="urn:microsoft.com/office/officeart/2018/5/layout/CenteredIconLabelDescriptionList"/>
    <dgm:cxn modelId="{B7BB45AF-EEFE-47F5-B605-21CA12CBA8E9}" type="presParOf" srcId="{85B1D21F-6C90-44DF-A14F-5C96515BE75C}" destId="{B036B0CF-9789-4CCD-819A-1EF60AAFB0BB}" srcOrd="2" destOrd="0" presId="urn:microsoft.com/office/officeart/2018/5/layout/CenteredIconLabelDescriptionList"/>
    <dgm:cxn modelId="{4EAE2EEE-2842-4238-8D3D-9FCA892E0EA6}" type="presParOf" srcId="{85B1D21F-6C90-44DF-A14F-5C96515BE75C}" destId="{E9FB3B54-762A-4CBC-9E4E-600089FEA355}" srcOrd="3" destOrd="0" presId="urn:microsoft.com/office/officeart/2018/5/layout/CenteredIconLabelDescriptionList"/>
    <dgm:cxn modelId="{D02377CB-4403-43AE-8ECE-1BCC8CFE1AC0}" type="presParOf" srcId="{85B1D21F-6C90-44DF-A14F-5C96515BE75C}" destId="{83464156-A1F9-4517-A783-1C06D3B960AE}" srcOrd="4" destOrd="0" presId="urn:microsoft.com/office/officeart/2018/5/layout/CenteredIconLabelDescriptionList"/>
    <dgm:cxn modelId="{8B6455AB-C400-4F79-9FC8-992369F9EC4A}" type="presParOf" srcId="{89CFDD35-5BDA-41DF-84CF-C27488173100}" destId="{2C4EE862-2931-4312-80DA-CF34EEA06723}" srcOrd="1" destOrd="0" presId="urn:microsoft.com/office/officeart/2018/5/layout/CenteredIconLabelDescriptionList"/>
    <dgm:cxn modelId="{B2C69A56-D383-4F91-B5CC-72106AC6E937}" type="presParOf" srcId="{89CFDD35-5BDA-41DF-84CF-C27488173100}" destId="{47932017-23B0-4D9A-86E7-1F2631568E3E}" srcOrd="2" destOrd="0" presId="urn:microsoft.com/office/officeart/2018/5/layout/CenteredIconLabelDescriptionList"/>
    <dgm:cxn modelId="{21A3F8C0-15C4-44C1-9AA6-6D14D1FB8652}" type="presParOf" srcId="{47932017-23B0-4D9A-86E7-1F2631568E3E}" destId="{E67184A9-6587-42CD-B424-775D833D0240}" srcOrd="0" destOrd="0" presId="urn:microsoft.com/office/officeart/2018/5/layout/CenteredIconLabelDescriptionList"/>
    <dgm:cxn modelId="{E5F8AE76-A20E-4FB3-9572-F51B53FDA096}" type="presParOf" srcId="{47932017-23B0-4D9A-86E7-1F2631568E3E}" destId="{273BD54F-C99B-4B97-85AF-B3354C85AE16}" srcOrd="1" destOrd="0" presId="urn:microsoft.com/office/officeart/2018/5/layout/CenteredIconLabelDescriptionList"/>
    <dgm:cxn modelId="{0A6EE2AF-F101-4683-A6CE-5557D171EBC9}" type="presParOf" srcId="{47932017-23B0-4D9A-86E7-1F2631568E3E}" destId="{27F3AEC8-708A-4209-A1D8-381A11692CBF}" srcOrd="2" destOrd="0" presId="urn:microsoft.com/office/officeart/2018/5/layout/CenteredIconLabelDescriptionList"/>
    <dgm:cxn modelId="{C65BC140-F944-499E-9961-7C1E78751433}" type="presParOf" srcId="{47932017-23B0-4D9A-86E7-1F2631568E3E}" destId="{C4278413-E9BB-439E-AEA6-C114AE7F022C}" srcOrd="3" destOrd="0" presId="urn:microsoft.com/office/officeart/2018/5/layout/CenteredIconLabelDescriptionList"/>
    <dgm:cxn modelId="{AD1593C9-1A66-4222-9299-27F9736E1F97}" type="presParOf" srcId="{47932017-23B0-4D9A-86E7-1F2631568E3E}" destId="{5C670D18-F04C-4BB0-A579-EC5CF1B1AB80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47C37FB-E91C-442E-A72C-EA95C6120552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8C418BC-7EF3-44BA-AF7D-4E364E747429}">
      <dgm:prSet/>
      <dgm:spPr/>
      <dgm:t>
        <a:bodyPr/>
        <a:lstStyle/>
        <a:p>
          <a:r>
            <a:rPr lang="en-US" b="1"/>
            <a:t>Phase 3 (Current - January)</a:t>
          </a:r>
          <a:endParaRPr lang="en-US"/>
        </a:p>
      </dgm:t>
    </dgm:pt>
    <dgm:pt modelId="{ACAB25AA-09A6-4C95-A240-F4FED270E610}" type="parTrans" cxnId="{1766E06D-7CBD-4E7E-AE34-375B98A7E74E}">
      <dgm:prSet/>
      <dgm:spPr/>
      <dgm:t>
        <a:bodyPr/>
        <a:lstStyle/>
        <a:p>
          <a:endParaRPr lang="en-US"/>
        </a:p>
      </dgm:t>
    </dgm:pt>
    <dgm:pt modelId="{640CAA48-27B2-451B-8813-9E6E7FF40CDE}" type="sibTrans" cxnId="{1766E06D-7CBD-4E7E-AE34-375B98A7E74E}">
      <dgm:prSet/>
      <dgm:spPr/>
      <dgm:t>
        <a:bodyPr/>
        <a:lstStyle/>
        <a:p>
          <a:endParaRPr lang="en-US"/>
        </a:p>
      </dgm:t>
    </dgm:pt>
    <dgm:pt modelId="{7C395E95-9D65-4DD1-85C0-0F5092FA4897}">
      <dgm:prSet/>
      <dgm:spPr/>
      <dgm:t>
        <a:bodyPr/>
        <a:lstStyle/>
        <a:p>
          <a:r>
            <a:rPr lang="en-US"/>
            <a:t>I am currently finalizing the full vectorisation process to generate the 512-dimensional embeddings for the entire dataset.</a:t>
          </a:r>
        </a:p>
      </dgm:t>
    </dgm:pt>
    <dgm:pt modelId="{2C8EE737-C1C0-403B-90A7-8E23B7B43371}" type="parTrans" cxnId="{9F32E371-FE79-46D1-BA02-BB57AD643436}">
      <dgm:prSet/>
      <dgm:spPr/>
      <dgm:t>
        <a:bodyPr/>
        <a:lstStyle/>
        <a:p>
          <a:endParaRPr lang="en-US"/>
        </a:p>
      </dgm:t>
    </dgm:pt>
    <dgm:pt modelId="{2B8C950E-10A4-45A3-8A52-D3264642CBEB}" type="sibTrans" cxnId="{9F32E371-FE79-46D1-BA02-BB57AD643436}">
      <dgm:prSet/>
      <dgm:spPr/>
      <dgm:t>
        <a:bodyPr/>
        <a:lstStyle/>
        <a:p>
          <a:endParaRPr lang="en-US"/>
        </a:p>
      </dgm:t>
    </dgm:pt>
    <dgm:pt modelId="{99A914EB-9C89-431B-892C-B0779F937B14}">
      <dgm:prSet/>
      <dgm:spPr/>
      <dgm:t>
        <a:bodyPr/>
        <a:lstStyle/>
        <a:p>
          <a:r>
            <a:rPr lang="en-US" b="1"/>
            <a:t>Phase 4 (February)</a:t>
          </a:r>
          <a:endParaRPr lang="en-US"/>
        </a:p>
      </dgm:t>
    </dgm:pt>
    <dgm:pt modelId="{F64DADA9-F79B-44E9-AFFD-5D996579331F}" type="parTrans" cxnId="{19B64FA2-3D0D-4B99-BAC6-541F17C95499}">
      <dgm:prSet/>
      <dgm:spPr/>
      <dgm:t>
        <a:bodyPr/>
        <a:lstStyle/>
        <a:p>
          <a:endParaRPr lang="en-US"/>
        </a:p>
      </dgm:t>
    </dgm:pt>
    <dgm:pt modelId="{E5036919-12A2-45AE-BAC6-E2800B27A046}" type="sibTrans" cxnId="{19B64FA2-3D0D-4B99-BAC6-541F17C95499}">
      <dgm:prSet/>
      <dgm:spPr/>
      <dgm:t>
        <a:bodyPr/>
        <a:lstStyle/>
        <a:p>
          <a:endParaRPr lang="en-US"/>
        </a:p>
      </dgm:t>
    </dgm:pt>
    <dgm:pt modelId="{ABA96462-F244-4752-8AA8-7C966209851C}">
      <dgm:prSet/>
      <dgm:spPr/>
      <dgm:t>
        <a:bodyPr/>
        <a:lstStyle/>
        <a:p>
          <a:r>
            <a:rPr lang="en-US"/>
            <a:t>My focus will shift to integration. I will use UMAP to project these vectors into 2D space and connect them to the Dash frontend.</a:t>
          </a:r>
        </a:p>
      </dgm:t>
    </dgm:pt>
    <dgm:pt modelId="{05BFF09F-BD07-4C23-B9C7-601B227BFAB4}" type="parTrans" cxnId="{FFC60BDF-7141-4BB2-B880-4C4B2CBFD900}">
      <dgm:prSet/>
      <dgm:spPr/>
      <dgm:t>
        <a:bodyPr/>
        <a:lstStyle/>
        <a:p>
          <a:endParaRPr lang="en-US"/>
        </a:p>
      </dgm:t>
    </dgm:pt>
    <dgm:pt modelId="{D4EC1BC7-E75F-47D3-8649-A8BD934AA8E7}" type="sibTrans" cxnId="{FFC60BDF-7141-4BB2-B880-4C4B2CBFD900}">
      <dgm:prSet/>
      <dgm:spPr/>
      <dgm:t>
        <a:bodyPr/>
        <a:lstStyle/>
        <a:p>
          <a:endParaRPr lang="en-US"/>
        </a:p>
      </dgm:t>
    </dgm:pt>
    <dgm:pt modelId="{3285F8E5-51B5-47FA-8CA0-8A1F72B3F7F5}">
      <dgm:prSet/>
      <dgm:spPr/>
      <dgm:t>
        <a:bodyPr/>
        <a:lstStyle/>
        <a:p>
          <a:r>
            <a:rPr lang="en-US"/>
            <a:t>I will implement the Cosine Similarity logic to enable the semantic search feature.</a:t>
          </a:r>
        </a:p>
      </dgm:t>
    </dgm:pt>
    <dgm:pt modelId="{71A3214B-34BE-401B-86F6-6DD17C92EF72}" type="parTrans" cxnId="{537DDFE5-4424-4787-9C70-8D9C9E348F39}">
      <dgm:prSet/>
      <dgm:spPr/>
      <dgm:t>
        <a:bodyPr/>
        <a:lstStyle/>
        <a:p>
          <a:endParaRPr lang="en-US"/>
        </a:p>
      </dgm:t>
    </dgm:pt>
    <dgm:pt modelId="{43B9F38C-98EF-4BD5-983A-E6901C9FBFE0}" type="sibTrans" cxnId="{537DDFE5-4424-4787-9C70-8D9C9E348F39}">
      <dgm:prSet/>
      <dgm:spPr/>
      <dgm:t>
        <a:bodyPr/>
        <a:lstStyle/>
        <a:p>
          <a:endParaRPr lang="en-US"/>
        </a:p>
      </dgm:t>
    </dgm:pt>
    <dgm:pt modelId="{CB857AF3-FDEC-4C61-832A-3D50123734DC}">
      <dgm:prSet/>
      <dgm:spPr/>
      <dgm:t>
        <a:bodyPr/>
        <a:lstStyle/>
        <a:p>
          <a:r>
            <a:rPr lang="en-US" b="1"/>
            <a:t>Phase 5 (March/April)</a:t>
          </a:r>
          <a:endParaRPr lang="en-US"/>
        </a:p>
      </dgm:t>
    </dgm:pt>
    <dgm:pt modelId="{F30C13E8-2015-4126-B568-86D4D99FEE99}" type="parTrans" cxnId="{6072E81D-F13E-4421-BF97-E07B85CB34F1}">
      <dgm:prSet/>
      <dgm:spPr/>
      <dgm:t>
        <a:bodyPr/>
        <a:lstStyle/>
        <a:p>
          <a:endParaRPr lang="en-US"/>
        </a:p>
      </dgm:t>
    </dgm:pt>
    <dgm:pt modelId="{F1879F7B-C6D5-487F-BFB5-997A254D2931}" type="sibTrans" cxnId="{6072E81D-F13E-4421-BF97-E07B85CB34F1}">
      <dgm:prSet/>
      <dgm:spPr/>
      <dgm:t>
        <a:bodyPr/>
        <a:lstStyle/>
        <a:p>
          <a:endParaRPr lang="en-US"/>
        </a:p>
      </dgm:t>
    </dgm:pt>
    <dgm:pt modelId="{0DEC1F5A-21F7-4823-83E6-3B962EC8E731}">
      <dgm:prSet/>
      <dgm:spPr/>
      <dgm:t>
        <a:bodyPr/>
        <a:lstStyle/>
        <a:p>
          <a:r>
            <a:rPr lang="en-US"/>
            <a:t>I will conduct a quantitative evaluation using Silhouette Scores to measure cluster quality.</a:t>
          </a:r>
        </a:p>
      </dgm:t>
    </dgm:pt>
    <dgm:pt modelId="{00E927C3-2835-4C4E-B9A0-1078E8B22C1D}" type="parTrans" cxnId="{128DE712-0C16-4F49-8EE4-1BB25D2CFE8C}">
      <dgm:prSet/>
      <dgm:spPr/>
      <dgm:t>
        <a:bodyPr/>
        <a:lstStyle/>
        <a:p>
          <a:endParaRPr lang="en-US"/>
        </a:p>
      </dgm:t>
    </dgm:pt>
    <dgm:pt modelId="{C2C8F6BE-CE0B-4E96-9F3F-F9541E871CAE}" type="sibTrans" cxnId="{128DE712-0C16-4F49-8EE4-1BB25D2CFE8C}">
      <dgm:prSet/>
      <dgm:spPr/>
      <dgm:t>
        <a:bodyPr/>
        <a:lstStyle/>
        <a:p>
          <a:endParaRPr lang="en-US"/>
        </a:p>
      </dgm:t>
    </dgm:pt>
    <dgm:pt modelId="{5E2869CA-082C-4B2F-99C0-FC027CA43AC1}">
      <dgm:prSet/>
      <dgm:spPr/>
      <dgm:t>
        <a:bodyPr/>
        <a:lstStyle/>
        <a:p>
          <a:r>
            <a:rPr lang="en-US"/>
            <a:t>Finally, I will complete the dissertation write-up.</a:t>
          </a:r>
        </a:p>
      </dgm:t>
    </dgm:pt>
    <dgm:pt modelId="{3F30C2BA-043A-4A2C-9A99-A47967242064}" type="parTrans" cxnId="{9EAEEA46-FAEF-440B-90CF-D0333AFF0B5C}">
      <dgm:prSet/>
      <dgm:spPr/>
      <dgm:t>
        <a:bodyPr/>
        <a:lstStyle/>
        <a:p>
          <a:endParaRPr lang="en-US"/>
        </a:p>
      </dgm:t>
    </dgm:pt>
    <dgm:pt modelId="{37B0FB78-D9F6-4E53-895F-D51E9F65892D}" type="sibTrans" cxnId="{9EAEEA46-FAEF-440B-90CF-D0333AFF0B5C}">
      <dgm:prSet/>
      <dgm:spPr/>
      <dgm:t>
        <a:bodyPr/>
        <a:lstStyle/>
        <a:p>
          <a:endParaRPr lang="en-US"/>
        </a:p>
      </dgm:t>
    </dgm:pt>
    <dgm:pt modelId="{1FF1DBFF-52C0-496C-9734-8A1DD63A3353}" type="pres">
      <dgm:prSet presAssocID="{D47C37FB-E91C-442E-A72C-EA95C6120552}" presName="Name0" presStyleCnt="0">
        <dgm:presLayoutVars>
          <dgm:dir/>
          <dgm:resizeHandles val="exact"/>
        </dgm:presLayoutVars>
      </dgm:prSet>
      <dgm:spPr/>
    </dgm:pt>
    <dgm:pt modelId="{DD58AF25-248E-4D75-BC3F-A26EC27AD486}" type="pres">
      <dgm:prSet presAssocID="{98C418BC-7EF3-44BA-AF7D-4E364E747429}" presName="node" presStyleLbl="node1" presStyleIdx="0" presStyleCnt="3">
        <dgm:presLayoutVars>
          <dgm:bulletEnabled val="1"/>
        </dgm:presLayoutVars>
      </dgm:prSet>
      <dgm:spPr/>
    </dgm:pt>
    <dgm:pt modelId="{15B87AA5-6952-49D7-8FAA-1DEF19BEC021}" type="pres">
      <dgm:prSet presAssocID="{640CAA48-27B2-451B-8813-9E6E7FF40CDE}" presName="sibTrans" presStyleLbl="sibTrans1D1" presStyleIdx="0" presStyleCnt="2"/>
      <dgm:spPr/>
    </dgm:pt>
    <dgm:pt modelId="{2EC60727-B31F-4BDD-8F2D-66FA12274E60}" type="pres">
      <dgm:prSet presAssocID="{640CAA48-27B2-451B-8813-9E6E7FF40CDE}" presName="connectorText" presStyleLbl="sibTrans1D1" presStyleIdx="0" presStyleCnt="2"/>
      <dgm:spPr/>
    </dgm:pt>
    <dgm:pt modelId="{A617535C-E6FD-4B06-AA00-49F9D769634F}" type="pres">
      <dgm:prSet presAssocID="{99A914EB-9C89-431B-892C-B0779F937B14}" presName="node" presStyleLbl="node1" presStyleIdx="1" presStyleCnt="3">
        <dgm:presLayoutVars>
          <dgm:bulletEnabled val="1"/>
        </dgm:presLayoutVars>
      </dgm:prSet>
      <dgm:spPr/>
    </dgm:pt>
    <dgm:pt modelId="{900B12C0-3F97-4397-B31F-A0CF9348CF62}" type="pres">
      <dgm:prSet presAssocID="{E5036919-12A2-45AE-BAC6-E2800B27A046}" presName="sibTrans" presStyleLbl="sibTrans1D1" presStyleIdx="1" presStyleCnt="2"/>
      <dgm:spPr/>
    </dgm:pt>
    <dgm:pt modelId="{FC1F1542-A761-479E-8157-57EA35F6BB46}" type="pres">
      <dgm:prSet presAssocID="{E5036919-12A2-45AE-BAC6-E2800B27A046}" presName="connectorText" presStyleLbl="sibTrans1D1" presStyleIdx="1" presStyleCnt="2"/>
      <dgm:spPr/>
    </dgm:pt>
    <dgm:pt modelId="{A629D973-93C8-4BFD-BF38-C3CA9E5C82AD}" type="pres">
      <dgm:prSet presAssocID="{CB857AF3-FDEC-4C61-832A-3D50123734DC}" presName="node" presStyleLbl="node1" presStyleIdx="2" presStyleCnt="3">
        <dgm:presLayoutVars>
          <dgm:bulletEnabled val="1"/>
        </dgm:presLayoutVars>
      </dgm:prSet>
      <dgm:spPr/>
    </dgm:pt>
  </dgm:ptLst>
  <dgm:cxnLst>
    <dgm:cxn modelId="{D8356712-7BE3-4BC7-92BA-1C8E15D153DE}" type="presOf" srcId="{7C395E95-9D65-4DD1-85C0-0F5092FA4897}" destId="{DD58AF25-248E-4D75-BC3F-A26EC27AD486}" srcOrd="0" destOrd="1" presId="urn:microsoft.com/office/officeart/2016/7/layout/RepeatingBendingProcessNew"/>
    <dgm:cxn modelId="{128DE712-0C16-4F49-8EE4-1BB25D2CFE8C}" srcId="{CB857AF3-FDEC-4C61-832A-3D50123734DC}" destId="{0DEC1F5A-21F7-4823-83E6-3B962EC8E731}" srcOrd="0" destOrd="0" parTransId="{00E927C3-2835-4C4E-B9A0-1078E8B22C1D}" sibTransId="{C2C8F6BE-CE0B-4E96-9F3F-F9541E871CAE}"/>
    <dgm:cxn modelId="{6072E81D-F13E-4421-BF97-E07B85CB34F1}" srcId="{D47C37FB-E91C-442E-A72C-EA95C6120552}" destId="{CB857AF3-FDEC-4C61-832A-3D50123734DC}" srcOrd="2" destOrd="0" parTransId="{F30C13E8-2015-4126-B568-86D4D99FEE99}" sibTransId="{F1879F7B-C6D5-487F-BFB5-997A254D2931}"/>
    <dgm:cxn modelId="{A8821740-2E25-4AA1-9D54-99F5355A21E2}" type="presOf" srcId="{CB857AF3-FDEC-4C61-832A-3D50123734DC}" destId="{A629D973-93C8-4BFD-BF38-C3CA9E5C82AD}" srcOrd="0" destOrd="0" presId="urn:microsoft.com/office/officeart/2016/7/layout/RepeatingBendingProcessNew"/>
    <dgm:cxn modelId="{5C8C485B-D92F-42C3-A112-A91D32AF1547}" type="presOf" srcId="{0DEC1F5A-21F7-4823-83E6-3B962EC8E731}" destId="{A629D973-93C8-4BFD-BF38-C3CA9E5C82AD}" srcOrd="0" destOrd="1" presId="urn:microsoft.com/office/officeart/2016/7/layout/RepeatingBendingProcessNew"/>
    <dgm:cxn modelId="{A0F3845F-3E8F-4475-8533-976491BC5A4E}" type="presOf" srcId="{640CAA48-27B2-451B-8813-9E6E7FF40CDE}" destId="{15B87AA5-6952-49D7-8FAA-1DEF19BEC021}" srcOrd="0" destOrd="0" presId="urn:microsoft.com/office/officeart/2016/7/layout/RepeatingBendingProcessNew"/>
    <dgm:cxn modelId="{D85D9060-CB58-4883-8C0C-84BA6189C341}" type="presOf" srcId="{E5036919-12A2-45AE-BAC6-E2800B27A046}" destId="{900B12C0-3F97-4397-B31F-A0CF9348CF62}" srcOrd="0" destOrd="0" presId="urn:microsoft.com/office/officeart/2016/7/layout/RepeatingBendingProcessNew"/>
    <dgm:cxn modelId="{9EAEEA46-FAEF-440B-90CF-D0333AFF0B5C}" srcId="{CB857AF3-FDEC-4C61-832A-3D50123734DC}" destId="{5E2869CA-082C-4B2F-99C0-FC027CA43AC1}" srcOrd="1" destOrd="0" parTransId="{3F30C2BA-043A-4A2C-9A99-A47967242064}" sibTransId="{37B0FB78-D9F6-4E53-895F-D51E9F65892D}"/>
    <dgm:cxn modelId="{3AE66B6C-15FF-4678-9BD8-9B96965E4679}" type="presOf" srcId="{ABA96462-F244-4752-8AA8-7C966209851C}" destId="{A617535C-E6FD-4B06-AA00-49F9D769634F}" srcOrd="0" destOrd="1" presId="urn:microsoft.com/office/officeart/2016/7/layout/RepeatingBendingProcessNew"/>
    <dgm:cxn modelId="{1766E06D-7CBD-4E7E-AE34-375B98A7E74E}" srcId="{D47C37FB-E91C-442E-A72C-EA95C6120552}" destId="{98C418BC-7EF3-44BA-AF7D-4E364E747429}" srcOrd="0" destOrd="0" parTransId="{ACAB25AA-09A6-4C95-A240-F4FED270E610}" sibTransId="{640CAA48-27B2-451B-8813-9E6E7FF40CDE}"/>
    <dgm:cxn modelId="{2BA50070-BC8F-4F40-944D-0E063A1A882A}" type="presOf" srcId="{99A914EB-9C89-431B-892C-B0779F937B14}" destId="{A617535C-E6FD-4B06-AA00-49F9D769634F}" srcOrd="0" destOrd="0" presId="urn:microsoft.com/office/officeart/2016/7/layout/RepeatingBendingProcessNew"/>
    <dgm:cxn modelId="{9F32E371-FE79-46D1-BA02-BB57AD643436}" srcId="{98C418BC-7EF3-44BA-AF7D-4E364E747429}" destId="{7C395E95-9D65-4DD1-85C0-0F5092FA4897}" srcOrd="0" destOrd="0" parTransId="{2C8EE737-C1C0-403B-90A7-8E23B7B43371}" sibTransId="{2B8C950E-10A4-45A3-8A52-D3264642CBEB}"/>
    <dgm:cxn modelId="{19B64FA2-3D0D-4B99-BAC6-541F17C95499}" srcId="{D47C37FB-E91C-442E-A72C-EA95C6120552}" destId="{99A914EB-9C89-431B-892C-B0779F937B14}" srcOrd="1" destOrd="0" parTransId="{F64DADA9-F79B-44E9-AFFD-5D996579331F}" sibTransId="{E5036919-12A2-45AE-BAC6-E2800B27A046}"/>
    <dgm:cxn modelId="{F1D193A9-D210-4ED5-8D0D-0ACA872E7480}" type="presOf" srcId="{98C418BC-7EF3-44BA-AF7D-4E364E747429}" destId="{DD58AF25-248E-4D75-BC3F-A26EC27AD486}" srcOrd="0" destOrd="0" presId="urn:microsoft.com/office/officeart/2016/7/layout/RepeatingBendingProcessNew"/>
    <dgm:cxn modelId="{930E07AA-72BC-4F64-85A1-6100A9FB03FF}" type="presOf" srcId="{5E2869CA-082C-4B2F-99C0-FC027CA43AC1}" destId="{A629D973-93C8-4BFD-BF38-C3CA9E5C82AD}" srcOrd="0" destOrd="2" presId="urn:microsoft.com/office/officeart/2016/7/layout/RepeatingBendingProcessNew"/>
    <dgm:cxn modelId="{A9E5B0AD-789F-48C3-A350-7D25053447CD}" type="presOf" srcId="{3285F8E5-51B5-47FA-8CA0-8A1F72B3F7F5}" destId="{A617535C-E6FD-4B06-AA00-49F9D769634F}" srcOrd="0" destOrd="2" presId="urn:microsoft.com/office/officeart/2016/7/layout/RepeatingBendingProcessNew"/>
    <dgm:cxn modelId="{6DDED8AD-4E2D-496F-B28D-1114E4BFC09F}" type="presOf" srcId="{E5036919-12A2-45AE-BAC6-E2800B27A046}" destId="{FC1F1542-A761-479E-8157-57EA35F6BB46}" srcOrd="1" destOrd="0" presId="urn:microsoft.com/office/officeart/2016/7/layout/RepeatingBendingProcessNew"/>
    <dgm:cxn modelId="{08123DD7-2B44-4685-925B-5EB9B5FFA01D}" type="presOf" srcId="{640CAA48-27B2-451B-8813-9E6E7FF40CDE}" destId="{2EC60727-B31F-4BDD-8F2D-66FA12274E60}" srcOrd="1" destOrd="0" presId="urn:microsoft.com/office/officeart/2016/7/layout/RepeatingBendingProcessNew"/>
    <dgm:cxn modelId="{FFC60BDF-7141-4BB2-B880-4C4B2CBFD900}" srcId="{99A914EB-9C89-431B-892C-B0779F937B14}" destId="{ABA96462-F244-4752-8AA8-7C966209851C}" srcOrd="0" destOrd="0" parTransId="{05BFF09F-BD07-4C23-B9C7-601B227BFAB4}" sibTransId="{D4EC1BC7-E75F-47D3-8649-A8BD934AA8E7}"/>
    <dgm:cxn modelId="{8E53B2E2-D719-49C0-8483-493380EB046A}" type="presOf" srcId="{D47C37FB-E91C-442E-A72C-EA95C6120552}" destId="{1FF1DBFF-52C0-496C-9734-8A1DD63A3353}" srcOrd="0" destOrd="0" presId="urn:microsoft.com/office/officeart/2016/7/layout/RepeatingBendingProcessNew"/>
    <dgm:cxn modelId="{537DDFE5-4424-4787-9C70-8D9C9E348F39}" srcId="{99A914EB-9C89-431B-892C-B0779F937B14}" destId="{3285F8E5-51B5-47FA-8CA0-8A1F72B3F7F5}" srcOrd="1" destOrd="0" parTransId="{71A3214B-34BE-401B-86F6-6DD17C92EF72}" sibTransId="{43B9F38C-98EF-4BD5-983A-E6901C9FBFE0}"/>
    <dgm:cxn modelId="{3CA5E466-DFB0-455E-B810-ED38EB38DB21}" type="presParOf" srcId="{1FF1DBFF-52C0-496C-9734-8A1DD63A3353}" destId="{DD58AF25-248E-4D75-BC3F-A26EC27AD486}" srcOrd="0" destOrd="0" presId="urn:microsoft.com/office/officeart/2016/7/layout/RepeatingBendingProcessNew"/>
    <dgm:cxn modelId="{5CE95317-140A-4E8D-8B8C-00CCC2DF86A2}" type="presParOf" srcId="{1FF1DBFF-52C0-496C-9734-8A1DD63A3353}" destId="{15B87AA5-6952-49D7-8FAA-1DEF19BEC021}" srcOrd="1" destOrd="0" presId="urn:microsoft.com/office/officeart/2016/7/layout/RepeatingBendingProcessNew"/>
    <dgm:cxn modelId="{8DADFF5B-C705-4B35-8F3B-00C6D946C86B}" type="presParOf" srcId="{15B87AA5-6952-49D7-8FAA-1DEF19BEC021}" destId="{2EC60727-B31F-4BDD-8F2D-66FA12274E60}" srcOrd="0" destOrd="0" presId="urn:microsoft.com/office/officeart/2016/7/layout/RepeatingBendingProcessNew"/>
    <dgm:cxn modelId="{34B37F05-21F6-4D2A-8FBB-7AA42713787A}" type="presParOf" srcId="{1FF1DBFF-52C0-496C-9734-8A1DD63A3353}" destId="{A617535C-E6FD-4B06-AA00-49F9D769634F}" srcOrd="2" destOrd="0" presId="urn:microsoft.com/office/officeart/2016/7/layout/RepeatingBendingProcessNew"/>
    <dgm:cxn modelId="{96B74F84-4831-42BA-A87C-DCC50DD59295}" type="presParOf" srcId="{1FF1DBFF-52C0-496C-9734-8A1DD63A3353}" destId="{900B12C0-3F97-4397-B31F-A0CF9348CF62}" srcOrd="3" destOrd="0" presId="urn:microsoft.com/office/officeart/2016/7/layout/RepeatingBendingProcessNew"/>
    <dgm:cxn modelId="{B471FE8E-279A-4EA1-BB4B-32857C8FC06B}" type="presParOf" srcId="{900B12C0-3F97-4397-B31F-A0CF9348CF62}" destId="{FC1F1542-A761-479E-8157-57EA35F6BB46}" srcOrd="0" destOrd="0" presId="urn:microsoft.com/office/officeart/2016/7/layout/RepeatingBendingProcessNew"/>
    <dgm:cxn modelId="{1E0E7624-706B-4549-BC38-C8C6C334419B}" type="presParOf" srcId="{1FF1DBFF-52C0-496C-9734-8A1DD63A3353}" destId="{A629D973-93C8-4BFD-BF38-C3CA9E5C82AD}" srcOrd="4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4A405B-AF82-4027-80A3-89E90D335C41}">
      <dsp:nvSpPr>
        <dsp:cNvPr id="0" name=""/>
        <dsp:cNvSpPr/>
      </dsp:nvSpPr>
      <dsp:spPr>
        <a:xfrm>
          <a:off x="811199" y="864784"/>
          <a:ext cx="868218" cy="86821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9BD463-F016-4A49-9DAE-FC661E2C298A}">
      <dsp:nvSpPr>
        <dsp:cNvPr id="0" name=""/>
        <dsp:cNvSpPr/>
      </dsp:nvSpPr>
      <dsp:spPr>
        <a:xfrm>
          <a:off x="4996" y="1837411"/>
          <a:ext cx="2480625" cy="3953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1" kern="1200"/>
            <a:t>Engineering Strategy</a:t>
          </a:r>
          <a:endParaRPr lang="en-US" sz="1400" kern="1200"/>
        </a:p>
      </dsp:txBody>
      <dsp:txXfrm>
        <a:off x="4996" y="1837411"/>
        <a:ext cx="2480625" cy="395349"/>
      </dsp:txXfrm>
    </dsp:sp>
    <dsp:sp modelId="{DF66B122-88AB-40D2-8B1C-433AA895CAF9}">
      <dsp:nvSpPr>
        <dsp:cNvPr id="0" name=""/>
        <dsp:cNvSpPr/>
      </dsp:nvSpPr>
      <dsp:spPr>
        <a:xfrm>
          <a:off x="4996" y="2281322"/>
          <a:ext cx="2480625" cy="10115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I have designed an 'Offline-Online' architecture to ensure the system is scalable. Processing 18,000 images is computationally heavy, so I have separated the 'maths' from the 'interface'.</a:t>
          </a:r>
        </a:p>
      </dsp:txBody>
      <dsp:txXfrm>
        <a:off x="4996" y="2281322"/>
        <a:ext cx="2480625" cy="1011556"/>
      </dsp:txXfrm>
    </dsp:sp>
    <dsp:sp modelId="{99AE7189-1788-4AAB-A8B9-5DCECD400545}">
      <dsp:nvSpPr>
        <dsp:cNvPr id="0" name=""/>
        <dsp:cNvSpPr/>
      </dsp:nvSpPr>
      <dsp:spPr>
        <a:xfrm>
          <a:off x="3725934" y="864784"/>
          <a:ext cx="868218" cy="86821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257528-F68C-4FD6-9CDC-E119F0ABAE30}">
      <dsp:nvSpPr>
        <dsp:cNvPr id="0" name=""/>
        <dsp:cNvSpPr/>
      </dsp:nvSpPr>
      <dsp:spPr>
        <a:xfrm>
          <a:off x="2919731" y="1837411"/>
          <a:ext cx="2480625" cy="3953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1" kern="1200"/>
            <a:t>Phase A: The Offline Engine (Backend)</a:t>
          </a:r>
          <a:endParaRPr lang="en-US" sz="1400" kern="1200"/>
        </a:p>
      </dsp:txBody>
      <dsp:txXfrm>
        <a:off x="2919731" y="1837411"/>
        <a:ext cx="2480625" cy="395349"/>
      </dsp:txXfrm>
    </dsp:sp>
    <dsp:sp modelId="{716825BC-F51B-4F57-AC5E-446C42C2C691}">
      <dsp:nvSpPr>
        <dsp:cNvPr id="0" name=""/>
        <dsp:cNvSpPr/>
      </dsp:nvSpPr>
      <dsp:spPr>
        <a:xfrm>
          <a:off x="2919731" y="2281322"/>
          <a:ext cx="2480625" cy="10115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This pipeline ingests the raw CrisisMMD data, cleans it, and feeds it through the CLIP model.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- It outputs a lightweight set of vector coordinates (.npy files) rather than processing images in real-time.</a:t>
          </a:r>
        </a:p>
      </dsp:txBody>
      <dsp:txXfrm>
        <a:off x="2919731" y="2281322"/>
        <a:ext cx="2480625" cy="1011556"/>
      </dsp:txXfrm>
    </dsp:sp>
    <dsp:sp modelId="{CC45F892-929A-449C-8250-5854E82F794B}">
      <dsp:nvSpPr>
        <dsp:cNvPr id="0" name=""/>
        <dsp:cNvSpPr/>
      </dsp:nvSpPr>
      <dsp:spPr>
        <a:xfrm>
          <a:off x="6640668" y="864784"/>
          <a:ext cx="868218" cy="86821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F622B3-2F59-4CBA-92AD-311C3E28898D}">
      <dsp:nvSpPr>
        <dsp:cNvPr id="0" name=""/>
        <dsp:cNvSpPr/>
      </dsp:nvSpPr>
      <dsp:spPr>
        <a:xfrm>
          <a:off x="5834465" y="1837411"/>
          <a:ext cx="2480625" cy="3953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1" kern="1200"/>
            <a:t>Phase B: The Online Visualisation (Frontend)</a:t>
          </a:r>
          <a:endParaRPr lang="en-US" sz="1400" kern="1200"/>
        </a:p>
      </dsp:txBody>
      <dsp:txXfrm>
        <a:off x="5834465" y="1837411"/>
        <a:ext cx="2480625" cy="395349"/>
      </dsp:txXfrm>
    </dsp:sp>
    <dsp:sp modelId="{C90447AF-DD5C-4D4C-9A2F-7C760D2C6015}">
      <dsp:nvSpPr>
        <dsp:cNvPr id="0" name=""/>
        <dsp:cNvSpPr/>
      </dsp:nvSpPr>
      <dsp:spPr>
        <a:xfrm>
          <a:off x="5834465" y="2281322"/>
          <a:ext cx="2480625" cy="10115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I am using Dash and Plotly to build the user interface.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A lot of the h</a:t>
          </a:r>
          <a:r>
            <a:rPr lang="en-US" sz="1100" kern="1200"/>
            <a:t>eavy lifting is done offline, the dashboard remains responsive and fast, allowing for smooth user interaction on standard hardware.</a:t>
          </a:r>
        </a:p>
      </dsp:txBody>
      <dsp:txXfrm>
        <a:off x="5834465" y="2281322"/>
        <a:ext cx="2480625" cy="10115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737DD49-3AFD-44C6-973D-37E6BFFBC0F2}">
      <dsp:nvSpPr>
        <dsp:cNvPr id="0" name=""/>
        <dsp:cNvSpPr/>
      </dsp:nvSpPr>
      <dsp:spPr>
        <a:xfrm>
          <a:off x="2151" y="813037"/>
          <a:ext cx="859359" cy="85935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A2BD2D-29A7-4178-8173-AE7616742D69}">
      <dsp:nvSpPr>
        <dsp:cNvPr id="0" name=""/>
        <dsp:cNvSpPr/>
      </dsp:nvSpPr>
      <dsp:spPr>
        <a:xfrm>
          <a:off x="2151" y="1797092"/>
          <a:ext cx="2455312" cy="3682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1" kern="1200"/>
            <a:t>Data Ingestion Pipeline</a:t>
          </a:r>
          <a:endParaRPr lang="en-US" sz="1800" kern="1200"/>
        </a:p>
      </dsp:txBody>
      <dsp:txXfrm>
        <a:off x="2151" y="1797092"/>
        <a:ext cx="2455312" cy="368296"/>
      </dsp:txXfrm>
    </dsp:sp>
    <dsp:sp modelId="{2B3F1570-9E9B-4773-AFF3-E0EFE6F59177}">
      <dsp:nvSpPr>
        <dsp:cNvPr id="0" name=""/>
        <dsp:cNvSpPr/>
      </dsp:nvSpPr>
      <dsp:spPr>
        <a:xfrm>
          <a:off x="2151" y="2223387"/>
          <a:ext cx="2455312" cy="1489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I have successfully ingested the full CrisisMMD dataset (approx 18,000 images).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I wrote a custom cleaning script to handle corruption, ensuring only valid images are passed to the model.</a:t>
          </a:r>
        </a:p>
      </dsp:txBody>
      <dsp:txXfrm>
        <a:off x="2151" y="2223387"/>
        <a:ext cx="2455312" cy="1489537"/>
      </dsp:txXfrm>
    </dsp:sp>
    <dsp:sp modelId="{DBBC9CCB-04C6-411C-856B-CEF5AA21AA47}">
      <dsp:nvSpPr>
        <dsp:cNvPr id="0" name=""/>
        <dsp:cNvSpPr/>
      </dsp:nvSpPr>
      <dsp:spPr>
        <a:xfrm>
          <a:off x="2887143" y="813037"/>
          <a:ext cx="859359" cy="85935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A3BF17-1728-4C48-A3C9-205E7B8185A4}">
      <dsp:nvSpPr>
        <dsp:cNvPr id="0" name=""/>
        <dsp:cNvSpPr/>
      </dsp:nvSpPr>
      <dsp:spPr>
        <a:xfrm>
          <a:off x="2887143" y="1797092"/>
          <a:ext cx="2455312" cy="3682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1" kern="1200"/>
            <a:t>Validation Prototype (V4)</a:t>
          </a:r>
          <a:endParaRPr lang="en-US" sz="1800" kern="1200"/>
        </a:p>
      </dsp:txBody>
      <dsp:txXfrm>
        <a:off x="2887143" y="1797092"/>
        <a:ext cx="2455312" cy="368296"/>
      </dsp:txXfrm>
    </dsp:sp>
    <dsp:sp modelId="{E966A290-61F1-43DB-BE29-69A8ECFB4386}">
      <dsp:nvSpPr>
        <dsp:cNvPr id="0" name=""/>
        <dsp:cNvSpPr/>
      </dsp:nvSpPr>
      <dsp:spPr>
        <a:xfrm>
          <a:off x="2887143" y="2223387"/>
          <a:ext cx="2455312" cy="1489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I built a grid-based explorer in Dash to visually verify the quality of the metadata.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This step confirmed that the image resolution (min 200x200px) is sufficient for the CLIP vectorisation process.</a:t>
          </a:r>
        </a:p>
      </dsp:txBody>
      <dsp:txXfrm>
        <a:off x="2887143" y="2223387"/>
        <a:ext cx="2455312" cy="1489537"/>
      </dsp:txXfrm>
    </dsp:sp>
    <dsp:sp modelId="{37BCBA6D-E29E-42DB-8A32-7EA5D1A226A4}">
      <dsp:nvSpPr>
        <dsp:cNvPr id="0" name=""/>
        <dsp:cNvSpPr/>
      </dsp:nvSpPr>
      <dsp:spPr>
        <a:xfrm>
          <a:off x="5772135" y="813037"/>
          <a:ext cx="859359" cy="85935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B1793D-757B-4539-A581-C5304333DB1D}">
      <dsp:nvSpPr>
        <dsp:cNvPr id="0" name=""/>
        <dsp:cNvSpPr/>
      </dsp:nvSpPr>
      <dsp:spPr>
        <a:xfrm>
          <a:off x="5772135" y="1797092"/>
          <a:ext cx="2455312" cy="3682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1" kern="1200"/>
            <a:t>Environment Setup</a:t>
          </a:r>
          <a:endParaRPr lang="en-US" sz="1800" kern="1200"/>
        </a:p>
      </dsp:txBody>
      <dsp:txXfrm>
        <a:off x="5772135" y="1797092"/>
        <a:ext cx="2455312" cy="368296"/>
      </dsp:txXfrm>
    </dsp:sp>
    <dsp:sp modelId="{FE95D74A-D977-4240-AC6E-FF606BBA7913}">
      <dsp:nvSpPr>
        <dsp:cNvPr id="0" name=""/>
        <dsp:cNvSpPr/>
      </dsp:nvSpPr>
      <dsp:spPr>
        <a:xfrm>
          <a:off x="5772135" y="2223387"/>
          <a:ext cx="2455312" cy="1489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My local development environment is fully configured with PyTorch and CUDA acceleration.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The core vectorisation pipeline is currently running, marking the start of Phase 3.</a:t>
          </a:r>
        </a:p>
      </dsp:txBody>
      <dsp:txXfrm>
        <a:off x="5772135" y="2223387"/>
        <a:ext cx="2455312" cy="148953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A7FF2D-1C57-497F-AB57-83F71ACE6751}">
      <dsp:nvSpPr>
        <dsp:cNvPr id="0" name=""/>
        <dsp:cNvSpPr/>
      </dsp:nvSpPr>
      <dsp:spPr>
        <a:xfrm>
          <a:off x="1232549" y="508728"/>
          <a:ext cx="1323000" cy="1323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36B0CF-9789-4CCD-819A-1EF60AAFB0BB}">
      <dsp:nvSpPr>
        <dsp:cNvPr id="0" name=""/>
        <dsp:cNvSpPr/>
      </dsp:nvSpPr>
      <dsp:spPr>
        <a:xfrm>
          <a:off x="4049" y="1982594"/>
          <a:ext cx="3780000" cy="567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b="1" kern="1200"/>
            <a:t>Challenge 1: Metadata Inconsistency</a:t>
          </a:r>
          <a:endParaRPr lang="en-US" sz="1900" kern="1200"/>
        </a:p>
      </dsp:txBody>
      <dsp:txXfrm>
        <a:off x="4049" y="1982594"/>
        <a:ext cx="3780000" cy="567000"/>
      </dsp:txXfrm>
    </dsp:sp>
    <dsp:sp modelId="{83464156-A1F9-4517-A783-1C06D3B960AE}">
      <dsp:nvSpPr>
        <dsp:cNvPr id="0" name=""/>
        <dsp:cNvSpPr/>
      </dsp:nvSpPr>
      <dsp:spPr>
        <a:xfrm>
          <a:off x="4049" y="2619764"/>
          <a:ext cx="3780000" cy="13974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I discovered that about 5% of the dataset had corrupt file headers or missing JSON labels.</a:t>
          </a:r>
        </a:p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M</a:t>
          </a:r>
          <a:r>
            <a:rPr lang="en-US" sz="1400" kern="1200"/>
            <a:t>itigation: I implemented a 'defensive ingestion' loop with error logging. This ensures the pipeline skips bad files gracefully instead of crashing during the expensive training run.</a:t>
          </a:r>
        </a:p>
      </dsp:txBody>
      <dsp:txXfrm>
        <a:off x="4049" y="2619764"/>
        <a:ext cx="3780000" cy="1397469"/>
      </dsp:txXfrm>
    </dsp:sp>
    <dsp:sp modelId="{E67184A9-6587-42CD-B424-775D833D0240}">
      <dsp:nvSpPr>
        <dsp:cNvPr id="0" name=""/>
        <dsp:cNvSpPr/>
      </dsp:nvSpPr>
      <dsp:spPr>
        <a:xfrm>
          <a:off x="5674050" y="508728"/>
          <a:ext cx="1323000" cy="1323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F3AEC8-708A-4209-A1D8-381A11692CBF}">
      <dsp:nvSpPr>
        <dsp:cNvPr id="0" name=""/>
        <dsp:cNvSpPr/>
      </dsp:nvSpPr>
      <dsp:spPr>
        <a:xfrm>
          <a:off x="4445550" y="1982594"/>
          <a:ext cx="3780000" cy="567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b="1" kern="1200"/>
            <a:t>Challenge 2: Computational Load</a:t>
          </a:r>
          <a:endParaRPr lang="en-US" sz="1900" kern="1200"/>
        </a:p>
      </dsp:txBody>
      <dsp:txXfrm>
        <a:off x="4445550" y="1982594"/>
        <a:ext cx="3780000" cy="567000"/>
      </dsp:txXfrm>
    </dsp:sp>
    <dsp:sp modelId="{5C670D18-F04C-4BB0-A579-EC5CF1B1AB80}">
      <dsp:nvSpPr>
        <dsp:cNvPr id="0" name=""/>
        <dsp:cNvSpPr/>
      </dsp:nvSpPr>
      <dsp:spPr>
        <a:xfrm>
          <a:off x="4445550" y="2619764"/>
          <a:ext cx="3780000" cy="13974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Running the ViT-B/32 model on 18,000 images exceeds typical local memory limits.</a:t>
          </a:r>
          <a:endParaRPr lang="en-US" sz="1400" kern="1200"/>
        </a:p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Mitigation: I wrote the script to process images in batches of 32. I also have a fallback strategy to deploy the script to Google Colab's GPU infrastructure if my local hardware throttles.</a:t>
          </a:r>
        </a:p>
      </dsp:txBody>
      <dsp:txXfrm>
        <a:off x="4445550" y="2619764"/>
        <a:ext cx="3780000" cy="139746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5B87AA5-6952-49D7-8FAA-1DEF19BEC021}">
      <dsp:nvSpPr>
        <dsp:cNvPr id="0" name=""/>
        <dsp:cNvSpPr/>
      </dsp:nvSpPr>
      <dsp:spPr>
        <a:xfrm>
          <a:off x="3506574" y="703880"/>
          <a:ext cx="5421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42171" y="45720"/>
              </a:lnTo>
            </a:path>
          </a:pathLst>
        </a:custGeom>
        <a:noFill/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763340" y="746736"/>
        <a:ext cx="28638" cy="5727"/>
      </dsp:txXfrm>
    </dsp:sp>
    <dsp:sp modelId="{DD58AF25-248E-4D75-BC3F-A26EC27AD486}">
      <dsp:nvSpPr>
        <dsp:cNvPr id="0" name=""/>
        <dsp:cNvSpPr/>
      </dsp:nvSpPr>
      <dsp:spPr>
        <a:xfrm>
          <a:off x="1018062" y="2507"/>
          <a:ext cx="2490311" cy="149418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2027" tIns="128089" rIns="122027" bIns="128089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/>
            <a:t>Phase 3 (Current - January)</a:t>
          </a:r>
          <a:endParaRPr lang="en-US" sz="1300" kern="120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/>
            <a:t>I am currently finalizing the full vectorisation process to generate the 512-dimensional embeddings for the entire dataset.</a:t>
          </a:r>
        </a:p>
      </dsp:txBody>
      <dsp:txXfrm>
        <a:off x="1018062" y="2507"/>
        <a:ext cx="2490311" cy="1494186"/>
      </dsp:txXfrm>
    </dsp:sp>
    <dsp:sp modelId="{900B12C0-3F97-4397-B31F-A0CF9348CF62}">
      <dsp:nvSpPr>
        <dsp:cNvPr id="0" name=""/>
        <dsp:cNvSpPr/>
      </dsp:nvSpPr>
      <dsp:spPr>
        <a:xfrm>
          <a:off x="2263218" y="1494894"/>
          <a:ext cx="3063082" cy="542171"/>
        </a:xfrm>
        <a:custGeom>
          <a:avLst/>
          <a:gdLst/>
          <a:ahLst/>
          <a:cxnLst/>
          <a:rect l="0" t="0" r="0" b="0"/>
          <a:pathLst>
            <a:path>
              <a:moveTo>
                <a:pt x="3063082" y="0"/>
              </a:moveTo>
              <a:lnTo>
                <a:pt x="3063082" y="288185"/>
              </a:lnTo>
              <a:lnTo>
                <a:pt x="0" y="288185"/>
              </a:lnTo>
              <a:lnTo>
                <a:pt x="0" y="542171"/>
              </a:lnTo>
            </a:path>
          </a:pathLst>
        </a:custGeom>
        <a:noFill/>
        <a:ln w="9525" cap="flat" cmpd="sng" algn="ctr">
          <a:solidFill>
            <a:schemeClr val="accent2">
              <a:hueOff val="4681519"/>
              <a:satOff val="-5839"/>
              <a:lumOff val="1373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716855" y="1763116"/>
        <a:ext cx="155808" cy="5727"/>
      </dsp:txXfrm>
    </dsp:sp>
    <dsp:sp modelId="{A617535C-E6FD-4B06-AA00-49F9D769634F}">
      <dsp:nvSpPr>
        <dsp:cNvPr id="0" name=""/>
        <dsp:cNvSpPr/>
      </dsp:nvSpPr>
      <dsp:spPr>
        <a:xfrm>
          <a:off x="4081145" y="2507"/>
          <a:ext cx="2490311" cy="1494186"/>
        </a:xfrm>
        <a:prstGeom prst="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2027" tIns="128089" rIns="122027" bIns="128089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/>
            <a:t>Phase 4 (February)</a:t>
          </a:r>
          <a:endParaRPr lang="en-US" sz="1300" kern="120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/>
            <a:t>My focus will shift to integration. I will use UMAP to project these vectors into 2D space and connect them to the Dash frontend.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/>
            <a:t>I will implement the Cosine Similarity logic to enable the semantic search feature.</a:t>
          </a:r>
        </a:p>
      </dsp:txBody>
      <dsp:txXfrm>
        <a:off x="4081145" y="2507"/>
        <a:ext cx="2490311" cy="1494186"/>
      </dsp:txXfrm>
    </dsp:sp>
    <dsp:sp modelId="{A629D973-93C8-4BFD-BF38-C3CA9E5C82AD}">
      <dsp:nvSpPr>
        <dsp:cNvPr id="0" name=""/>
        <dsp:cNvSpPr/>
      </dsp:nvSpPr>
      <dsp:spPr>
        <a:xfrm>
          <a:off x="1018062" y="2069465"/>
          <a:ext cx="2490311" cy="1494186"/>
        </a:xfrm>
        <a:prstGeom prst="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2027" tIns="128089" rIns="122027" bIns="128089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/>
            <a:t>Phase 5 (March/April)</a:t>
          </a:r>
          <a:endParaRPr lang="en-US" sz="1300" kern="120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/>
            <a:t>I will conduct a quantitative evaluation using Silhouette Scores to measure cluster quality.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/>
            <a:t>Finally, I will complete the dissertation write-up.</a:t>
          </a:r>
        </a:p>
      </dsp:txBody>
      <dsp:txXfrm>
        <a:off x="1018062" y="2069465"/>
        <a:ext cx="2490311" cy="14941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DDA8CE9-E0A6-4FF2-823D-D08607606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195564-33B9-434B-9641-764F5905A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18C537-E336-47C4-836B-C342A230F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39356" y="1"/>
            <a:ext cx="3196506" cy="2602764"/>
            <a:chOff x="6867015" y="-1"/>
            <a:chExt cx="5324985" cy="3251912"/>
          </a:xfrm>
          <a:solidFill>
            <a:schemeClr val="accent5">
              <a:alpha val="5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81F97D2-9A0D-4CA5-B9AF-27B558BCF1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678A47C-892D-47C9-A5D8-F8860B1B05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9E8FDFA-59ED-4D6F-BA20-10CDF8436C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58D9A5-8003-4D92-8C05-787C630F75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A1259D8-0C3A-4069-A22F-537BBBB61A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20746" y="62352"/>
            <a:ext cx="4521523" cy="6795648"/>
            <a:chOff x="6160995" y="62352"/>
            <a:chExt cx="6028697" cy="6795648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90700B4-CEB5-450F-9EA7-95E355B50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82080" y="81632"/>
              <a:ext cx="6007612" cy="6776368"/>
            </a:xfrm>
            <a:custGeom>
              <a:avLst/>
              <a:gdLst>
                <a:gd name="connsiteX0" fmla="*/ 4493599 w 6007612"/>
                <a:gd name="connsiteY0" fmla="*/ 0 h 6797829"/>
                <a:gd name="connsiteX1" fmla="*/ 5981837 w 6007612"/>
                <a:gd name="connsiteY1" fmla="*/ 314220 h 6797829"/>
                <a:gd name="connsiteX2" fmla="*/ 6007612 w 6007612"/>
                <a:gd name="connsiteY2" fmla="*/ 327088 h 6797829"/>
                <a:gd name="connsiteX3" fmla="*/ 6007612 w 6007612"/>
                <a:gd name="connsiteY3" fmla="*/ 1316637 h 6797829"/>
                <a:gd name="connsiteX4" fmla="*/ 5852405 w 6007612"/>
                <a:gd name="connsiteY4" fmla="*/ 1209899 h 6797829"/>
                <a:gd name="connsiteX5" fmla="*/ 5622498 w 6007612"/>
                <a:gd name="connsiteY5" fmla="*/ 1086619 h 6797829"/>
                <a:gd name="connsiteX6" fmla="*/ 4493032 w 6007612"/>
                <a:gd name="connsiteY6" fmla="*/ 851533 h 6797829"/>
                <a:gd name="connsiteX7" fmla="*/ 3155579 w 6007612"/>
                <a:gd name="connsiteY7" fmla="*/ 1108326 h 6797829"/>
                <a:gd name="connsiteX8" fmla="*/ 1963832 w 6007612"/>
                <a:gd name="connsiteY8" fmla="*/ 1817700 h 6797829"/>
                <a:gd name="connsiteX9" fmla="*/ 1144646 w 6007612"/>
                <a:gd name="connsiteY9" fmla="*/ 2832814 h 6797829"/>
                <a:gd name="connsiteX10" fmla="*/ 851249 w 6007612"/>
                <a:gd name="connsiteY10" fmla="*/ 3998599 h 6797829"/>
                <a:gd name="connsiteX11" fmla="*/ 1336319 w 6007612"/>
                <a:gd name="connsiteY11" fmla="*/ 5057837 h 6797829"/>
                <a:gd name="connsiteX12" fmla="*/ 1597084 w 6007612"/>
                <a:gd name="connsiteY12" fmla="*/ 5424583 h 6797829"/>
                <a:gd name="connsiteX13" fmla="*/ 2591910 w 6007612"/>
                <a:gd name="connsiteY13" fmla="*/ 6440122 h 6797829"/>
                <a:gd name="connsiteX14" fmla="*/ 3899854 w 6007612"/>
                <a:gd name="connsiteY14" fmla="*/ 6780621 h 6797829"/>
                <a:gd name="connsiteX15" fmla="*/ 4741172 w 6007612"/>
                <a:gd name="connsiteY15" fmla="*/ 6563979 h 6797829"/>
                <a:gd name="connsiteX16" fmla="*/ 5649171 w 6007612"/>
                <a:gd name="connsiteY16" fmla="*/ 5938452 h 6797829"/>
                <a:gd name="connsiteX17" fmla="*/ 5873475 w 6007612"/>
                <a:gd name="connsiteY17" fmla="*/ 5764656 h 6797829"/>
                <a:gd name="connsiteX18" fmla="*/ 6007612 w 6007612"/>
                <a:gd name="connsiteY18" fmla="*/ 5660343 h 6797829"/>
                <a:gd name="connsiteX19" fmla="*/ 6007612 w 6007612"/>
                <a:gd name="connsiteY19" fmla="*/ 6737454 h 6797829"/>
                <a:gd name="connsiteX20" fmla="*/ 5929386 w 6007612"/>
                <a:gd name="connsiteY20" fmla="*/ 6797829 h 6797829"/>
                <a:gd name="connsiteX21" fmla="*/ 1656512 w 6007612"/>
                <a:gd name="connsiteY21" fmla="*/ 6797829 h 6797829"/>
                <a:gd name="connsiteX22" fmla="*/ 1630254 w 6007612"/>
                <a:gd name="connsiteY22" fmla="*/ 6775222 h 6797829"/>
                <a:gd name="connsiteX23" fmla="*/ 892250 w 6007612"/>
                <a:gd name="connsiteY23" fmla="*/ 5902700 h 6797829"/>
                <a:gd name="connsiteX24" fmla="*/ 0 w 6007612"/>
                <a:gd name="connsiteY24" fmla="*/ 3998599 h 6797829"/>
                <a:gd name="connsiteX25" fmla="*/ 4493032 w 6007612"/>
                <a:gd name="connsiteY25" fmla="*/ 285 h 679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007612" h="6797829">
                  <a:moveTo>
                    <a:pt x="4493599" y="0"/>
                  </a:moveTo>
                  <a:cubicBezTo>
                    <a:pt x="5048011" y="0"/>
                    <a:pt x="5546284" y="111886"/>
                    <a:pt x="5981837" y="314220"/>
                  </a:cubicBezTo>
                  <a:lnTo>
                    <a:pt x="6007612" y="327088"/>
                  </a:lnTo>
                  <a:lnTo>
                    <a:pt x="6007612" y="1316637"/>
                  </a:lnTo>
                  <a:lnTo>
                    <a:pt x="5852405" y="1209899"/>
                  </a:lnTo>
                  <a:cubicBezTo>
                    <a:pt x="5778266" y="1164709"/>
                    <a:pt x="5701526" y="1123535"/>
                    <a:pt x="5622498" y="1086619"/>
                  </a:cubicBezTo>
                  <a:cubicBezTo>
                    <a:pt x="5286822" y="930699"/>
                    <a:pt x="4906882" y="851533"/>
                    <a:pt x="4493032" y="851533"/>
                  </a:cubicBezTo>
                  <a:cubicBezTo>
                    <a:pt x="4056201" y="851533"/>
                    <a:pt x="3593263" y="940631"/>
                    <a:pt x="3155579" y="1108326"/>
                  </a:cubicBezTo>
                  <a:cubicBezTo>
                    <a:pt x="2721215" y="1275979"/>
                    <a:pt x="2318305" y="1515819"/>
                    <a:pt x="1963832" y="1817700"/>
                  </a:cubicBezTo>
                  <a:cubicBezTo>
                    <a:pt x="1617657" y="2114360"/>
                    <a:pt x="1334332" y="2465358"/>
                    <a:pt x="1144646" y="2832814"/>
                  </a:cubicBezTo>
                  <a:cubicBezTo>
                    <a:pt x="950561" y="3210060"/>
                    <a:pt x="851249" y="3602202"/>
                    <a:pt x="851249" y="3998599"/>
                  </a:cubicBezTo>
                  <a:cubicBezTo>
                    <a:pt x="851249" y="4377547"/>
                    <a:pt x="999792" y="4597311"/>
                    <a:pt x="1336319" y="5057837"/>
                  </a:cubicBezTo>
                  <a:cubicBezTo>
                    <a:pt x="1420450" y="5173181"/>
                    <a:pt x="1507419" y="5292497"/>
                    <a:pt x="1597084" y="5424583"/>
                  </a:cubicBezTo>
                  <a:cubicBezTo>
                    <a:pt x="1914175" y="5891917"/>
                    <a:pt x="2239493" y="6224189"/>
                    <a:pt x="2591910" y="6440122"/>
                  </a:cubicBezTo>
                  <a:cubicBezTo>
                    <a:pt x="2965467" y="6669393"/>
                    <a:pt x="3393219" y="6780621"/>
                    <a:pt x="3899854" y="6780621"/>
                  </a:cubicBezTo>
                  <a:cubicBezTo>
                    <a:pt x="4187861" y="6780621"/>
                    <a:pt x="4454583" y="6711812"/>
                    <a:pt x="4741172" y="6563979"/>
                  </a:cubicBezTo>
                  <a:cubicBezTo>
                    <a:pt x="5034852" y="6412173"/>
                    <a:pt x="5326263" y="6190848"/>
                    <a:pt x="5649171" y="5938452"/>
                  </a:cubicBezTo>
                  <a:cubicBezTo>
                    <a:pt x="5724931" y="5879291"/>
                    <a:pt x="5800409" y="5821406"/>
                    <a:pt x="5873475" y="5764656"/>
                  </a:cubicBezTo>
                  <a:lnTo>
                    <a:pt x="6007612" y="5660343"/>
                  </a:lnTo>
                  <a:lnTo>
                    <a:pt x="6007612" y="6737454"/>
                  </a:lnTo>
                  <a:lnTo>
                    <a:pt x="5929386" y="6797829"/>
                  </a:lnTo>
                  <a:lnTo>
                    <a:pt x="1656512" y="6797829"/>
                  </a:lnTo>
                  <a:lnTo>
                    <a:pt x="1630254" y="6775222"/>
                  </a:lnTo>
                  <a:cubicBezTo>
                    <a:pt x="1360562" y="6528765"/>
                    <a:pt x="1117699" y="6235219"/>
                    <a:pt x="892250" y="5902700"/>
                  </a:cubicBezTo>
                  <a:cubicBezTo>
                    <a:pt x="459249" y="5264548"/>
                    <a:pt x="0" y="4826722"/>
                    <a:pt x="0" y="3998599"/>
                  </a:cubicBezTo>
                  <a:cubicBezTo>
                    <a:pt x="0" y="1790460"/>
                    <a:pt x="2262336" y="285"/>
                    <a:pt x="4493032" y="2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0582300F-F646-4FC3-94FC-0582F4B5E0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60995" y="62352"/>
              <a:ext cx="6028697" cy="6795648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FBB8E8B8-1900-4326-8858-F375F5D8A0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63721" y="81632"/>
              <a:ext cx="6025971" cy="6776368"/>
            </a:xfrm>
            <a:custGeom>
              <a:avLst/>
              <a:gdLst>
                <a:gd name="connsiteX0" fmla="*/ 6025971 w 6025971"/>
                <a:gd name="connsiteY0" fmla="*/ 5825635 h 6797829"/>
                <a:gd name="connsiteX1" fmla="*/ 6025971 w 6025971"/>
                <a:gd name="connsiteY1" fmla="*/ 6723285 h 6797829"/>
                <a:gd name="connsiteX2" fmla="*/ 5929386 w 6025971"/>
                <a:gd name="connsiteY2" fmla="*/ 6797829 h 6797829"/>
                <a:gd name="connsiteX3" fmla="*/ 4560411 w 6025971"/>
                <a:gd name="connsiteY3" fmla="*/ 6797829 h 6797829"/>
                <a:gd name="connsiteX4" fmla="*/ 4597731 w 6025971"/>
                <a:gd name="connsiteY4" fmla="*/ 6785305 h 6797829"/>
                <a:gd name="connsiteX5" fmla="*/ 5736707 w 6025971"/>
                <a:gd name="connsiteY5" fmla="*/ 6050108 h 6797829"/>
                <a:gd name="connsiteX6" fmla="*/ 5960301 w 6025971"/>
                <a:gd name="connsiteY6" fmla="*/ 5876738 h 6797829"/>
                <a:gd name="connsiteX7" fmla="*/ 4493599 w 6025971"/>
                <a:gd name="connsiteY7" fmla="*/ 0 h 6797829"/>
                <a:gd name="connsiteX8" fmla="*/ 5981837 w 6025971"/>
                <a:gd name="connsiteY8" fmla="*/ 314220 h 6797829"/>
                <a:gd name="connsiteX9" fmla="*/ 6025971 w 6025971"/>
                <a:gd name="connsiteY9" fmla="*/ 336254 h 6797829"/>
                <a:gd name="connsiteX10" fmla="*/ 6025971 w 6025971"/>
                <a:gd name="connsiteY10" fmla="*/ 1157325 h 6797829"/>
                <a:gd name="connsiteX11" fmla="*/ 5925889 w 6025971"/>
                <a:gd name="connsiteY11" fmla="*/ 1088522 h 6797829"/>
                <a:gd name="connsiteX12" fmla="*/ 5682227 w 6025971"/>
                <a:gd name="connsiteY12" fmla="*/ 957939 h 6797829"/>
                <a:gd name="connsiteX13" fmla="*/ 4493032 w 6025971"/>
                <a:gd name="connsiteY13" fmla="*/ 709658 h 6797829"/>
                <a:gd name="connsiteX14" fmla="*/ 3104646 w 6025971"/>
                <a:gd name="connsiteY14" fmla="*/ 976666 h 6797829"/>
                <a:gd name="connsiteX15" fmla="*/ 1871612 w 6025971"/>
                <a:gd name="connsiteY15" fmla="*/ 1710017 h 6797829"/>
                <a:gd name="connsiteX16" fmla="*/ 1018661 w 6025971"/>
                <a:gd name="connsiteY16" fmla="*/ 2767694 h 6797829"/>
                <a:gd name="connsiteX17" fmla="*/ 709374 w 6025971"/>
                <a:gd name="connsiteY17" fmla="*/ 3998599 h 6797829"/>
                <a:gd name="connsiteX18" fmla="*/ 1221258 w 6025971"/>
                <a:gd name="connsiteY18" fmla="*/ 5141684 h 6797829"/>
                <a:gd name="connsiteX19" fmla="*/ 1479187 w 6025971"/>
                <a:gd name="connsiteY19" fmla="*/ 5504459 h 6797829"/>
                <a:gd name="connsiteX20" fmla="*/ 3021272 w 6025971"/>
                <a:gd name="connsiteY20" fmla="*/ 6793670 h 6797829"/>
                <a:gd name="connsiteX21" fmla="*/ 3035805 w 6025971"/>
                <a:gd name="connsiteY21" fmla="*/ 6797829 h 6797829"/>
                <a:gd name="connsiteX22" fmla="*/ 1656512 w 6025971"/>
                <a:gd name="connsiteY22" fmla="*/ 6797829 h 6797829"/>
                <a:gd name="connsiteX23" fmla="*/ 1630254 w 6025971"/>
                <a:gd name="connsiteY23" fmla="*/ 6775222 h 6797829"/>
                <a:gd name="connsiteX24" fmla="*/ 892250 w 6025971"/>
                <a:gd name="connsiteY24" fmla="*/ 5902700 h 6797829"/>
                <a:gd name="connsiteX25" fmla="*/ 0 w 6025971"/>
                <a:gd name="connsiteY25" fmla="*/ 3998599 h 6797829"/>
                <a:gd name="connsiteX26" fmla="*/ 4493032 w 6025971"/>
                <a:gd name="connsiteY26" fmla="*/ 285 h 679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025971" h="6797829">
                  <a:moveTo>
                    <a:pt x="6025971" y="5825635"/>
                  </a:moveTo>
                  <a:lnTo>
                    <a:pt x="6025971" y="6723285"/>
                  </a:lnTo>
                  <a:lnTo>
                    <a:pt x="5929386" y="6797829"/>
                  </a:lnTo>
                  <a:lnTo>
                    <a:pt x="4560411" y="6797829"/>
                  </a:lnTo>
                  <a:lnTo>
                    <a:pt x="4597731" y="6785305"/>
                  </a:lnTo>
                  <a:cubicBezTo>
                    <a:pt x="4964953" y="6637825"/>
                    <a:pt x="5315251" y="6379435"/>
                    <a:pt x="5736707" y="6050108"/>
                  </a:cubicBezTo>
                  <a:cubicBezTo>
                    <a:pt x="5812043" y="5991230"/>
                    <a:pt x="5887377" y="5933488"/>
                    <a:pt x="5960301" y="5876738"/>
                  </a:cubicBezTo>
                  <a:close/>
                  <a:moveTo>
                    <a:pt x="4493599" y="0"/>
                  </a:moveTo>
                  <a:cubicBezTo>
                    <a:pt x="5048011" y="0"/>
                    <a:pt x="5546284" y="111886"/>
                    <a:pt x="5981837" y="314220"/>
                  </a:cubicBezTo>
                  <a:lnTo>
                    <a:pt x="6025971" y="336254"/>
                  </a:lnTo>
                  <a:lnTo>
                    <a:pt x="6025971" y="1157325"/>
                  </a:lnTo>
                  <a:lnTo>
                    <a:pt x="5925889" y="1088522"/>
                  </a:lnTo>
                  <a:cubicBezTo>
                    <a:pt x="5847314" y="1040649"/>
                    <a:pt x="5765982" y="997036"/>
                    <a:pt x="5682227" y="957939"/>
                  </a:cubicBezTo>
                  <a:cubicBezTo>
                    <a:pt x="5327823" y="793222"/>
                    <a:pt x="4927595" y="709658"/>
                    <a:pt x="4493032" y="709658"/>
                  </a:cubicBezTo>
                  <a:cubicBezTo>
                    <a:pt x="4031940" y="709658"/>
                    <a:pt x="3564888" y="799465"/>
                    <a:pt x="3104646" y="976666"/>
                  </a:cubicBezTo>
                  <a:cubicBezTo>
                    <a:pt x="2655243" y="1149867"/>
                    <a:pt x="2238358" y="1397822"/>
                    <a:pt x="1871612" y="1710017"/>
                  </a:cubicBezTo>
                  <a:cubicBezTo>
                    <a:pt x="1506427" y="2022852"/>
                    <a:pt x="1219414" y="2378815"/>
                    <a:pt x="1018661" y="2767694"/>
                  </a:cubicBezTo>
                  <a:cubicBezTo>
                    <a:pt x="813368" y="3165227"/>
                    <a:pt x="709374" y="3579358"/>
                    <a:pt x="709374" y="3998599"/>
                  </a:cubicBezTo>
                  <a:cubicBezTo>
                    <a:pt x="709374" y="4421103"/>
                    <a:pt x="875510" y="4667680"/>
                    <a:pt x="1221258" y="5141684"/>
                  </a:cubicBezTo>
                  <a:cubicBezTo>
                    <a:pt x="1304681" y="5256035"/>
                    <a:pt x="1390941" y="5374217"/>
                    <a:pt x="1479187" y="5504459"/>
                  </a:cubicBezTo>
                  <a:cubicBezTo>
                    <a:pt x="1942790" y="6187719"/>
                    <a:pt x="2430063" y="6601673"/>
                    <a:pt x="3021272" y="6793670"/>
                  </a:cubicBezTo>
                  <a:lnTo>
                    <a:pt x="3035805" y="6797829"/>
                  </a:lnTo>
                  <a:lnTo>
                    <a:pt x="1656512" y="6797829"/>
                  </a:lnTo>
                  <a:lnTo>
                    <a:pt x="1630254" y="6775222"/>
                  </a:lnTo>
                  <a:cubicBezTo>
                    <a:pt x="1360562" y="6528765"/>
                    <a:pt x="1117699" y="6235219"/>
                    <a:pt x="892250" y="5902700"/>
                  </a:cubicBezTo>
                  <a:cubicBezTo>
                    <a:pt x="459249" y="5264548"/>
                    <a:pt x="0" y="4826722"/>
                    <a:pt x="0" y="3998599"/>
                  </a:cubicBezTo>
                  <a:cubicBezTo>
                    <a:pt x="0" y="1790460"/>
                    <a:pt x="2262336" y="285"/>
                    <a:pt x="4493032" y="2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4" y="1055098"/>
            <a:ext cx="4320539" cy="4747805"/>
          </a:xfrm>
        </p:spPr>
        <p:txBody>
          <a:bodyPr anchor="ctr">
            <a:normAutofit/>
          </a:bodyPr>
          <a:lstStyle/>
          <a:p>
            <a:pPr algn="l">
              <a:defRPr b="1">
                <a:solidFill>
                  <a:srgbClr val="003366"/>
                </a:solidFill>
                <a:latin typeface="Arial"/>
              </a:defRPr>
            </a:pPr>
            <a:r>
              <a:rPr lang="en-GB" sz="3500">
                <a:solidFill>
                  <a:schemeClr val="tx2"/>
                </a:solidFill>
              </a:rPr>
              <a:t>Unsupervised Multimodal Exploration</a:t>
            </a:r>
          </a:p>
          <a:p>
            <a:pPr algn="l">
              <a:defRPr b="1">
                <a:solidFill>
                  <a:srgbClr val="003366"/>
                </a:solidFill>
                <a:latin typeface="Arial"/>
              </a:defRPr>
            </a:pPr>
            <a:r>
              <a:rPr lang="en-GB" sz="3500" dirty="0">
                <a:solidFill>
                  <a:schemeClr val="tx2"/>
                </a:solidFill>
              </a:rPr>
              <a:t>for Disaster Response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256767" y="1638300"/>
            <a:ext cx="2497899" cy="3581400"/>
          </a:xfrm>
        </p:spPr>
        <p:txBody>
          <a:bodyPr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GB" sz="2700">
                <a:solidFill>
                  <a:schemeClr val="tx2"/>
                </a:solidFill>
              </a:rPr>
              <a:t>Midway Technical Review</a:t>
            </a:r>
          </a:p>
          <a:p>
            <a:pPr algn="l">
              <a:lnSpc>
                <a:spcPct val="90000"/>
              </a:lnSpc>
            </a:pPr>
            <a:r>
              <a:rPr lang="en-GB" sz="2700">
                <a:solidFill>
                  <a:schemeClr val="tx2"/>
                </a:solidFill>
              </a:rPr>
              <a:t>Student: Rashid</a:t>
            </a:r>
          </a:p>
          <a:p>
            <a:pPr algn="l">
              <a:lnSpc>
                <a:spcPct val="90000"/>
              </a:lnSpc>
            </a:pPr>
            <a:r>
              <a:rPr lang="en-GB" sz="2700">
                <a:solidFill>
                  <a:schemeClr val="tx2"/>
                </a:solidFill>
              </a:rPr>
              <a:t>Dataset: CrisisMMD (18,000 Images)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defRPr sz="3600" b="1">
                <a:solidFill>
                  <a:srgbClr val="003366"/>
                </a:solidFill>
                <a:latin typeface="Arial"/>
              </a:defRPr>
            </a:pPr>
            <a:r>
              <a:rPr lang="en-GB" sz="4300"/>
              <a:t>1. Context and Project Objectives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endParaRPr lang="en-GB" sz="1300"/>
          </a:p>
          <a:p>
            <a:pPr>
              <a:lnSpc>
                <a:spcPct val="90000"/>
              </a:lnSpc>
              <a:spcAft>
                <a:spcPts val="1400"/>
              </a:spcAft>
              <a:defRPr sz="2000" b="1">
                <a:latin typeface="Arial"/>
              </a:defRPr>
            </a:pPr>
            <a:r>
              <a:rPr lang="en-GB" sz="1300"/>
              <a:t>The Problem: The Data Deluge</a:t>
            </a:r>
          </a:p>
          <a:p>
            <a:pPr lvl="1">
              <a:lnSpc>
                <a:spcPct val="90000"/>
              </a:lnSpc>
              <a:spcAft>
                <a:spcPts val="1400"/>
              </a:spcAft>
              <a:defRPr sz="2000">
                <a:latin typeface="Arial"/>
              </a:defRPr>
            </a:pPr>
            <a:r>
              <a:rPr lang="en-GB" sz="1300"/>
              <a:t>- When a disaster strikes, social media is flooded with millions of images. While this data is valuable, it creates an 'information overload' that manual teams cannot process in time.</a:t>
            </a:r>
          </a:p>
          <a:p>
            <a:pPr lvl="1">
              <a:lnSpc>
                <a:spcPct val="90000"/>
              </a:lnSpc>
              <a:spcAft>
                <a:spcPts val="1400"/>
              </a:spcAft>
              <a:defRPr sz="2000">
                <a:latin typeface="Arial"/>
              </a:defRPr>
            </a:pPr>
            <a:r>
              <a:rPr lang="en-GB" sz="1300"/>
              <a:t>- Existing AI solutions (like CNNs) are too rigid because they rely on supervised labels. They fail when they see a new type of disaster they haven't been trained on.</a:t>
            </a:r>
          </a:p>
          <a:p>
            <a:pPr>
              <a:lnSpc>
                <a:spcPct val="90000"/>
              </a:lnSpc>
              <a:spcAft>
                <a:spcPts val="1400"/>
              </a:spcAft>
              <a:defRPr sz="2000" b="1">
                <a:latin typeface="Arial"/>
              </a:defRPr>
            </a:pPr>
            <a:r>
              <a:rPr lang="en-GB" sz="1300"/>
              <a:t>My Solution: Unsupervised Multimodal Learning</a:t>
            </a:r>
          </a:p>
          <a:p>
            <a:pPr lvl="1">
              <a:lnSpc>
                <a:spcPct val="90000"/>
              </a:lnSpc>
              <a:spcAft>
                <a:spcPts val="1400"/>
              </a:spcAft>
              <a:defRPr sz="2000">
                <a:latin typeface="Arial"/>
              </a:defRPr>
            </a:pPr>
            <a:r>
              <a:rPr lang="en-GB" sz="1300"/>
              <a:t>- I am building a tool that uses CLIP (Contrastive Language-Image Pre-training) to understand the semantic meaning of these images without needing labels.</a:t>
            </a:r>
          </a:p>
          <a:p>
            <a:pPr lvl="1">
              <a:lnSpc>
                <a:spcPct val="90000"/>
              </a:lnSpc>
              <a:spcAft>
                <a:spcPts val="1400"/>
              </a:spcAft>
              <a:defRPr sz="2000">
                <a:latin typeface="Arial"/>
              </a:defRPr>
            </a:pPr>
            <a:r>
              <a:rPr lang="en-GB" sz="1300"/>
              <a:t>- By using UMAP for dimensionality reduction, I can visualise the 'global structure' of the disaster data, allowing responders to see patterns instantly.</a:t>
            </a:r>
          </a:p>
          <a:p>
            <a:pPr>
              <a:lnSpc>
                <a:spcPct val="90000"/>
              </a:lnSpc>
              <a:spcAft>
                <a:spcPts val="1400"/>
              </a:spcAft>
              <a:defRPr sz="2000" b="1">
                <a:latin typeface="Arial"/>
              </a:defRPr>
            </a:pPr>
            <a:r>
              <a:rPr lang="en-GB" sz="1300"/>
              <a:t>Core Objective</a:t>
            </a:r>
          </a:p>
          <a:p>
            <a:pPr lvl="1">
              <a:lnSpc>
                <a:spcPct val="90000"/>
              </a:lnSpc>
              <a:spcAft>
                <a:spcPts val="1400"/>
              </a:spcAft>
              <a:defRPr sz="2000">
                <a:latin typeface="Arial"/>
              </a:defRPr>
            </a:pPr>
            <a:r>
              <a:rPr lang="en-GB" sz="1300"/>
              <a:t>- To create a 'Zero-Shot' search engine where a user can type 'people on a roof' and find relevant images immediately, without prior model training.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738F59A4-4431-460D-8E49-6E65C189A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A919B9C-5C01-47E4-B2F2-45F589208A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9144000" cy="6858000"/>
            <a:chOff x="0" y="0"/>
            <a:chExt cx="121920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85A82CE-D835-4542-BE8D-62A8F5A943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63D7EF0-3AC8-4029-B55D-EBDD733D39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4">
                <a:lumMod val="75000"/>
                <a:alpha val="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3147" y="365125"/>
            <a:ext cx="8317705" cy="1325563"/>
          </a:xfrm>
        </p:spPr>
        <p:txBody>
          <a:bodyPr>
            <a:norm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rPr lang="en-GB" sz="3500"/>
              <a:t>2. System Architecture: The Offline-Online Split</a:t>
            </a:r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D9636C9F-AEBF-3A92-61B4-C54D1E3314A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37910623"/>
              </p:ext>
            </p:extLst>
          </p:nvPr>
        </p:nvGraphicFramePr>
        <p:xfrm>
          <a:off x="410766" y="2133600"/>
          <a:ext cx="8320087" cy="41576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rPr lang="en-GB"/>
              <a:t>3. Work Completed (Phase 1 &amp; 2)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90CFF53-5D6D-37B7-38EA-97D57DDD5C4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t>4. Risks and Mitigation Strategies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171F026-E3B5-04FC-8D76-1DA9AF04710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457200"/>
            <a:ext cx="7934706" cy="1188720"/>
          </a:xfrm>
        </p:spPr>
        <p:txBody>
          <a:bodyPr>
            <a:norm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rPr lang="en-GB" sz="3500">
                <a:solidFill>
                  <a:schemeClr val="tx2"/>
                </a:solidFill>
              </a:rPr>
              <a:t>5. Project Roadmap and Next Steps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6566969-F813-4CC5-B3E9-363D85B55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660949" y="-5116"/>
            <a:ext cx="2488985" cy="2490264"/>
            <a:chOff x="-305" y="-1"/>
            <a:chExt cx="3832880" cy="287613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AF8CF66C-45E2-456B-92B0-9E97A331D1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65D590E-D70D-4D25-B853-D5208F2AA3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231501E-3F84-4705-A001-13995FA688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52617E4-47FD-4C38-8F70-93BF9B1257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17D733-97B6-4C43-AF0C-5E3CB0EA1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07887"/>
            <a:ext cx="1954321" cy="2252847"/>
            <a:chOff x="-305" y="-4155"/>
            <a:chExt cx="2514948" cy="2174333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D288266-7E76-4D4A-BAAC-E233FA013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697F88A-8624-4BA2-AF06-E6C3A52F03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CA77163-C052-481C-9DCF-68C23ACAB3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02B425B5-0A0E-4B85-B718-E5DA73431A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4163C83-A8AF-A7D7-BA55-C8C897B725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351452"/>
              </p:ext>
            </p:extLst>
          </p:nvPr>
        </p:nvGraphicFramePr>
        <p:xfrm>
          <a:off x="777240" y="2560320"/>
          <a:ext cx="758952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666</Words>
  <Application>Microsoft Office PowerPoint</Application>
  <PresentationFormat>On-screen Show (4:3)</PresentationFormat>
  <Paragraphs>50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Unsupervised Multimodal Exploration for Disaster Response</vt:lpstr>
      <vt:lpstr>1. Context and Project Objectives</vt:lpstr>
      <vt:lpstr>2. System Architecture: The Offline-Online Split</vt:lpstr>
      <vt:lpstr>3. Work Completed (Phase 1 &amp; 2)</vt:lpstr>
      <vt:lpstr>4. Risks and Mitigation Strategies</vt:lpstr>
      <vt:lpstr>5. Project Roadmap and Next Steps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rashidahmed pandor</cp:lastModifiedBy>
  <cp:revision>2</cp:revision>
  <dcterms:created xsi:type="dcterms:W3CDTF">2013-01-27T09:14:16Z</dcterms:created>
  <dcterms:modified xsi:type="dcterms:W3CDTF">2026-01-26T15:16:12Z</dcterms:modified>
  <cp:category/>
</cp:coreProperties>
</file>