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svg"/><Relationship Id="rId1" Type="http://schemas.openxmlformats.org/officeDocument/2006/relationships/image" Target="../media/image9.png"/><Relationship Id="rId4" Type="http://schemas.openxmlformats.org/officeDocument/2006/relationships/image" Target="../media/image12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6815FE0-2B56-47BE-928E-C89E13D2573A}" type="doc">
      <dgm:prSet loTypeId="urn:microsoft.com/office/officeart/2005/8/layout/hList1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DD289425-1158-4663-A4D9-13BC7578F810}">
      <dgm:prSet/>
      <dgm:spPr/>
      <dgm:t>
        <a:bodyPr/>
        <a:lstStyle/>
        <a:p>
          <a:pPr>
            <a:defRPr b="1"/>
          </a:pPr>
          <a:r>
            <a:rPr lang="en-US" b="1"/>
            <a:t>Engineering Strategy</a:t>
          </a:r>
          <a:endParaRPr lang="en-US"/>
        </a:p>
      </dgm:t>
    </dgm:pt>
    <dgm:pt modelId="{B5F5B40F-5E65-4D7A-AFA6-7D7C356D936E}" type="parTrans" cxnId="{644CECF7-006A-456B-B653-A55288D50E26}">
      <dgm:prSet/>
      <dgm:spPr/>
      <dgm:t>
        <a:bodyPr/>
        <a:lstStyle/>
        <a:p>
          <a:endParaRPr lang="en-US"/>
        </a:p>
      </dgm:t>
    </dgm:pt>
    <dgm:pt modelId="{BDA1EA66-470F-4B21-BE48-F6AAB388B6DB}" type="sibTrans" cxnId="{644CECF7-006A-456B-B653-A55288D50E26}">
      <dgm:prSet/>
      <dgm:spPr/>
      <dgm:t>
        <a:bodyPr/>
        <a:lstStyle/>
        <a:p>
          <a:endParaRPr lang="en-US"/>
        </a:p>
      </dgm:t>
    </dgm:pt>
    <dgm:pt modelId="{54379A65-8194-4D08-A20B-E8B8E3EB3D9D}">
      <dgm:prSet/>
      <dgm:spPr/>
      <dgm:t>
        <a:bodyPr/>
        <a:lstStyle/>
        <a:p>
          <a:r>
            <a:rPr lang="en-US" dirty="0"/>
            <a:t>I have created an “Offline-Online” architecture to make sure the system is scalable. Processing 18,000 images is computationally heavy so I have separated the “</a:t>
          </a:r>
          <a:r>
            <a:rPr lang="en-US" dirty="0" err="1"/>
            <a:t>maths</a:t>
          </a:r>
          <a:r>
            <a:rPr lang="en-US" dirty="0"/>
            <a:t>” from the “interface”.</a:t>
          </a:r>
        </a:p>
      </dgm:t>
    </dgm:pt>
    <dgm:pt modelId="{14D58431-2B79-4351-9AA7-C3DFB9F481CE}" type="parTrans" cxnId="{6B567EB0-F85C-4C83-B9D0-D3A359FC2A81}">
      <dgm:prSet/>
      <dgm:spPr/>
      <dgm:t>
        <a:bodyPr/>
        <a:lstStyle/>
        <a:p>
          <a:endParaRPr lang="en-US"/>
        </a:p>
      </dgm:t>
    </dgm:pt>
    <dgm:pt modelId="{0E00C01F-40A8-4323-A2A7-8C06EB48A496}" type="sibTrans" cxnId="{6B567EB0-F85C-4C83-B9D0-D3A359FC2A81}">
      <dgm:prSet/>
      <dgm:spPr/>
      <dgm:t>
        <a:bodyPr/>
        <a:lstStyle/>
        <a:p>
          <a:endParaRPr lang="en-US"/>
        </a:p>
      </dgm:t>
    </dgm:pt>
    <dgm:pt modelId="{98E7FCCC-EBC7-4237-BBA1-2A0F76CCC3AF}">
      <dgm:prSet/>
      <dgm:spPr/>
      <dgm:t>
        <a:bodyPr/>
        <a:lstStyle/>
        <a:p>
          <a:pPr>
            <a:defRPr b="1"/>
          </a:pPr>
          <a:r>
            <a:rPr lang="en-US" b="1"/>
            <a:t>Phase A: The Offline Engine (Backend)</a:t>
          </a:r>
          <a:endParaRPr lang="en-US"/>
        </a:p>
      </dgm:t>
    </dgm:pt>
    <dgm:pt modelId="{9868C9CE-5A5E-41D1-A93E-6385000B6C45}" type="parTrans" cxnId="{010350E2-9035-4692-BB48-7630AB24D16F}">
      <dgm:prSet/>
      <dgm:spPr/>
      <dgm:t>
        <a:bodyPr/>
        <a:lstStyle/>
        <a:p>
          <a:endParaRPr lang="en-US"/>
        </a:p>
      </dgm:t>
    </dgm:pt>
    <dgm:pt modelId="{00B46698-CB55-41B7-8C62-7DEAC89B72F1}" type="sibTrans" cxnId="{010350E2-9035-4692-BB48-7630AB24D16F}">
      <dgm:prSet/>
      <dgm:spPr/>
      <dgm:t>
        <a:bodyPr/>
        <a:lstStyle/>
        <a:p>
          <a:endParaRPr lang="en-US"/>
        </a:p>
      </dgm:t>
    </dgm:pt>
    <dgm:pt modelId="{BED52ADD-553B-4B54-9A87-2505B40E16B9}">
      <dgm:prSet/>
      <dgm:spPr/>
      <dgm:t>
        <a:bodyPr/>
        <a:lstStyle/>
        <a:p>
          <a:r>
            <a:rPr lang="en-US" dirty="0"/>
            <a:t>This pipeline ingests the raw </a:t>
          </a:r>
          <a:r>
            <a:rPr lang="en-US" dirty="0" err="1"/>
            <a:t>CrisisMMD</a:t>
          </a:r>
          <a:r>
            <a:rPr lang="en-US" dirty="0"/>
            <a:t> data, cleans it, and feeds it through the CLIP model.</a:t>
          </a:r>
        </a:p>
      </dgm:t>
    </dgm:pt>
    <dgm:pt modelId="{D478AF3A-A4EB-42A0-8D19-A674557EF40C}" type="parTrans" cxnId="{AAFDB438-7A76-4AE8-84EC-46527A977B73}">
      <dgm:prSet/>
      <dgm:spPr/>
      <dgm:t>
        <a:bodyPr/>
        <a:lstStyle/>
        <a:p>
          <a:endParaRPr lang="en-US"/>
        </a:p>
      </dgm:t>
    </dgm:pt>
    <dgm:pt modelId="{7D09D1FE-CB75-46CA-A373-C711A756BADF}" type="sibTrans" cxnId="{AAFDB438-7A76-4AE8-84EC-46527A977B73}">
      <dgm:prSet/>
      <dgm:spPr/>
      <dgm:t>
        <a:bodyPr/>
        <a:lstStyle/>
        <a:p>
          <a:endParaRPr lang="en-US"/>
        </a:p>
      </dgm:t>
    </dgm:pt>
    <dgm:pt modelId="{19D19966-722A-4C0A-8C6B-A9E2A8814957}">
      <dgm:prSet/>
      <dgm:spPr/>
      <dgm:t>
        <a:bodyPr/>
        <a:lstStyle/>
        <a:p>
          <a:r>
            <a:rPr lang="en-US" dirty="0"/>
            <a:t>It outputs a lightweight set of vector coordinates (.</a:t>
          </a:r>
          <a:r>
            <a:rPr lang="en-US" dirty="0" err="1"/>
            <a:t>npy</a:t>
          </a:r>
          <a:r>
            <a:rPr lang="en-US" dirty="0"/>
            <a:t> files) rather than processing images in real-time.</a:t>
          </a:r>
        </a:p>
      </dgm:t>
    </dgm:pt>
    <dgm:pt modelId="{63D36D03-74B4-444D-A074-DFF725CF4E1A}" type="parTrans" cxnId="{6B77F0ED-FC61-4B0C-800D-C4EFB2BD313F}">
      <dgm:prSet/>
      <dgm:spPr/>
      <dgm:t>
        <a:bodyPr/>
        <a:lstStyle/>
        <a:p>
          <a:endParaRPr lang="en-US"/>
        </a:p>
      </dgm:t>
    </dgm:pt>
    <dgm:pt modelId="{F47E5A32-81DF-4FA1-BC9F-CBA0A0B91E0E}" type="sibTrans" cxnId="{6B77F0ED-FC61-4B0C-800D-C4EFB2BD313F}">
      <dgm:prSet/>
      <dgm:spPr/>
      <dgm:t>
        <a:bodyPr/>
        <a:lstStyle/>
        <a:p>
          <a:endParaRPr lang="en-US"/>
        </a:p>
      </dgm:t>
    </dgm:pt>
    <dgm:pt modelId="{C79BA9C5-8EF6-4B58-BCA1-050253515108}">
      <dgm:prSet/>
      <dgm:spPr/>
      <dgm:t>
        <a:bodyPr/>
        <a:lstStyle/>
        <a:p>
          <a:pPr>
            <a:defRPr b="1"/>
          </a:pPr>
          <a:r>
            <a:rPr lang="en-US" b="1"/>
            <a:t>Phase B: The Online Visualisation (Frontend)</a:t>
          </a:r>
          <a:endParaRPr lang="en-US"/>
        </a:p>
      </dgm:t>
    </dgm:pt>
    <dgm:pt modelId="{7EC7085B-CFBB-4422-890B-D0CC4B040D6D}" type="parTrans" cxnId="{2E50D693-E3A7-45EA-A405-D59FDC01F038}">
      <dgm:prSet/>
      <dgm:spPr/>
      <dgm:t>
        <a:bodyPr/>
        <a:lstStyle/>
        <a:p>
          <a:endParaRPr lang="en-US"/>
        </a:p>
      </dgm:t>
    </dgm:pt>
    <dgm:pt modelId="{263D3FB0-B8FC-4B25-AD2A-77810B2CC85E}" type="sibTrans" cxnId="{2E50D693-E3A7-45EA-A405-D59FDC01F038}">
      <dgm:prSet/>
      <dgm:spPr/>
      <dgm:t>
        <a:bodyPr/>
        <a:lstStyle/>
        <a:p>
          <a:endParaRPr lang="en-US"/>
        </a:p>
      </dgm:t>
    </dgm:pt>
    <dgm:pt modelId="{74D904A1-1DA3-4058-BD8A-712E01A3636A}">
      <dgm:prSet/>
      <dgm:spPr/>
      <dgm:t>
        <a:bodyPr/>
        <a:lstStyle/>
        <a:p>
          <a:r>
            <a:rPr lang="en-US"/>
            <a:t>I am using Dash and Plotly to build the user interface.</a:t>
          </a:r>
        </a:p>
      </dgm:t>
    </dgm:pt>
    <dgm:pt modelId="{700B4266-0C64-4396-A3D5-D858F04B1467}" type="parTrans" cxnId="{122851DA-B085-46E2-B38E-DF5367001DB1}">
      <dgm:prSet/>
      <dgm:spPr/>
      <dgm:t>
        <a:bodyPr/>
        <a:lstStyle/>
        <a:p>
          <a:endParaRPr lang="en-US"/>
        </a:p>
      </dgm:t>
    </dgm:pt>
    <dgm:pt modelId="{A8508307-0AEC-4653-93A8-D4019864D20D}" type="sibTrans" cxnId="{122851DA-B085-46E2-B38E-DF5367001DB1}">
      <dgm:prSet/>
      <dgm:spPr/>
      <dgm:t>
        <a:bodyPr/>
        <a:lstStyle/>
        <a:p>
          <a:endParaRPr lang="en-US"/>
        </a:p>
      </dgm:t>
    </dgm:pt>
    <dgm:pt modelId="{87EEE5DC-1EED-4313-A5D5-75FD9B0AD5E8}">
      <dgm:prSet/>
      <dgm:spPr/>
      <dgm:t>
        <a:bodyPr/>
        <a:lstStyle/>
        <a:p>
          <a:r>
            <a:rPr lang="en-GB"/>
            <a:t>A lot of the h</a:t>
          </a:r>
          <a:r>
            <a:rPr lang="en-US"/>
            <a:t>eavy lifting is done offline, the dashboard remains responsive and fast, allowing for smooth user interaction on standard hardware.</a:t>
          </a:r>
        </a:p>
      </dgm:t>
    </dgm:pt>
    <dgm:pt modelId="{3FDCBD18-99C1-4312-A90A-540D88871EC9}" type="parTrans" cxnId="{2EEA1FB8-7539-40D2-8BDD-D9DAA7321E69}">
      <dgm:prSet/>
      <dgm:spPr/>
      <dgm:t>
        <a:bodyPr/>
        <a:lstStyle/>
        <a:p>
          <a:endParaRPr lang="en-US"/>
        </a:p>
      </dgm:t>
    </dgm:pt>
    <dgm:pt modelId="{53249E29-831D-4E7F-A05E-5E24597D87C5}" type="sibTrans" cxnId="{2EEA1FB8-7539-40D2-8BDD-D9DAA7321E69}">
      <dgm:prSet/>
      <dgm:spPr/>
      <dgm:t>
        <a:bodyPr/>
        <a:lstStyle/>
        <a:p>
          <a:endParaRPr lang="en-US"/>
        </a:p>
      </dgm:t>
    </dgm:pt>
    <dgm:pt modelId="{9E4B9CA3-C9AA-4257-85ED-9B118E0B54A6}" type="pres">
      <dgm:prSet presAssocID="{D6815FE0-2B56-47BE-928E-C89E13D2573A}" presName="Name0" presStyleCnt="0">
        <dgm:presLayoutVars>
          <dgm:dir/>
          <dgm:animLvl val="lvl"/>
          <dgm:resizeHandles val="exact"/>
        </dgm:presLayoutVars>
      </dgm:prSet>
      <dgm:spPr/>
    </dgm:pt>
    <dgm:pt modelId="{4A72733C-420D-4AAE-9545-1AE82D9C35B8}" type="pres">
      <dgm:prSet presAssocID="{DD289425-1158-4663-A4D9-13BC7578F810}" presName="composite" presStyleCnt="0"/>
      <dgm:spPr/>
    </dgm:pt>
    <dgm:pt modelId="{2E9DC656-56EB-4358-8C92-EAD9C4AD92A5}" type="pres">
      <dgm:prSet presAssocID="{DD289425-1158-4663-A4D9-13BC7578F810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A17C36CA-36B0-4BEC-82E5-677834E2AB37}" type="pres">
      <dgm:prSet presAssocID="{DD289425-1158-4663-A4D9-13BC7578F810}" presName="desTx" presStyleLbl="alignAccFollowNode1" presStyleIdx="0" presStyleCnt="3">
        <dgm:presLayoutVars>
          <dgm:bulletEnabled val="1"/>
        </dgm:presLayoutVars>
      </dgm:prSet>
      <dgm:spPr/>
    </dgm:pt>
    <dgm:pt modelId="{34B8FFAE-9B65-4B70-BE01-69B6EC0E8FD1}" type="pres">
      <dgm:prSet presAssocID="{BDA1EA66-470F-4B21-BE48-F6AAB388B6DB}" presName="space" presStyleCnt="0"/>
      <dgm:spPr/>
    </dgm:pt>
    <dgm:pt modelId="{528805A9-557A-434F-896E-9D49979119DF}" type="pres">
      <dgm:prSet presAssocID="{98E7FCCC-EBC7-4237-BBA1-2A0F76CCC3AF}" presName="composite" presStyleCnt="0"/>
      <dgm:spPr/>
    </dgm:pt>
    <dgm:pt modelId="{A58476C1-430F-45DF-8BC9-4B59B6884B2E}" type="pres">
      <dgm:prSet presAssocID="{98E7FCCC-EBC7-4237-BBA1-2A0F76CCC3AF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F667A468-633A-4395-84DD-0C959CFDF2C4}" type="pres">
      <dgm:prSet presAssocID="{98E7FCCC-EBC7-4237-BBA1-2A0F76CCC3AF}" presName="desTx" presStyleLbl="alignAccFollowNode1" presStyleIdx="1" presStyleCnt="3">
        <dgm:presLayoutVars>
          <dgm:bulletEnabled val="1"/>
        </dgm:presLayoutVars>
      </dgm:prSet>
      <dgm:spPr/>
    </dgm:pt>
    <dgm:pt modelId="{81AD433F-BE20-4B07-827E-D2D87AE224DD}" type="pres">
      <dgm:prSet presAssocID="{00B46698-CB55-41B7-8C62-7DEAC89B72F1}" presName="space" presStyleCnt="0"/>
      <dgm:spPr/>
    </dgm:pt>
    <dgm:pt modelId="{AA278D42-1A2C-43D0-8E95-725FE93DE9D5}" type="pres">
      <dgm:prSet presAssocID="{C79BA9C5-8EF6-4B58-BCA1-050253515108}" presName="composite" presStyleCnt="0"/>
      <dgm:spPr/>
    </dgm:pt>
    <dgm:pt modelId="{343F43F1-27C9-4ACA-9AA6-BED00EACF0E3}" type="pres">
      <dgm:prSet presAssocID="{C79BA9C5-8EF6-4B58-BCA1-050253515108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D3EA047B-3025-496C-8CEA-EA993508DAA7}" type="pres">
      <dgm:prSet presAssocID="{C79BA9C5-8EF6-4B58-BCA1-050253515108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EBE73725-B610-4182-9EFD-6A8FEC839532}" type="presOf" srcId="{D6815FE0-2B56-47BE-928E-C89E13D2573A}" destId="{9E4B9CA3-C9AA-4257-85ED-9B118E0B54A6}" srcOrd="0" destOrd="0" presId="urn:microsoft.com/office/officeart/2005/8/layout/hList1"/>
    <dgm:cxn modelId="{8416732C-6FE7-428B-B5AC-67ED5E9A2600}" type="presOf" srcId="{BED52ADD-553B-4B54-9A87-2505B40E16B9}" destId="{F667A468-633A-4395-84DD-0C959CFDF2C4}" srcOrd="0" destOrd="0" presId="urn:microsoft.com/office/officeart/2005/8/layout/hList1"/>
    <dgm:cxn modelId="{43C89736-7EAA-4FBE-B284-83EBB0A18D69}" type="presOf" srcId="{19D19966-722A-4C0A-8C6B-A9E2A8814957}" destId="{F667A468-633A-4395-84DD-0C959CFDF2C4}" srcOrd="0" destOrd="1" presId="urn:microsoft.com/office/officeart/2005/8/layout/hList1"/>
    <dgm:cxn modelId="{AAFDB438-7A76-4AE8-84EC-46527A977B73}" srcId="{98E7FCCC-EBC7-4237-BBA1-2A0F76CCC3AF}" destId="{BED52ADD-553B-4B54-9A87-2505B40E16B9}" srcOrd="0" destOrd="0" parTransId="{D478AF3A-A4EB-42A0-8D19-A674557EF40C}" sibTransId="{7D09D1FE-CB75-46CA-A373-C711A756BADF}"/>
    <dgm:cxn modelId="{02DD1639-CA7C-47B3-9463-9EDFEE8A2192}" type="presOf" srcId="{54379A65-8194-4D08-A20B-E8B8E3EB3D9D}" destId="{A17C36CA-36B0-4BEC-82E5-677834E2AB37}" srcOrd="0" destOrd="0" presId="urn:microsoft.com/office/officeart/2005/8/layout/hList1"/>
    <dgm:cxn modelId="{71109C5D-C4D0-4ECF-A4C6-98E1E016BFE1}" type="presOf" srcId="{C79BA9C5-8EF6-4B58-BCA1-050253515108}" destId="{343F43F1-27C9-4ACA-9AA6-BED00EACF0E3}" srcOrd="0" destOrd="0" presId="urn:microsoft.com/office/officeart/2005/8/layout/hList1"/>
    <dgm:cxn modelId="{7E50AC70-D53B-4E34-B4B3-DA34EA345746}" type="presOf" srcId="{98E7FCCC-EBC7-4237-BBA1-2A0F76CCC3AF}" destId="{A58476C1-430F-45DF-8BC9-4B59B6884B2E}" srcOrd="0" destOrd="0" presId="urn:microsoft.com/office/officeart/2005/8/layout/hList1"/>
    <dgm:cxn modelId="{C0030E8A-B1D1-40EC-8933-BE389259317C}" type="presOf" srcId="{87EEE5DC-1EED-4313-A5D5-75FD9B0AD5E8}" destId="{D3EA047B-3025-496C-8CEA-EA993508DAA7}" srcOrd="0" destOrd="1" presId="urn:microsoft.com/office/officeart/2005/8/layout/hList1"/>
    <dgm:cxn modelId="{2E50D693-E3A7-45EA-A405-D59FDC01F038}" srcId="{D6815FE0-2B56-47BE-928E-C89E13D2573A}" destId="{C79BA9C5-8EF6-4B58-BCA1-050253515108}" srcOrd="2" destOrd="0" parTransId="{7EC7085B-CFBB-4422-890B-D0CC4B040D6D}" sibTransId="{263D3FB0-B8FC-4B25-AD2A-77810B2CC85E}"/>
    <dgm:cxn modelId="{6B567EB0-F85C-4C83-B9D0-D3A359FC2A81}" srcId="{DD289425-1158-4663-A4D9-13BC7578F810}" destId="{54379A65-8194-4D08-A20B-E8B8E3EB3D9D}" srcOrd="0" destOrd="0" parTransId="{14D58431-2B79-4351-9AA7-C3DFB9F481CE}" sibTransId="{0E00C01F-40A8-4323-A2A7-8C06EB48A496}"/>
    <dgm:cxn modelId="{2EEA1FB8-7539-40D2-8BDD-D9DAA7321E69}" srcId="{C79BA9C5-8EF6-4B58-BCA1-050253515108}" destId="{87EEE5DC-1EED-4313-A5D5-75FD9B0AD5E8}" srcOrd="1" destOrd="0" parTransId="{3FDCBD18-99C1-4312-A90A-540D88871EC9}" sibTransId="{53249E29-831D-4E7F-A05E-5E24597D87C5}"/>
    <dgm:cxn modelId="{A08E7ED1-A6A5-41C4-9500-AA700DD0EB27}" type="presOf" srcId="{DD289425-1158-4663-A4D9-13BC7578F810}" destId="{2E9DC656-56EB-4358-8C92-EAD9C4AD92A5}" srcOrd="0" destOrd="0" presId="urn:microsoft.com/office/officeart/2005/8/layout/hList1"/>
    <dgm:cxn modelId="{84B730DA-1F1D-4683-A112-93BDBCF2D936}" type="presOf" srcId="{74D904A1-1DA3-4058-BD8A-712E01A3636A}" destId="{D3EA047B-3025-496C-8CEA-EA993508DAA7}" srcOrd="0" destOrd="0" presId="urn:microsoft.com/office/officeart/2005/8/layout/hList1"/>
    <dgm:cxn modelId="{122851DA-B085-46E2-B38E-DF5367001DB1}" srcId="{C79BA9C5-8EF6-4B58-BCA1-050253515108}" destId="{74D904A1-1DA3-4058-BD8A-712E01A3636A}" srcOrd="0" destOrd="0" parTransId="{700B4266-0C64-4396-A3D5-D858F04B1467}" sibTransId="{A8508307-0AEC-4653-93A8-D4019864D20D}"/>
    <dgm:cxn modelId="{010350E2-9035-4692-BB48-7630AB24D16F}" srcId="{D6815FE0-2B56-47BE-928E-C89E13D2573A}" destId="{98E7FCCC-EBC7-4237-BBA1-2A0F76CCC3AF}" srcOrd="1" destOrd="0" parTransId="{9868C9CE-5A5E-41D1-A93E-6385000B6C45}" sibTransId="{00B46698-CB55-41B7-8C62-7DEAC89B72F1}"/>
    <dgm:cxn modelId="{6B77F0ED-FC61-4B0C-800D-C4EFB2BD313F}" srcId="{98E7FCCC-EBC7-4237-BBA1-2A0F76CCC3AF}" destId="{19D19966-722A-4C0A-8C6B-A9E2A8814957}" srcOrd="1" destOrd="0" parTransId="{63D36D03-74B4-444D-A074-DFF725CF4E1A}" sibTransId="{F47E5A32-81DF-4FA1-BC9F-CBA0A0B91E0E}"/>
    <dgm:cxn modelId="{644CECF7-006A-456B-B653-A55288D50E26}" srcId="{D6815FE0-2B56-47BE-928E-C89E13D2573A}" destId="{DD289425-1158-4663-A4D9-13BC7578F810}" srcOrd="0" destOrd="0" parTransId="{B5F5B40F-5E65-4D7A-AFA6-7D7C356D936E}" sibTransId="{BDA1EA66-470F-4B21-BE48-F6AAB388B6DB}"/>
    <dgm:cxn modelId="{E2FB46E6-DF8E-4EA4-9E86-B1E745CBD836}" type="presParOf" srcId="{9E4B9CA3-C9AA-4257-85ED-9B118E0B54A6}" destId="{4A72733C-420D-4AAE-9545-1AE82D9C35B8}" srcOrd="0" destOrd="0" presId="urn:microsoft.com/office/officeart/2005/8/layout/hList1"/>
    <dgm:cxn modelId="{584F955B-4493-4C2B-9931-C64C463B1BD7}" type="presParOf" srcId="{4A72733C-420D-4AAE-9545-1AE82D9C35B8}" destId="{2E9DC656-56EB-4358-8C92-EAD9C4AD92A5}" srcOrd="0" destOrd="0" presId="urn:microsoft.com/office/officeart/2005/8/layout/hList1"/>
    <dgm:cxn modelId="{4658BD3C-608E-4A73-B05F-6BB88578EAF6}" type="presParOf" srcId="{4A72733C-420D-4AAE-9545-1AE82D9C35B8}" destId="{A17C36CA-36B0-4BEC-82E5-677834E2AB37}" srcOrd="1" destOrd="0" presId="urn:microsoft.com/office/officeart/2005/8/layout/hList1"/>
    <dgm:cxn modelId="{2E0B3EDA-B96D-4D40-B4B0-35C46385D5A0}" type="presParOf" srcId="{9E4B9CA3-C9AA-4257-85ED-9B118E0B54A6}" destId="{34B8FFAE-9B65-4B70-BE01-69B6EC0E8FD1}" srcOrd="1" destOrd="0" presId="urn:microsoft.com/office/officeart/2005/8/layout/hList1"/>
    <dgm:cxn modelId="{303EA2A0-F857-4D5C-9FFE-4C3572882DE4}" type="presParOf" srcId="{9E4B9CA3-C9AA-4257-85ED-9B118E0B54A6}" destId="{528805A9-557A-434F-896E-9D49979119DF}" srcOrd="2" destOrd="0" presId="urn:microsoft.com/office/officeart/2005/8/layout/hList1"/>
    <dgm:cxn modelId="{9FA5240D-BA2E-4171-8541-F087946F96D7}" type="presParOf" srcId="{528805A9-557A-434F-896E-9D49979119DF}" destId="{A58476C1-430F-45DF-8BC9-4B59B6884B2E}" srcOrd="0" destOrd="0" presId="urn:microsoft.com/office/officeart/2005/8/layout/hList1"/>
    <dgm:cxn modelId="{621A0BBA-7A70-4DEF-B817-7B5126CA9DF7}" type="presParOf" srcId="{528805A9-557A-434F-896E-9D49979119DF}" destId="{F667A468-633A-4395-84DD-0C959CFDF2C4}" srcOrd="1" destOrd="0" presId="urn:microsoft.com/office/officeart/2005/8/layout/hList1"/>
    <dgm:cxn modelId="{D54BFB37-043C-4C36-91FD-7068672A7AB9}" type="presParOf" srcId="{9E4B9CA3-C9AA-4257-85ED-9B118E0B54A6}" destId="{81AD433F-BE20-4B07-827E-D2D87AE224DD}" srcOrd="3" destOrd="0" presId="urn:microsoft.com/office/officeart/2005/8/layout/hList1"/>
    <dgm:cxn modelId="{1E8E499B-8288-407B-8B1F-B3693371337C}" type="presParOf" srcId="{9E4B9CA3-C9AA-4257-85ED-9B118E0B54A6}" destId="{AA278D42-1A2C-43D0-8E95-725FE93DE9D5}" srcOrd="4" destOrd="0" presId="urn:microsoft.com/office/officeart/2005/8/layout/hList1"/>
    <dgm:cxn modelId="{FEFC9ED0-7FD3-4E02-A8FE-B5DCE163F701}" type="presParOf" srcId="{AA278D42-1A2C-43D0-8E95-725FE93DE9D5}" destId="{343F43F1-27C9-4ACA-9AA6-BED00EACF0E3}" srcOrd="0" destOrd="0" presId="urn:microsoft.com/office/officeart/2005/8/layout/hList1"/>
    <dgm:cxn modelId="{17C67CA1-5116-4922-9F89-710739135984}" type="presParOf" srcId="{AA278D42-1A2C-43D0-8E95-725FE93DE9D5}" destId="{D3EA047B-3025-496C-8CEA-EA993508DAA7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9824A1B-A2B6-4FCB-B161-EC5291F90371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EA6643CA-069F-4333-8068-C4236BD3C7C6}">
      <dgm:prSet/>
      <dgm:spPr/>
      <dgm:t>
        <a:bodyPr/>
        <a:lstStyle/>
        <a:p>
          <a:pPr>
            <a:defRPr b="1"/>
          </a:pPr>
          <a:r>
            <a:rPr lang="en-US" b="1"/>
            <a:t>Data Ingestion Pipeline</a:t>
          </a:r>
          <a:endParaRPr lang="en-US"/>
        </a:p>
      </dgm:t>
    </dgm:pt>
    <dgm:pt modelId="{856D2924-252F-47B0-A424-AC31638942B4}" type="parTrans" cxnId="{46D21078-F77D-463F-9AA0-68320EEB1ADF}">
      <dgm:prSet/>
      <dgm:spPr/>
      <dgm:t>
        <a:bodyPr/>
        <a:lstStyle/>
        <a:p>
          <a:endParaRPr lang="en-US"/>
        </a:p>
      </dgm:t>
    </dgm:pt>
    <dgm:pt modelId="{BB2212DF-208A-46E8-BEB6-6AB0C5B24D39}" type="sibTrans" cxnId="{46D21078-F77D-463F-9AA0-68320EEB1ADF}">
      <dgm:prSet/>
      <dgm:spPr/>
      <dgm:t>
        <a:bodyPr/>
        <a:lstStyle/>
        <a:p>
          <a:endParaRPr lang="en-US"/>
        </a:p>
      </dgm:t>
    </dgm:pt>
    <dgm:pt modelId="{77F38064-76F0-486B-BB86-66AC1D4637AA}">
      <dgm:prSet/>
      <dgm:spPr/>
      <dgm:t>
        <a:bodyPr/>
        <a:lstStyle/>
        <a:p>
          <a:r>
            <a:rPr lang="en-US" dirty="0"/>
            <a:t>I have successfully ingested the full </a:t>
          </a:r>
          <a:r>
            <a:rPr lang="en-US" dirty="0" err="1"/>
            <a:t>CrisisMMD</a:t>
          </a:r>
          <a:r>
            <a:rPr lang="en-US" dirty="0"/>
            <a:t> dataset (</a:t>
          </a:r>
          <a:r>
            <a:rPr lang="en-US" dirty="0" err="1"/>
            <a:t>approx</a:t>
          </a:r>
          <a:r>
            <a:rPr lang="en-US" dirty="0"/>
            <a:t> 18,000 images).</a:t>
          </a:r>
        </a:p>
      </dgm:t>
    </dgm:pt>
    <dgm:pt modelId="{88A7F76C-43C0-4D60-AD36-0CF42C6609CE}" type="parTrans" cxnId="{9BA75D74-57E7-46B2-89A6-B6C8025F5F2B}">
      <dgm:prSet/>
      <dgm:spPr/>
      <dgm:t>
        <a:bodyPr/>
        <a:lstStyle/>
        <a:p>
          <a:endParaRPr lang="en-US"/>
        </a:p>
      </dgm:t>
    </dgm:pt>
    <dgm:pt modelId="{92493FA8-D8C3-46B9-A02B-4A5FA7BFC291}" type="sibTrans" cxnId="{9BA75D74-57E7-46B2-89A6-B6C8025F5F2B}">
      <dgm:prSet/>
      <dgm:spPr/>
      <dgm:t>
        <a:bodyPr/>
        <a:lstStyle/>
        <a:p>
          <a:endParaRPr lang="en-US"/>
        </a:p>
      </dgm:t>
    </dgm:pt>
    <dgm:pt modelId="{F2898FD8-39AE-4F0D-B8A2-92E39E9CB88B}">
      <dgm:prSet/>
      <dgm:spPr/>
      <dgm:t>
        <a:bodyPr/>
        <a:lstStyle/>
        <a:p>
          <a:r>
            <a:rPr lang="en-US" dirty="0"/>
            <a:t>I made a custom cleaning script to handle data corruption making sure only valid images are passed to the model.</a:t>
          </a:r>
        </a:p>
      </dgm:t>
    </dgm:pt>
    <dgm:pt modelId="{A60F32AB-DDC2-4370-BF50-1DCC03DBB996}" type="parTrans" cxnId="{B4459AB0-B30F-45D7-A315-1EE86197978B}">
      <dgm:prSet/>
      <dgm:spPr/>
      <dgm:t>
        <a:bodyPr/>
        <a:lstStyle/>
        <a:p>
          <a:endParaRPr lang="en-US"/>
        </a:p>
      </dgm:t>
    </dgm:pt>
    <dgm:pt modelId="{C45EFEA0-9EEB-445C-BFA7-0415DD1A1A26}" type="sibTrans" cxnId="{B4459AB0-B30F-45D7-A315-1EE86197978B}">
      <dgm:prSet/>
      <dgm:spPr/>
      <dgm:t>
        <a:bodyPr/>
        <a:lstStyle/>
        <a:p>
          <a:endParaRPr lang="en-US"/>
        </a:p>
      </dgm:t>
    </dgm:pt>
    <dgm:pt modelId="{5B840BCB-76D0-4161-A8C9-3B3EDE74B4FE}">
      <dgm:prSet/>
      <dgm:spPr/>
      <dgm:t>
        <a:bodyPr/>
        <a:lstStyle/>
        <a:p>
          <a:pPr>
            <a:defRPr b="1"/>
          </a:pPr>
          <a:r>
            <a:rPr lang="en-US" b="1"/>
            <a:t>Validation Prototype (V4)</a:t>
          </a:r>
          <a:endParaRPr lang="en-US"/>
        </a:p>
      </dgm:t>
    </dgm:pt>
    <dgm:pt modelId="{9A5ED212-5E79-41CD-8C24-BC23FF24C823}" type="parTrans" cxnId="{7564E579-40C6-4DE1-89E1-4596ED6640AA}">
      <dgm:prSet/>
      <dgm:spPr/>
      <dgm:t>
        <a:bodyPr/>
        <a:lstStyle/>
        <a:p>
          <a:endParaRPr lang="en-US"/>
        </a:p>
      </dgm:t>
    </dgm:pt>
    <dgm:pt modelId="{E573CAF5-F975-4815-B349-77A88CB696CF}" type="sibTrans" cxnId="{7564E579-40C6-4DE1-89E1-4596ED6640AA}">
      <dgm:prSet/>
      <dgm:spPr/>
      <dgm:t>
        <a:bodyPr/>
        <a:lstStyle/>
        <a:p>
          <a:endParaRPr lang="en-US"/>
        </a:p>
      </dgm:t>
    </dgm:pt>
    <dgm:pt modelId="{962CFCF5-399C-48D5-923A-452500BB0CCD}">
      <dgm:prSet/>
      <dgm:spPr/>
      <dgm:t>
        <a:bodyPr/>
        <a:lstStyle/>
        <a:p>
          <a:r>
            <a:rPr lang="en-US" dirty="0"/>
            <a:t>I built a grid-based explorer in Dash to visually verify the quality of the metadata.</a:t>
          </a:r>
        </a:p>
      </dgm:t>
    </dgm:pt>
    <dgm:pt modelId="{D71FE02A-6F32-48FB-8667-975392B63F99}" type="parTrans" cxnId="{E196D998-80A3-4373-9D47-F415C561B26C}">
      <dgm:prSet/>
      <dgm:spPr/>
      <dgm:t>
        <a:bodyPr/>
        <a:lstStyle/>
        <a:p>
          <a:endParaRPr lang="en-US"/>
        </a:p>
      </dgm:t>
    </dgm:pt>
    <dgm:pt modelId="{3CA2E85A-DD30-40A1-B8B6-61921F172E54}" type="sibTrans" cxnId="{E196D998-80A3-4373-9D47-F415C561B26C}">
      <dgm:prSet/>
      <dgm:spPr/>
      <dgm:t>
        <a:bodyPr/>
        <a:lstStyle/>
        <a:p>
          <a:endParaRPr lang="en-US"/>
        </a:p>
      </dgm:t>
    </dgm:pt>
    <dgm:pt modelId="{73E2D51E-626D-447D-95C0-5872094FEA14}">
      <dgm:prSet/>
      <dgm:spPr/>
      <dgm:t>
        <a:bodyPr/>
        <a:lstStyle/>
        <a:p>
          <a:r>
            <a:rPr lang="en-US"/>
            <a:t>This step confirmed that the image resolution (min 200x200px) is sufficient for the CLIP vectorisation process.</a:t>
          </a:r>
        </a:p>
      </dgm:t>
    </dgm:pt>
    <dgm:pt modelId="{4BAC54F9-DA80-466D-AD05-7E08339810DC}" type="parTrans" cxnId="{05887811-0E36-4C61-987D-99A3867FB3AA}">
      <dgm:prSet/>
      <dgm:spPr/>
      <dgm:t>
        <a:bodyPr/>
        <a:lstStyle/>
        <a:p>
          <a:endParaRPr lang="en-US"/>
        </a:p>
      </dgm:t>
    </dgm:pt>
    <dgm:pt modelId="{E1CEB802-E4EA-4D61-B3D6-A981DE45080F}" type="sibTrans" cxnId="{05887811-0E36-4C61-987D-99A3867FB3AA}">
      <dgm:prSet/>
      <dgm:spPr/>
      <dgm:t>
        <a:bodyPr/>
        <a:lstStyle/>
        <a:p>
          <a:endParaRPr lang="en-US"/>
        </a:p>
      </dgm:t>
    </dgm:pt>
    <dgm:pt modelId="{F6DE9F5E-974D-42AB-97A0-23EC02D4349B}">
      <dgm:prSet/>
      <dgm:spPr/>
      <dgm:t>
        <a:bodyPr/>
        <a:lstStyle/>
        <a:p>
          <a:pPr>
            <a:defRPr b="1"/>
          </a:pPr>
          <a:r>
            <a:rPr lang="en-US" b="1"/>
            <a:t>Environment Setup</a:t>
          </a:r>
          <a:endParaRPr lang="en-US"/>
        </a:p>
      </dgm:t>
    </dgm:pt>
    <dgm:pt modelId="{00066EC8-395C-491A-9CD1-478AC6AA05AA}" type="parTrans" cxnId="{60A616DF-1378-4912-AB6B-7A5CA15FFCA0}">
      <dgm:prSet/>
      <dgm:spPr/>
      <dgm:t>
        <a:bodyPr/>
        <a:lstStyle/>
        <a:p>
          <a:endParaRPr lang="en-US"/>
        </a:p>
      </dgm:t>
    </dgm:pt>
    <dgm:pt modelId="{B2480841-7F8A-4964-A3DA-97519B0EE1C6}" type="sibTrans" cxnId="{60A616DF-1378-4912-AB6B-7A5CA15FFCA0}">
      <dgm:prSet/>
      <dgm:spPr/>
      <dgm:t>
        <a:bodyPr/>
        <a:lstStyle/>
        <a:p>
          <a:endParaRPr lang="en-US"/>
        </a:p>
      </dgm:t>
    </dgm:pt>
    <dgm:pt modelId="{470EFAD6-57B9-4B27-A441-7BD54D6A8A71}">
      <dgm:prSet/>
      <dgm:spPr/>
      <dgm:t>
        <a:bodyPr/>
        <a:lstStyle/>
        <a:p>
          <a:r>
            <a:rPr lang="en-US" dirty="0"/>
            <a:t>My local development environment is fully configured with </a:t>
          </a:r>
          <a:r>
            <a:rPr lang="en-US" dirty="0" err="1"/>
            <a:t>PyTorch</a:t>
          </a:r>
          <a:r>
            <a:rPr lang="en-US" dirty="0"/>
            <a:t> and CUDA acceleration to use GPU.</a:t>
          </a:r>
        </a:p>
      </dgm:t>
    </dgm:pt>
    <dgm:pt modelId="{21FF40FF-03C0-4B06-8961-FCFAA872E13A}" type="parTrans" cxnId="{51D88A1F-1B74-407A-950E-7EA0A2C05107}">
      <dgm:prSet/>
      <dgm:spPr/>
      <dgm:t>
        <a:bodyPr/>
        <a:lstStyle/>
        <a:p>
          <a:endParaRPr lang="en-US"/>
        </a:p>
      </dgm:t>
    </dgm:pt>
    <dgm:pt modelId="{0ED532D4-2DE1-44E1-AA42-072E94D608CB}" type="sibTrans" cxnId="{51D88A1F-1B74-407A-950E-7EA0A2C05107}">
      <dgm:prSet/>
      <dgm:spPr/>
      <dgm:t>
        <a:bodyPr/>
        <a:lstStyle/>
        <a:p>
          <a:endParaRPr lang="en-US"/>
        </a:p>
      </dgm:t>
    </dgm:pt>
    <dgm:pt modelId="{4E9906B9-3FB1-42D6-8648-1B224D3DDD2D}">
      <dgm:prSet/>
      <dgm:spPr/>
      <dgm:t>
        <a:bodyPr/>
        <a:lstStyle/>
        <a:p>
          <a:r>
            <a:rPr lang="en-US" dirty="0"/>
            <a:t>The core </a:t>
          </a:r>
          <a:r>
            <a:rPr lang="en-US" dirty="0" err="1"/>
            <a:t>vectorisation</a:t>
          </a:r>
          <a:r>
            <a:rPr lang="en-US" dirty="0"/>
            <a:t> pipeline is currently running which is the start of Phase 3.</a:t>
          </a:r>
        </a:p>
      </dgm:t>
    </dgm:pt>
    <dgm:pt modelId="{11304024-6486-4532-97C7-A2D79C8EFA0B}" type="parTrans" cxnId="{6EEFA95F-5958-4ADE-B509-5AADC5744A87}">
      <dgm:prSet/>
      <dgm:spPr/>
      <dgm:t>
        <a:bodyPr/>
        <a:lstStyle/>
        <a:p>
          <a:endParaRPr lang="en-US"/>
        </a:p>
      </dgm:t>
    </dgm:pt>
    <dgm:pt modelId="{C861F7B4-9153-43D5-AECD-D6EAAD71B1ED}" type="sibTrans" cxnId="{6EEFA95F-5958-4ADE-B509-5AADC5744A87}">
      <dgm:prSet/>
      <dgm:spPr/>
      <dgm:t>
        <a:bodyPr/>
        <a:lstStyle/>
        <a:p>
          <a:endParaRPr lang="en-US"/>
        </a:p>
      </dgm:t>
    </dgm:pt>
    <dgm:pt modelId="{EF264CF9-7600-4A88-A045-E851B783AA75}" type="pres">
      <dgm:prSet presAssocID="{C9824A1B-A2B6-4FCB-B161-EC5291F90371}" presName="root" presStyleCnt="0">
        <dgm:presLayoutVars>
          <dgm:dir/>
          <dgm:resizeHandles val="exact"/>
        </dgm:presLayoutVars>
      </dgm:prSet>
      <dgm:spPr/>
    </dgm:pt>
    <dgm:pt modelId="{F618617E-6251-46CA-A2B3-0F63D92D7513}" type="pres">
      <dgm:prSet presAssocID="{EA6643CA-069F-4333-8068-C4236BD3C7C6}" presName="compNode" presStyleCnt="0"/>
      <dgm:spPr/>
    </dgm:pt>
    <dgm:pt modelId="{031DBDAA-FDE0-49A3-8C47-CBF882A2F402}" type="pres">
      <dgm:prSet presAssocID="{EA6643CA-069F-4333-8068-C4236BD3C7C6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67704492-6C3A-4F73-BA23-FCA2310BEC7D}" type="pres">
      <dgm:prSet presAssocID="{EA6643CA-069F-4333-8068-C4236BD3C7C6}" presName="iconSpace" presStyleCnt="0"/>
      <dgm:spPr/>
    </dgm:pt>
    <dgm:pt modelId="{D94E9FF5-0285-47D5-8392-7F2EBD51C2C5}" type="pres">
      <dgm:prSet presAssocID="{EA6643CA-069F-4333-8068-C4236BD3C7C6}" presName="parTx" presStyleLbl="revTx" presStyleIdx="0" presStyleCnt="6">
        <dgm:presLayoutVars>
          <dgm:chMax val="0"/>
          <dgm:chPref val="0"/>
        </dgm:presLayoutVars>
      </dgm:prSet>
      <dgm:spPr/>
    </dgm:pt>
    <dgm:pt modelId="{4FFEB770-B80E-4D53-939F-BA883D45B85D}" type="pres">
      <dgm:prSet presAssocID="{EA6643CA-069F-4333-8068-C4236BD3C7C6}" presName="txSpace" presStyleCnt="0"/>
      <dgm:spPr/>
    </dgm:pt>
    <dgm:pt modelId="{D5AEC95B-FB99-46A8-B755-D833BAD091E9}" type="pres">
      <dgm:prSet presAssocID="{EA6643CA-069F-4333-8068-C4236BD3C7C6}" presName="desTx" presStyleLbl="revTx" presStyleIdx="1" presStyleCnt="6">
        <dgm:presLayoutVars/>
      </dgm:prSet>
      <dgm:spPr/>
    </dgm:pt>
    <dgm:pt modelId="{FCBB31FB-F491-405D-AF7E-F65B70450CD8}" type="pres">
      <dgm:prSet presAssocID="{BB2212DF-208A-46E8-BEB6-6AB0C5B24D39}" presName="sibTrans" presStyleCnt="0"/>
      <dgm:spPr/>
    </dgm:pt>
    <dgm:pt modelId="{3F274582-7030-4D63-BCD6-89A80B84EA6D}" type="pres">
      <dgm:prSet presAssocID="{5B840BCB-76D0-4161-A8C9-3B3EDE74B4FE}" presName="compNode" presStyleCnt="0"/>
      <dgm:spPr/>
    </dgm:pt>
    <dgm:pt modelId="{CFB0A4DA-7235-4F11-8C5B-C56202322736}" type="pres">
      <dgm:prSet presAssocID="{5B840BCB-76D0-4161-A8C9-3B3EDE74B4FE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1DBE59AA-12D9-4D6B-80CE-8C6134A83F37}" type="pres">
      <dgm:prSet presAssocID="{5B840BCB-76D0-4161-A8C9-3B3EDE74B4FE}" presName="iconSpace" presStyleCnt="0"/>
      <dgm:spPr/>
    </dgm:pt>
    <dgm:pt modelId="{71F5C936-1F7D-4A28-A029-3CD17F3F71DE}" type="pres">
      <dgm:prSet presAssocID="{5B840BCB-76D0-4161-A8C9-3B3EDE74B4FE}" presName="parTx" presStyleLbl="revTx" presStyleIdx="2" presStyleCnt="6">
        <dgm:presLayoutVars>
          <dgm:chMax val="0"/>
          <dgm:chPref val="0"/>
        </dgm:presLayoutVars>
      </dgm:prSet>
      <dgm:spPr/>
    </dgm:pt>
    <dgm:pt modelId="{79936DCF-23EF-4F31-9FB7-5748706013D3}" type="pres">
      <dgm:prSet presAssocID="{5B840BCB-76D0-4161-A8C9-3B3EDE74B4FE}" presName="txSpace" presStyleCnt="0"/>
      <dgm:spPr/>
    </dgm:pt>
    <dgm:pt modelId="{36B18EBE-BE54-4584-BE8F-D6D6F015FEE9}" type="pres">
      <dgm:prSet presAssocID="{5B840BCB-76D0-4161-A8C9-3B3EDE74B4FE}" presName="desTx" presStyleLbl="revTx" presStyleIdx="3" presStyleCnt="6">
        <dgm:presLayoutVars/>
      </dgm:prSet>
      <dgm:spPr/>
    </dgm:pt>
    <dgm:pt modelId="{E47B5BD9-E762-452C-A331-4C0F3DE0333B}" type="pres">
      <dgm:prSet presAssocID="{E573CAF5-F975-4815-B349-77A88CB696CF}" presName="sibTrans" presStyleCnt="0"/>
      <dgm:spPr/>
    </dgm:pt>
    <dgm:pt modelId="{E39BD671-C7D3-4AAC-AADF-F4E22BA12703}" type="pres">
      <dgm:prSet presAssocID="{F6DE9F5E-974D-42AB-97A0-23EC02D4349B}" presName="compNode" presStyleCnt="0"/>
      <dgm:spPr/>
    </dgm:pt>
    <dgm:pt modelId="{67B171C7-0DFF-4B24-BA3A-2BDFE4FE489A}" type="pres">
      <dgm:prSet presAssocID="{F6DE9F5E-974D-42AB-97A0-23EC02D4349B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ick"/>
        </a:ext>
      </dgm:extLst>
    </dgm:pt>
    <dgm:pt modelId="{695D9D90-350C-4DC8-83A1-E4AB548BD6FF}" type="pres">
      <dgm:prSet presAssocID="{F6DE9F5E-974D-42AB-97A0-23EC02D4349B}" presName="iconSpace" presStyleCnt="0"/>
      <dgm:spPr/>
    </dgm:pt>
    <dgm:pt modelId="{9D0EAA71-1713-4EB4-94C3-3E4CB60A230F}" type="pres">
      <dgm:prSet presAssocID="{F6DE9F5E-974D-42AB-97A0-23EC02D4349B}" presName="parTx" presStyleLbl="revTx" presStyleIdx="4" presStyleCnt="6">
        <dgm:presLayoutVars>
          <dgm:chMax val="0"/>
          <dgm:chPref val="0"/>
        </dgm:presLayoutVars>
      </dgm:prSet>
      <dgm:spPr/>
    </dgm:pt>
    <dgm:pt modelId="{34D048B7-557C-441F-BC10-8EF0D184DC48}" type="pres">
      <dgm:prSet presAssocID="{F6DE9F5E-974D-42AB-97A0-23EC02D4349B}" presName="txSpace" presStyleCnt="0"/>
      <dgm:spPr/>
    </dgm:pt>
    <dgm:pt modelId="{70D0F180-5264-4781-BE31-3D926EE65271}" type="pres">
      <dgm:prSet presAssocID="{F6DE9F5E-974D-42AB-97A0-23EC02D4349B}" presName="desTx" presStyleLbl="revTx" presStyleIdx="5" presStyleCnt="6">
        <dgm:presLayoutVars/>
      </dgm:prSet>
      <dgm:spPr/>
    </dgm:pt>
  </dgm:ptLst>
  <dgm:cxnLst>
    <dgm:cxn modelId="{05887811-0E36-4C61-987D-99A3867FB3AA}" srcId="{5B840BCB-76D0-4161-A8C9-3B3EDE74B4FE}" destId="{73E2D51E-626D-447D-95C0-5872094FEA14}" srcOrd="1" destOrd="0" parTransId="{4BAC54F9-DA80-466D-AD05-7E08339810DC}" sibTransId="{E1CEB802-E4EA-4D61-B3D6-A981DE45080F}"/>
    <dgm:cxn modelId="{BA44C919-564F-49C1-A7C2-BD75F9D9B8FD}" type="presOf" srcId="{77F38064-76F0-486B-BB86-66AC1D4637AA}" destId="{D5AEC95B-FB99-46A8-B755-D833BAD091E9}" srcOrd="0" destOrd="0" presId="urn:microsoft.com/office/officeart/2018/2/layout/IconLabelDescriptionList"/>
    <dgm:cxn modelId="{51D88A1F-1B74-407A-950E-7EA0A2C05107}" srcId="{F6DE9F5E-974D-42AB-97A0-23EC02D4349B}" destId="{470EFAD6-57B9-4B27-A441-7BD54D6A8A71}" srcOrd="0" destOrd="0" parTransId="{21FF40FF-03C0-4B06-8961-FCFAA872E13A}" sibTransId="{0ED532D4-2DE1-44E1-AA42-072E94D608CB}"/>
    <dgm:cxn modelId="{D0F50C5E-087A-487E-9A40-46D4C948C64D}" type="presOf" srcId="{470EFAD6-57B9-4B27-A441-7BD54D6A8A71}" destId="{70D0F180-5264-4781-BE31-3D926EE65271}" srcOrd="0" destOrd="0" presId="urn:microsoft.com/office/officeart/2018/2/layout/IconLabelDescriptionList"/>
    <dgm:cxn modelId="{6EEFA95F-5958-4ADE-B509-5AADC5744A87}" srcId="{F6DE9F5E-974D-42AB-97A0-23EC02D4349B}" destId="{4E9906B9-3FB1-42D6-8648-1B224D3DDD2D}" srcOrd="1" destOrd="0" parTransId="{11304024-6486-4532-97C7-A2D79C8EFA0B}" sibTransId="{C861F7B4-9153-43D5-AECD-D6EAAD71B1ED}"/>
    <dgm:cxn modelId="{F2C07648-619E-4091-9D44-B8CD34766A74}" type="presOf" srcId="{5B840BCB-76D0-4161-A8C9-3B3EDE74B4FE}" destId="{71F5C936-1F7D-4A28-A029-3CD17F3F71DE}" srcOrd="0" destOrd="0" presId="urn:microsoft.com/office/officeart/2018/2/layout/IconLabelDescriptionList"/>
    <dgm:cxn modelId="{4076BD6A-0020-428F-82FC-6592D9CB3764}" type="presOf" srcId="{EA6643CA-069F-4333-8068-C4236BD3C7C6}" destId="{D94E9FF5-0285-47D5-8392-7F2EBD51C2C5}" srcOrd="0" destOrd="0" presId="urn:microsoft.com/office/officeart/2018/2/layout/IconLabelDescriptionList"/>
    <dgm:cxn modelId="{A8F2856F-C2EB-4618-B018-99A8C8C79A10}" type="presOf" srcId="{4E9906B9-3FB1-42D6-8648-1B224D3DDD2D}" destId="{70D0F180-5264-4781-BE31-3D926EE65271}" srcOrd="0" destOrd="1" presId="urn:microsoft.com/office/officeart/2018/2/layout/IconLabelDescriptionList"/>
    <dgm:cxn modelId="{C3B95052-481C-40CA-B614-8BE9BC48211A}" type="presOf" srcId="{C9824A1B-A2B6-4FCB-B161-EC5291F90371}" destId="{EF264CF9-7600-4A88-A045-E851B783AA75}" srcOrd="0" destOrd="0" presId="urn:microsoft.com/office/officeart/2018/2/layout/IconLabelDescriptionList"/>
    <dgm:cxn modelId="{75D52B54-F27B-4DA8-B0DF-AF8B0BF5EBBD}" type="presOf" srcId="{962CFCF5-399C-48D5-923A-452500BB0CCD}" destId="{36B18EBE-BE54-4584-BE8F-D6D6F015FEE9}" srcOrd="0" destOrd="0" presId="urn:microsoft.com/office/officeart/2018/2/layout/IconLabelDescriptionList"/>
    <dgm:cxn modelId="{9BA75D74-57E7-46B2-89A6-B6C8025F5F2B}" srcId="{EA6643CA-069F-4333-8068-C4236BD3C7C6}" destId="{77F38064-76F0-486B-BB86-66AC1D4637AA}" srcOrd="0" destOrd="0" parTransId="{88A7F76C-43C0-4D60-AD36-0CF42C6609CE}" sibTransId="{92493FA8-D8C3-46B9-A02B-4A5FA7BFC291}"/>
    <dgm:cxn modelId="{46D21078-F77D-463F-9AA0-68320EEB1ADF}" srcId="{C9824A1B-A2B6-4FCB-B161-EC5291F90371}" destId="{EA6643CA-069F-4333-8068-C4236BD3C7C6}" srcOrd="0" destOrd="0" parTransId="{856D2924-252F-47B0-A424-AC31638942B4}" sibTransId="{BB2212DF-208A-46E8-BEB6-6AB0C5B24D39}"/>
    <dgm:cxn modelId="{7564E579-40C6-4DE1-89E1-4596ED6640AA}" srcId="{C9824A1B-A2B6-4FCB-B161-EC5291F90371}" destId="{5B840BCB-76D0-4161-A8C9-3B3EDE74B4FE}" srcOrd="1" destOrd="0" parTransId="{9A5ED212-5E79-41CD-8C24-BC23FF24C823}" sibTransId="{E573CAF5-F975-4815-B349-77A88CB696CF}"/>
    <dgm:cxn modelId="{BF6F237B-1BA4-4F31-9476-9CEEA5EBAFCF}" type="presOf" srcId="{F2898FD8-39AE-4F0D-B8A2-92E39E9CB88B}" destId="{D5AEC95B-FB99-46A8-B755-D833BAD091E9}" srcOrd="0" destOrd="1" presId="urn:microsoft.com/office/officeart/2018/2/layout/IconLabelDescriptionList"/>
    <dgm:cxn modelId="{E196D998-80A3-4373-9D47-F415C561B26C}" srcId="{5B840BCB-76D0-4161-A8C9-3B3EDE74B4FE}" destId="{962CFCF5-399C-48D5-923A-452500BB0CCD}" srcOrd="0" destOrd="0" parTransId="{D71FE02A-6F32-48FB-8667-975392B63F99}" sibTransId="{3CA2E85A-DD30-40A1-B8B6-61921F172E54}"/>
    <dgm:cxn modelId="{B4459AB0-B30F-45D7-A315-1EE86197978B}" srcId="{EA6643CA-069F-4333-8068-C4236BD3C7C6}" destId="{F2898FD8-39AE-4F0D-B8A2-92E39E9CB88B}" srcOrd="1" destOrd="0" parTransId="{A60F32AB-DDC2-4370-BF50-1DCC03DBB996}" sibTransId="{C45EFEA0-9EEB-445C-BFA7-0415DD1A1A26}"/>
    <dgm:cxn modelId="{273021D9-5441-48D8-8B38-D3202279A50F}" type="presOf" srcId="{F6DE9F5E-974D-42AB-97A0-23EC02D4349B}" destId="{9D0EAA71-1713-4EB4-94C3-3E4CB60A230F}" srcOrd="0" destOrd="0" presId="urn:microsoft.com/office/officeart/2018/2/layout/IconLabelDescriptionList"/>
    <dgm:cxn modelId="{60A616DF-1378-4912-AB6B-7A5CA15FFCA0}" srcId="{C9824A1B-A2B6-4FCB-B161-EC5291F90371}" destId="{F6DE9F5E-974D-42AB-97A0-23EC02D4349B}" srcOrd="2" destOrd="0" parTransId="{00066EC8-395C-491A-9CD1-478AC6AA05AA}" sibTransId="{B2480841-7F8A-4964-A3DA-97519B0EE1C6}"/>
    <dgm:cxn modelId="{9D8382F2-9FA4-46DF-877B-A95A7B613BC5}" type="presOf" srcId="{73E2D51E-626D-447D-95C0-5872094FEA14}" destId="{36B18EBE-BE54-4584-BE8F-D6D6F015FEE9}" srcOrd="0" destOrd="1" presId="urn:microsoft.com/office/officeart/2018/2/layout/IconLabelDescriptionList"/>
    <dgm:cxn modelId="{C620586D-A4C5-40DC-978E-66213418AB54}" type="presParOf" srcId="{EF264CF9-7600-4A88-A045-E851B783AA75}" destId="{F618617E-6251-46CA-A2B3-0F63D92D7513}" srcOrd="0" destOrd="0" presId="urn:microsoft.com/office/officeart/2018/2/layout/IconLabelDescriptionList"/>
    <dgm:cxn modelId="{4D0B4AF0-059B-4D32-9B3B-3859EF66D291}" type="presParOf" srcId="{F618617E-6251-46CA-A2B3-0F63D92D7513}" destId="{031DBDAA-FDE0-49A3-8C47-CBF882A2F402}" srcOrd="0" destOrd="0" presId="urn:microsoft.com/office/officeart/2018/2/layout/IconLabelDescriptionList"/>
    <dgm:cxn modelId="{D3365DAB-1C0D-4BC2-A5EF-807CC453F4ED}" type="presParOf" srcId="{F618617E-6251-46CA-A2B3-0F63D92D7513}" destId="{67704492-6C3A-4F73-BA23-FCA2310BEC7D}" srcOrd="1" destOrd="0" presId="urn:microsoft.com/office/officeart/2018/2/layout/IconLabelDescriptionList"/>
    <dgm:cxn modelId="{BB1A1C09-62E4-4E22-91BB-9E223DEC96F9}" type="presParOf" srcId="{F618617E-6251-46CA-A2B3-0F63D92D7513}" destId="{D94E9FF5-0285-47D5-8392-7F2EBD51C2C5}" srcOrd="2" destOrd="0" presId="urn:microsoft.com/office/officeart/2018/2/layout/IconLabelDescriptionList"/>
    <dgm:cxn modelId="{FAE6217A-5DD2-4C5F-9060-948D92F55CCD}" type="presParOf" srcId="{F618617E-6251-46CA-A2B3-0F63D92D7513}" destId="{4FFEB770-B80E-4D53-939F-BA883D45B85D}" srcOrd="3" destOrd="0" presId="urn:microsoft.com/office/officeart/2018/2/layout/IconLabelDescriptionList"/>
    <dgm:cxn modelId="{ACB79CF6-A92A-4DF4-954E-CFC816C16351}" type="presParOf" srcId="{F618617E-6251-46CA-A2B3-0F63D92D7513}" destId="{D5AEC95B-FB99-46A8-B755-D833BAD091E9}" srcOrd="4" destOrd="0" presId="urn:microsoft.com/office/officeart/2018/2/layout/IconLabelDescriptionList"/>
    <dgm:cxn modelId="{16B80656-8192-4881-BFE5-58FF08FFEC14}" type="presParOf" srcId="{EF264CF9-7600-4A88-A045-E851B783AA75}" destId="{FCBB31FB-F491-405D-AF7E-F65B70450CD8}" srcOrd="1" destOrd="0" presId="urn:microsoft.com/office/officeart/2018/2/layout/IconLabelDescriptionList"/>
    <dgm:cxn modelId="{B459232F-2754-4E3E-A1D2-056A023A0360}" type="presParOf" srcId="{EF264CF9-7600-4A88-A045-E851B783AA75}" destId="{3F274582-7030-4D63-BCD6-89A80B84EA6D}" srcOrd="2" destOrd="0" presId="urn:microsoft.com/office/officeart/2018/2/layout/IconLabelDescriptionList"/>
    <dgm:cxn modelId="{B2FCDF73-A055-40A8-B158-8913DA7040F3}" type="presParOf" srcId="{3F274582-7030-4D63-BCD6-89A80B84EA6D}" destId="{CFB0A4DA-7235-4F11-8C5B-C56202322736}" srcOrd="0" destOrd="0" presId="urn:microsoft.com/office/officeart/2018/2/layout/IconLabelDescriptionList"/>
    <dgm:cxn modelId="{9264E1FE-3DC1-40D3-89B2-D6EA6A73C1D2}" type="presParOf" srcId="{3F274582-7030-4D63-BCD6-89A80B84EA6D}" destId="{1DBE59AA-12D9-4D6B-80CE-8C6134A83F37}" srcOrd="1" destOrd="0" presId="urn:microsoft.com/office/officeart/2018/2/layout/IconLabelDescriptionList"/>
    <dgm:cxn modelId="{68619707-352B-42E9-81E1-0E21EDFF8236}" type="presParOf" srcId="{3F274582-7030-4D63-BCD6-89A80B84EA6D}" destId="{71F5C936-1F7D-4A28-A029-3CD17F3F71DE}" srcOrd="2" destOrd="0" presId="urn:microsoft.com/office/officeart/2018/2/layout/IconLabelDescriptionList"/>
    <dgm:cxn modelId="{E1498413-4B47-4308-92B9-B45245EB2541}" type="presParOf" srcId="{3F274582-7030-4D63-BCD6-89A80B84EA6D}" destId="{79936DCF-23EF-4F31-9FB7-5748706013D3}" srcOrd="3" destOrd="0" presId="urn:microsoft.com/office/officeart/2018/2/layout/IconLabelDescriptionList"/>
    <dgm:cxn modelId="{4607FCBA-BCD3-4EB4-A1A4-8DE534442DB6}" type="presParOf" srcId="{3F274582-7030-4D63-BCD6-89A80B84EA6D}" destId="{36B18EBE-BE54-4584-BE8F-D6D6F015FEE9}" srcOrd="4" destOrd="0" presId="urn:microsoft.com/office/officeart/2018/2/layout/IconLabelDescriptionList"/>
    <dgm:cxn modelId="{03BFFA76-F8DE-4A72-B3EA-680D33297069}" type="presParOf" srcId="{EF264CF9-7600-4A88-A045-E851B783AA75}" destId="{E47B5BD9-E762-452C-A331-4C0F3DE0333B}" srcOrd="3" destOrd="0" presId="urn:microsoft.com/office/officeart/2018/2/layout/IconLabelDescriptionList"/>
    <dgm:cxn modelId="{467855F5-B42E-4351-AD14-4DF7CEE67670}" type="presParOf" srcId="{EF264CF9-7600-4A88-A045-E851B783AA75}" destId="{E39BD671-C7D3-4AAC-AADF-F4E22BA12703}" srcOrd="4" destOrd="0" presId="urn:microsoft.com/office/officeart/2018/2/layout/IconLabelDescriptionList"/>
    <dgm:cxn modelId="{D69CB9A9-2CED-4A62-8657-2B310CAC98C0}" type="presParOf" srcId="{E39BD671-C7D3-4AAC-AADF-F4E22BA12703}" destId="{67B171C7-0DFF-4B24-BA3A-2BDFE4FE489A}" srcOrd="0" destOrd="0" presId="urn:microsoft.com/office/officeart/2018/2/layout/IconLabelDescriptionList"/>
    <dgm:cxn modelId="{820A01B9-25D6-4B1C-ADF2-D859B86C5879}" type="presParOf" srcId="{E39BD671-C7D3-4AAC-AADF-F4E22BA12703}" destId="{695D9D90-350C-4DC8-83A1-E4AB548BD6FF}" srcOrd="1" destOrd="0" presId="urn:microsoft.com/office/officeart/2018/2/layout/IconLabelDescriptionList"/>
    <dgm:cxn modelId="{72050591-0023-4E12-B37A-2B2D20641A22}" type="presParOf" srcId="{E39BD671-C7D3-4AAC-AADF-F4E22BA12703}" destId="{9D0EAA71-1713-4EB4-94C3-3E4CB60A230F}" srcOrd="2" destOrd="0" presId="urn:microsoft.com/office/officeart/2018/2/layout/IconLabelDescriptionList"/>
    <dgm:cxn modelId="{CA472F7E-0B5F-4380-B9A7-B76B142CE65E}" type="presParOf" srcId="{E39BD671-C7D3-4AAC-AADF-F4E22BA12703}" destId="{34D048B7-557C-441F-BC10-8EF0D184DC48}" srcOrd="3" destOrd="0" presId="urn:microsoft.com/office/officeart/2018/2/layout/IconLabelDescriptionList"/>
    <dgm:cxn modelId="{56A57F16-5329-415F-8D0E-352B546BBB7D}" type="presParOf" srcId="{E39BD671-C7D3-4AAC-AADF-F4E22BA12703}" destId="{70D0F180-5264-4781-BE31-3D926EE65271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E493EAA-C0EC-4B92-96A6-DB72D4829850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DD5EFFC2-0AED-418D-A4F0-324A14DF6664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1" dirty="0"/>
            <a:t>Challenge 1 - Metadata Inconsistency</a:t>
          </a:r>
          <a:endParaRPr lang="en-US" dirty="0"/>
        </a:p>
      </dgm:t>
    </dgm:pt>
    <dgm:pt modelId="{FA84FC25-D9F7-4CF5-BB26-9556C6F5D0E2}" type="parTrans" cxnId="{B720657E-D4D4-4C70-9080-2A77F83E87D1}">
      <dgm:prSet/>
      <dgm:spPr/>
      <dgm:t>
        <a:bodyPr/>
        <a:lstStyle/>
        <a:p>
          <a:endParaRPr lang="en-US"/>
        </a:p>
      </dgm:t>
    </dgm:pt>
    <dgm:pt modelId="{F3B53406-81DB-4472-A309-3FFF6D7F6E10}" type="sibTrans" cxnId="{B720657E-D4D4-4C70-9080-2A77F83E87D1}">
      <dgm:prSet/>
      <dgm:spPr/>
      <dgm:t>
        <a:bodyPr/>
        <a:lstStyle/>
        <a:p>
          <a:endParaRPr lang="en-US"/>
        </a:p>
      </dgm:t>
    </dgm:pt>
    <dgm:pt modelId="{AEF98654-81FA-443D-BA3F-227FE8415AF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I found that about 5% of the images in the dataset had corrupt file headers or missing JSON labels which isn’t suitable.</a:t>
          </a:r>
        </a:p>
      </dgm:t>
    </dgm:pt>
    <dgm:pt modelId="{DC409EAA-6031-4DFB-9417-29A890F539E7}" type="parTrans" cxnId="{14F6440F-96AE-4279-901A-25E3634C81B7}">
      <dgm:prSet/>
      <dgm:spPr/>
      <dgm:t>
        <a:bodyPr/>
        <a:lstStyle/>
        <a:p>
          <a:endParaRPr lang="en-US"/>
        </a:p>
      </dgm:t>
    </dgm:pt>
    <dgm:pt modelId="{93433C6B-A4B7-4871-AB61-C74EF30C3353}" type="sibTrans" cxnId="{14F6440F-96AE-4279-901A-25E3634C81B7}">
      <dgm:prSet/>
      <dgm:spPr/>
      <dgm:t>
        <a:bodyPr/>
        <a:lstStyle/>
        <a:p>
          <a:endParaRPr lang="en-US"/>
        </a:p>
      </dgm:t>
    </dgm:pt>
    <dgm:pt modelId="{2AA672D1-AF2D-4744-8CF0-4055D386B262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M</a:t>
          </a:r>
          <a:r>
            <a:rPr lang="en-US" dirty="0" err="1"/>
            <a:t>itigation</a:t>
          </a:r>
          <a:r>
            <a:rPr lang="en-US" dirty="0"/>
            <a:t> / fixes: I added a loop with error logging. This make sure the pipeline skips bad files instead of crashing during the long training run.</a:t>
          </a:r>
        </a:p>
      </dgm:t>
    </dgm:pt>
    <dgm:pt modelId="{49D70E4E-4D34-41BB-90E7-28B98B33F48A}" type="parTrans" cxnId="{274A6EF6-2FDF-42A9-9CBD-B7B3E0E99186}">
      <dgm:prSet/>
      <dgm:spPr/>
      <dgm:t>
        <a:bodyPr/>
        <a:lstStyle/>
        <a:p>
          <a:endParaRPr lang="en-US"/>
        </a:p>
      </dgm:t>
    </dgm:pt>
    <dgm:pt modelId="{53B351F1-C0AF-40A9-9AE1-B8FA8B5F7529}" type="sibTrans" cxnId="{274A6EF6-2FDF-42A9-9CBD-B7B3E0E99186}">
      <dgm:prSet/>
      <dgm:spPr/>
      <dgm:t>
        <a:bodyPr/>
        <a:lstStyle/>
        <a:p>
          <a:endParaRPr lang="en-US"/>
        </a:p>
      </dgm:t>
    </dgm:pt>
    <dgm:pt modelId="{7B687607-382A-4987-964C-2CD83BDD166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b="1" dirty="0"/>
            <a:t>Challenge 2 - Computational Load</a:t>
          </a:r>
          <a:endParaRPr lang="en-US" dirty="0"/>
        </a:p>
      </dgm:t>
    </dgm:pt>
    <dgm:pt modelId="{5B90C8FE-F9EB-4780-A7F0-D656F19E322B}" type="parTrans" cxnId="{B3886F42-4A3F-4FCF-A5AF-FFE0D6D1CECF}">
      <dgm:prSet/>
      <dgm:spPr/>
      <dgm:t>
        <a:bodyPr/>
        <a:lstStyle/>
        <a:p>
          <a:endParaRPr lang="en-US"/>
        </a:p>
      </dgm:t>
    </dgm:pt>
    <dgm:pt modelId="{78A597B1-6C2F-4E7D-8278-BCAD6DA9DAD4}" type="sibTrans" cxnId="{B3886F42-4A3F-4FCF-A5AF-FFE0D6D1CECF}">
      <dgm:prSet/>
      <dgm:spPr/>
      <dgm:t>
        <a:bodyPr/>
        <a:lstStyle/>
        <a:p>
          <a:endParaRPr lang="en-US"/>
        </a:p>
      </dgm:t>
    </dgm:pt>
    <dgm:pt modelId="{4FCBB8E6-A04B-4E5C-989A-052AA2E96B6A}">
      <dgm:prSet/>
      <dgm:spPr/>
      <dgm:t>
        <a:bodyPr/>
        <a:lstStyle/>
        <a:p>
          <a:pPr>
            <a:lnSpc>
              <a:spcPct val="100000"/>
            </a:lnSpc>
          </a:pPr>
          <a:r>
            <a:rPr lang="en-GB" dirty="0"/>
            <a:t>Running the </a:t>
          </a:r>
          <a:r>
            <a:rPr lang="en-GB" dirty="0" err="1"/>
            <a:t>ViT</a:t>
          </a:r>
          <a:r>
            <a:rPr lang="en-GB" dirty="0"/>
            <a:t>-B/32 model on 18,000 images exceeds typical local memory limits.</a:t>
          </a:r>
          <a:endParaRPr lang="en-US" dirty="0"/>
        </a:p>
      </dgm:t>
    </dgm:pt>
    <dgm:pt modelId="{7922D6A3-CEFA-45A3-AF17-A567E29C6C3E}" type="parTrans" cxnId="{7C0EB393-7ABA-48B7-AE99-55197DD526BC}">
      <dgm:prSet/>
      <dgm:spPr/>
      <dgm:t>
        <a:bodyPr/>
        <a:lstStyle/>
        <a:p>
          <a:endParaRPr lang="en-US"/>
        </a:p>
      </dgm:t>
    </dgm:pt>
    <dgm:pt modelId="{CF57F5AF-20CC-4132-8CCE-4751F5FD71FD}" type="sibTrans" cxnId="{7C0EB393-7ABA-48B7-AE99-55197DD526BC}">
      <dgm:prSet/>
      <dgm:spPr/>
      <dgm:t>
        <a:bodyPr/>
        <a:lstStyle/>
        <a:p>
          <a:endParaRPr lang="en-US"/>
        </a:p>
      </dgm:t>
    </dgm:pt>
    <dgm:pt modelId="{22D9BA60-EBA4-49E6-BA7C-EDEE7CB62C7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Mitigation: I processed the images in batches of 32. I also have a fallback strategy to deploy the script to Google </a:t>
          </a:r>
          <a:r>
            <a:rPr lang="en-US" dirty="0" err="1"/>
            <a:t>Colab's</a:t>
          </a:r>
          <a:r>
            <a:rPr lang="en-US" dirty="0"/>
            <a:t> GPU infrastructure if my local hardware throttles or maybe use the PCs in DAIM.</a:t>
          </a:r>
        </a:p>
      </dgm:t>
    </dgm:pt>
    <dgm:pt modelId="{212ABA0A-F724-4200-B2AF-8C6C037A731F}" type="parTrans" cxnId="{594F7A3D-3A4E-43DD-A750-92354817A666}">
      <dgm:prSet/>
      <dgm:spPr/>
      <dgm:t>
        <a:bodyPr/>
        <a:lstStyle/>
        <a:p>
          <a:endParaRPr lang="en-US"/>
        </a:p>
      </dgm:t>
    </dgm:pt>
    <dgm:pt modelId="{A5DC4E87-BAB4-4B05-9AEA-5735C1A174D9}" type="sibTrans" cxnId="{594F7A3D-3A4E-43DD-A750-92354817A666}">
      <dgm:prSet/>
      <dgm:spPr/>
      <dgm:t>
        <a:bodyPr/>
        <a:lstStyle/>
        <a:p>
          <a:endParaRPr lang="en-US"/>
        </a:p>
      </dgm:t>
    </dgm:pt>
    <dgm:pt modelId="{92766DE6-A114-42E5-897E-C6CF495DD7E8}" type="pres">
      <dgm:prSet presAssocID="{DE493EAA-C0EC-4B92-96A6-DB72D4829850}" presName="root" presStyleCnt="0">
        <dgm:presLayoutVars>
          <dgm:dir/>
          <dgm:resizeHandles val="exact"/>
        </dgm:presLayoutVars>
      </dgm:prSet>
      <dgm:spPr/>
    </dgm:pt>
    <dgm:pt modelId="{3C30E1DC-9C04-4F92-81AB-774B66CE2473}" type="pres">
      <dgm:prSet presAssocID="{DD5EFFC2-0AED-418D-A4F0-324A14DF6664}" presName="compNode" presStyleCnt="0"/>
      <dgm:spPr/>
    </dgm:pt>
    <dgm:pt modelId="{9183CDC9-9AE3-46BA-987F-AE09DB5CC3D2}" type="pres">
      <dgm:prSet presAssocID="{DD5EFFC2-0AED-418D-A4F0-324A14DF6664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4B5B8DFF-A85F-4A52-B9A0-FA6686F23B13}" type="pres">
      <dgm:prSet presAssocID="{DD5EFFC2-0AED-418D-A4F0-324A14DF6664}" presName="iconSpace" presStyleCnt="0"/>
      <dgm:spPr/>
    </dgm:pt>
    <dgm:pt modelId="{98990FEE-15DA-4E37-8A62-291B78717D8C}" type="pres">
      <dgm:prSet presAssocID="{DD5EFFC2-0AED-418D-A4F0-324A14DF6664}" presName="parTx" presStyleLbl="revTx" presStyleIdx="0" presStyleCnt="4">
        <dgm:presLayoutVars>
          <dgm:chMax val="0"/>
          <dgm:chPref val="0"/>
        </dgm:presLayoutVars>
      </dgm:prSet>
      <dgm:spPr/>
    </dgm:pt>
    <dgm:pt modelId="{288BBF0D-4159-45A3-BC6C-E567237D1CFE}" type="pres">
      <dgm:prSet presAssocID="{DD5EFFC2-0AED-418D-A4F0-324A14DF6664}" presName="txSpace" presStyleCnt="0"/>
      <dgm:spPr/>
    </dgm:pt>
    <dgm:pt modelId="{81FF5D20-3FAE-470D-9D26-4741C1F26B59}" type="pres">
      <dgm:prSet presAssocID="{DD5EFFC2-0AED-418D-A4F0-324A14DF6664}" presName="desTx" presStyleLbl="revTx" presStyleIdx="1" presStyleCnt="4">
        <dgm:presLayoutVars/>
      </dgm:prSet>
      <dgm:spPr/>
    </dgm:pt>
    <dgm:pt modelId="{8D234C2D-44E5-44E9-B0D3-198767FC20BC}" type="pres">
      <dgm:prSet presAssocID="{F3B53406-81DB-4472-A309-3FFF6D7F6E10}" presName="sibTrans" presStyleCnt="0"/>
      <dgm:spPr/>
    </dgm:pt>
    <dgm:pt modelId="{74CD690E-1FA8-485B-BC7C-7D15CB1EDAC9}" type="pres">
      <dgm:prSet presAssocID="{7B687607-382A-4987-964C-2CD83BDD166C}" presName="compNode" presStyleCnt="0"/>
      <dgm:spPr/>
    </dgm:pt>
    <dgm:pt modelId="{34651D93-1753-4C4F-B37B-AFAF3D32FF79}" type="pres">
      <dgm:prSet presAssocID="{7B687607-382A-4987-964C-2CD83BDD166C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9C66BDDB-60C0-4714-A952-42C4F072CB53}" type="pres">
      <dgm:prSet presAssocID="{7B687607-382A-4987-964C-2CD83BDD166C}" presName="iconSpace" presStyleCnt="0"/>
      <dgm:spPr/>
    </dgm:pt>
    <dgm:pt modelId="{EF258873-7099-4D9F-A51F-82B89A66C573}" type="pres">
      <dgm:prSet presAssocID="{7B687607-382A-4987-964C-2CD83BDD166C}" presName="parTx" presStyleLbl="revTx" presStyleIdx="2" presStyleCnt="4">
        <dgm:presLayoutVars>
          <dgm:chMax val="0"/>
          <dgm:chPref val="0"/>
        </dgm:presLayoutVars>
      </dgm:prSet>
      <dgm:spPr/>
    </dgm:pt>
    <dgm:pt modelId="{E437B888-73AC-4604-B91C-FC00B89B9F8C}" type="pres">
      <dgm:prSet presAssocID="{7B687607-382A-4987-964C-2CD83BDD166C}" presName="txSpace" presStyleCnt="0"/>
      <dgm:spPr/>
    </dgm:pt>
    <dgm:pt modelId="{886EA068-8572-435F-A649-6CC7A1364551}" type="pres">
      <dgm:prSet presAssocID="{7B687607-382A-4987-964C-2CD83BDD166C}" presName="desTx" presStyleLbl="revTx" presStyleIdx="3" presStyleCnt="4">
        <dgm:presLayoutVars/>
      </dgm:prSet>
      <dgm:spPr/>
    </dgm:pt>
  </dgm:ptLst>
  <dgm:cxnLst>
    <dgm:cxn modelId="{14F6440F-96AE-4279-901A-25E3634C81B7}" srcId="{DD5EFFC2-0AED-418D-A4F0-324A14DF6664}" destId="{AEF98654-81FA-443D-BA3F-227FE8415AF7}" srcOrd="0" destOrd="0" parTransId="{DC409EAA-6031-4DFB-9417-29A890F539E7}" sibTransId="{93433C6B-A4B7-4871-AB61-C74EF30C3353}"/>
    <dgm:cxn modelId="{40928F27-BB56-44DD-8CA4-52C887D3DFC1}" type="presOf" srcId="{2AA672D1-AF2D-4744-8CF0-4055D386B262}" destId="{81FF5D20-3FAE-470D-9D26-4741C1F26B59}" srcOrd="0" destOrd="1" presId="urn:microsoft.com/office/officeart/2018/2/layout/IconLabelDescriptionList"/>
    <dgm:cxn modelId="{594F7A3D-3A4E-43DD-A750-92354817A666}" srcId="{7B687607-382A-4987-964C-2CD83BDD166C}" destId="{22D9BA60-EBA4-49E6-BA7C-EDEE7CB62C70}" srcOrd="1" destOrd="0" parTransId="{212ABA0A-F724-4200-B2AF-8C6C037A731F}" sibTransId="{A5DC4E87-BAB4-4B05-9AEA-5735C1A174D9}"/>
    <dgm:cxn modelId="{0029D15F-FB51-464D-9A3E-56015D2658F2}" type="presOf" srcId="{DD5EFFC2-0AED-418D-A4F0-324A14DF6664}" destId="{98990FEE-15DA-4E37-8A62-291B78717D8C}" srcOrd="0" destOrd="0" presId="urn:microsoft.com/office/officeart/2018/2/layout/IconLabelDescriptionList"/>
    <dgm:cxn modelId="{B3886F42-4A3F-4FCF-A5AF-FFE0D6D1CECF}" srcId="{DE493EAA-C0EC-4B92-96A6-DB72D4829850}" destId="{7B687607-382A-4987-964C-2CD83BDD166C}" srcOrd="1" destOrd="0" parTransId="{5B90C8FE-F9EB-4780-A7F0-D656F19E322B}" sibTransId="{78A597B1-6C2F-4E7D-8278-BCAD6DA9DAD4}"/>
    <dgm:cxn modelId="{0C39A754-21FE-4D76-A6E4-286AF6D6A716}" type="presOf" srcId="{AEF98654-81FA-443D-BA3F-227FE8415AF7}" destId="{81FF5D20-3FAE-470D-9D26-4741C1F26B59}" srcOrd="0" destOrd="0" presId="urn:microsoft.com/office/officeart/2018/2/layout/IconLabelDescriptionList"/>
    <dgm:cxn modelId="{5C38037B-3DE1-47AC-A830-2834F1865AFA}" type="presOf" srcId="{DE493EAA-C0EC-4B92-96A6-DB72D4829850}" destId="{92766DE6-A114-42E5-897E-C6CF495DD7E8}" srcOrd="0" destOrd="0" presId="urn:microsoft.com/office/officeart/2018/2/layout/IconLabelDescriptionList"/>
    <dgm:cxn modelId="{B720657E-D4D4-4C70-9080-2A77F83E87D1}" srcId="{DE493EAA-C0EC-4B92-96A6-DB72D4829850}" destId="{DD5EFFC2-0AED-418D-A4F0-324A14DF6664}" srcOrd="0" destOrd="0" parTransId="{FA84FC25-D9F7-4CF5-BB26-9556C6F5D0E2}" sibTransId="{F3B53406-81DB-4472-A309-3FFF6D7F6E10}"/>
    <dgm:cxn modelId="{DF9EE089-B699-40EA-ACB1-213A768C53AC}" type="presOf" srcId="{7B687607-382A-4987-964C-2CD83BDD166C}" destId="{EF258873-7099-4D9F-A51F-82B89A66C573}" srcOrd="0" destOrd="0" presId="urn:microsoft.com/office/officeart/2018/2/layout/IconLabelDescriptionList"/>
    <dgm:cxn modelId="{7C0EB393-7ABA-48B7-AE99-55197DD526BC}" srcId="{7B687607-382A-4987-964C-2CD83BDD166C}" destId="{4FCBB8E6-A04B-4E5C-989A-052AA2E96B6A}" srcOrd="0" destOrd="0" parTransId="{7922D6A3-CEFA-45A3-AF17-A567E29C6C3E}" sibTransId="{CF57F5AF-20CC-4132-8CCE-4751F5FD71FD}"/>
    <dgm:cxn modelId="{4672CEA5-286F-4796-8A7D-E93CF02A34D8}" type="presOf" srcId="{22D9BA60-EBA4-49E6-BA7C-EDEE7CB62C70}" destId="{886EA068-8572-435F-A649-6CC7A1364551}" srcOrd="0" destOrd="1" presId="urn:microsoft.com/office/officeart/2018/2/layout/IconLabelDescriptionList"/>
    <dgm:cxn modelId="{274A6EF6-2FDF-42A9-9CBD-B7B3E0E99186}" srcId="{DD5EFFC2-0AED-418D-A4F0-324A14DF6664}" destId="{2AA672D1-AF2D-4744-8CF0-4055D386B262}" srcOrd="1" destOrd="0" parTransId="{49D70E4E-4D34-41BB-90E7-28B98B33F48A}" sibTransId="{53B351F1-C0AF-40A9-9AE1-B8FA8B5F7529}"/>
    <dgm:cxn modelId="{6248E8FA-A9B7-4514-B9B0-F46F1BDF57F5}" type="presOf" srcId="{4FCBB8E6-A04B-4E5C-989A-052AA2E96B6A}" destId="{886EA068-8572-435F-A649-6CC7A1364551}" srcOrd="0" destOrd="0" presId="urn:microsoft.com/office/officeart/2018/2/layout/IconLabelDescriptionList"/>
    <dgm:cxn modelId="{DBA77F2A-6494-45F4-A5C0-061E84227064}" type="presParOf" srcId="{92766DE6-A114-42E5-897E-C6CF495DD7E8}" destId="{3C30E1DC-9C04-4F92-81AB-774B66CE2473}" srcOrd="0" destOrd="0" presId="urn:microsoft.com/office/officeart/2018/2/layout/IconLabelDescriptionList"/>
    <dgm:cxn modelId="{B6C7BE95-2BB7-48C5-8FB1-F9D77EA841AF}" type="presParOf" srcId="{3C30E1DC-9C04-4F92-81AB-774B66CE2473}" destId="{9183CDC9-9AE3-46BA-987F-AE09DB5CC3D2}" srcOrd="0" destOrd="0" presId="urn:microsoft.com/office/officeart/2018/2/layout/IconLabelDescriptionList"/>
    <dgm:cxn modelId="{BFF0F4C4-A7A9-4EDE-BE13-731568CCEBCD}" type="presParOf" srcId="{3C30E1DC-9C04-4F92-81AB-774B66CE2473}" destId="{4B5B8DFF-A85F-4A52-B9A0-FA6686F23B13}" srcOrd="1" destOrd="0" presId="urn:microsoft.com/office/officeart/2018/2/layout/IconLabelDescriptionList"/>
    <dgm:cxn modelId="{B0CBD423-9A6F-48B8-A02B-DD3889FE6F25}" type="presParOf" srcId="{3C30E1DC-9C04-4F92-81AB-774B66CE2473}" destId="{98990FEE-15DA-4E37-8A62-291B78717D8C}" srcOrd="2" destOrd="0" presId="urn:microsoft.com/office/officeart/2018/2/layout/IconLabelDescriptionList"/>
    <dgm:cxn modelId="{96ACB4D9-B6DE-4F91-B463-CD653E73B7E3}" type="presParOf" srcId="{3C30E1DC-9C04-4F92-81AB-774B66CE2473}" destId="{288BBF0D-4159-45A3-BC6C-E567237D1CFE}" srcOrd="3" destOrd="0" presId="urn:microsoft.com/office/officeart/2018/2/layout/IconLabelDescriptionList"/>
    <dgm:cxn modelId="{053DFFA1-B7B1-4C33-80E8-C3632BAB1BD3}" type="presParOf" srcId="{3C30E1DC-9C04-4F92-81AB-774B66CE2473}" destId="{81FF5D20-3FAE-470D-9D26-4741C1F26B59}" srcOrd="4" destOrd="0" presId="urn:microsoft.com/office/officeart/2018/2/layout/IconLabelDescriptionList"/>
    <dgm:cxn modelId="{EDB5A416-61BB-45D4-AD5C-36444192F3F6}" type="presParOf" srcId="{92766DE6-A114-42E5-897E-C6CF495DD7E8}" destId="{8D234C2D-44E5-44E9-B0D3-198767FC20BC}" srcOrd="1" destOrd="0" presId="urn:microsoft.com/office/officeart/2018/2/layout/IconLabelDescriptionList"/>
    <dgm:cxn modelId="{57ED5399-E828-4445-A015-1A98FE512A9A}" type="presParOf" srcId="{92766DE6-A114-42E5-897E-C6CF495DD7E8}" destId="{74CD690E-1FA8-485B-BC7C-7D15CB1EDAC9}" srcOrd="2" destOrd="0" presId="urn:microsoft.com/office/officeart/2018/2/layout/IconLabelDescriptionList"/>
    <dgm:cxn modelId="{4069B07A-6E56-4464-88E6-AE4151AA56B3}" type="presParOf" srcId="{74CD690E-1FA8-485B-BC7C-7D15CB1EDAC9}" destId="{34651D93-1753-4C4F-B37B-AFAF3D32FF79}" srcOrd="0" destOrd="0" presId="urn:microsoft.com/office/officeart/2018/2/layout/IconLabelDescriptionList"/>
    <dgm:cxn modelId="{523E4076-8F31-4C71-A18B-E96B2464E4C1}" type="presParOf" srcId="{74CD690E-1FA8-485B-BC7C-7D15CB1EDAC9}" destId="{9C66BDDB-60C0-4714-A952-42C4F072CB53}" srcOrd="1" destOrd="0" presId="urn:microsoft.com/office/officeart/2018/2/layout/IconLabelDescriptionList"/>
    <dgm:cxn modelId="{CA849B27-19A8-4070-A7D1-F1978C14B49B}" type="presParOf" srcId="{74CD690E-1FA8-485B-BC7C-7D15CB1EDAC9}" destId="{EF258873-7099-4D9F-A51F-82B89A66C573}" srcOrd="2" destOrd="0" presId="urn:microsoft.com/office/officeart/2018/2/layout/IconLabelDescriptionList"/>
    <dgm:cxn modelId="{BCEEA9BD-6585-404F-A21B-0C71A04C7945}" type="presParOf" srcId="{74CD690E-1FA8-485B-BC7C-7D15CB1EDAC9}" destId="{E437B888-73AC-4604-B91C-FC00B89B9F8C}" srcOrd="3" destOrd="0" presId="urn:microsoft.com/office/officeart/2018/2/layout/IconLabelDescriptionList"/>
    <dgm:cxn modelId="{E83DF60D-0DF8-4266-9D94-E47A6216F72B}" type="presParOf" srcId="{74CD690E-1FA8-485B-BC7C-7D15CB1EDAC9}" destId="{886EA068-8572-435F-A649-6CC7A1364551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B8CA7A7-9414-4DE8-8360-3C4B3D548CFF}" type="doc">
      <dgm:prSet loTypeId="urn:microsoft.com/office/officeart/2018/2/layout/IconLabelDescriptionList" loCatId="icon" qsTypeId="urn:microsoft.com/office/officeart/2005/8/quickstyle/simple2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44457196-26C7-498A-8664-FD60E45F9E7B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Phase 3</a:t>
          </a:r>
        </a:p>
      </dgm:t>
    </dgm:pt>
    <dgm:pt modelId="{DEFBFE61-E044-48B2-8C5E-62E78A800C2D}" type="parTrans" cxnId="{ECF2057F-C687-4AB3-847E-2A545239236C}">
      <dgm:prSet/>
      <dgm:spPr/>
      <dgm:t>
        <a:bodyPr/>
        <a:lstStyle/>
        <a:p>
          <a:endParaRPr lang="en-US"/>
        </a:p>
      </dgm:t>
    </dgm:pt>
    <dgm:pt modelId="{FC9DFC0C-F53E-4988-8BDA-7D22E21B6596}" type="sibTrans" cxnId="{ECF2057F-C687-4AB3-847E-2A545239236C}">
      <dgm:prSet phldrT="1"/>
      <dgm:spPr/>
      <dgm:t>
        <a:bodyPr/>
        <a:lstStyle/>
        <a:p>
          <a:endParaRPr lang="en-US"/>
        </a:p>
      </dgm:t>
    </dgm:pt>
    <dgm:pt modelId="{0E404482-2CAF-491A-83DA-35122794BF7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 (Current - January)</a:t>
          </a:r>
        </a:p>
      </dgm:t>
    </dgm:pt>
    <dgm:pt modelId="{2C4D8C34-788D-4DC4-B60B-616CCF8AA9D6}" type="parTrans" cxnId="{6263234E-2F7C-4797-A174-8A08BD694F46}">
      <dgm:prSet/>
      <dgm:spPr/>
      <dgm:t>
        <a:bodyPr/>
        <a:lstStyle/>
        <a:p>
          <a:endParaRPr lang="en-US"/>
        </a:p>
      </dgm:t>
    </dgm:pt>
    <dgm:pt modelId="{DEB831D7-B709-47D2-BD60-609A53E23A80}" type="sibTrans" cxnId="{6263234E-2F7C-4797-A174-8A08BD694F46}">
      <dgm:prSet/>
      <dgm:spPr/>
      <dgm:t>
        <a:bodyPr/>
        <a:lstStyle/>
        <a:p>
          <a:endParaRPr lang="en-US"/>
        </a:p>
      </dgm:t>
    </dgm:pt>
    <dgm:pt modelId="{533C316C-2263-4AC8-8B25-3585C1BF7B26}">
      <dgm:prSet/>
      <dgm:spPr/>
      <dgm:t>
        <a:bodyPr/>
        <a:lstStyle/>
        <a:p>
          <a:r>
            <a:rPr lang="en-US" dirty="0"/>
            <a:t>I am currently finishing the full </a:t>
          </a:r>
          <a:r>
            <a:rPr lang="en-US" dirty="0" err="1"/>
            <a:t>vectorisation</a:t>
          </a:r>
          <a:r>
            <a:rPr lang="en-US" dirty="0"/>
            <a:t> process to generate the 512-dimensional embeddings for the entire dataset.</a:t>
          </a:r>
        </a:p>
      </dgm:t>
    </dgm:pt>
    <dgm:pt modelId="{6FE90ACE-FDFE-453C-9C28-0D641A85D1DC}" type="parTrans" cxnId="{65729EAF-EDAA-4EEB-B95A-69161A3177D0}">
      <dgm:prSet/>
      <dgm:spPr/>
      <dgm:t>
        <a:bodyPr/>
        <a:lstStyle/>
        <a:p>
          <a:endParaRPr lang="en-US"/>
        </a:p>
      </dgm:t>
    </dgm:pt>
    <dgm:pt modelId="{974C1F56-84FF-46C3-A7BA-256CE0E19ADA}" type="sibTrans" cxnId="{65729EAF-EDAA-4EEB-B95A-69161A3177D0}">
      <dgm:prSet/>
      <dgm:spPr/>
      <dgm:t>
        <a:bodyPr/>
        <a:lstStyle/>
        <a:p>
          <a:endParaRPr lang="en-US"/>
        </a:p>
      </dgm:t>
    </dgm:pt>
    <dgm:pt modelId="{83AA6C40-F63F-4452-AA16-271DFE69515C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Phase 4</a:t>
          </a:r>
        </a:p>
      </dgm:t>
    </dgm:pt>
    <dgm:pt modelId="{2545A345-94CB-4A42-9236-F5648819AD75}" type="parTrans" cxnId="{82DE9282-5588-4DD6-9D77-A627E21A9981}">
      <dgm:prSet/>
      <dgm:spPr/>
      <dgm:t>
        <a:bodyPr/>
        <a:lstStyle/>
        <a:p>
          <a:endParaRPr lang="en-US"/>
        </a:p>
      </dgm:t>
    </dgm:pt>
    <dgm:pt modelId="{C240F929-79B8-44FB-A543-FE1BC6E44D82}" type="sibTrans" cxnId="{82DE9282-5588-4DD6-9D77-A627E21A9981}">
      <dgm:prSet phldrT="2"/>
      <dgm:spPr/>
      <dgm:t>
        <a:bodyPr/>
        <a:lstStyle/>
        <a:p>
          <a:endParaRPr lang="en-US"/>
        </a:p>
      </dgm:t>
    </dgm:pt>
    <dgm:pt modelId="{122D79E5-8EF3-43C3-9F99-E492B3D18FB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 (February)</a:t>
          </a:r>
        </a:p>
      </dgm:t>
    </dgm:pt>
    <dgm:pt modelId="{47C8C9E0-D2FE-47A5-8DCD-DF25CF92CF1A}" type="parTrans" cxnId="{CC05B34D-AECF-4079-8A02-2A01A36AA544}">
      <dgm:prSet/>
      <dgm:spPr/>
      <dgm:t>
        <a:bodyPr/>
        <a:lstStyle/>
        <a:p>
          <a:endParaRPr lang="en-US"/>
        </a:p>
      </dgm:t>
    </dgm:pt>
    <dgm:pt modelId="{FC251673-1A57-4781-845B-CB9B8BFF9D52}" type="sibTrans" cxnId="{CC05B34D-AECF-4079-8A02-2A01A36AA544}">
      <dgm:prSet/>
      <dgm:spPr/>
      <dgm:t>
        <a:bodyPr/>
        <a:lstStyle/>
        <a:p>
          <a:endParaRPr lang="en-US"/>
        </a:p>
      </dgm:t>
    </dgm:pt>
    <dgm:pt modelId="{95BE7C81-4922-405D-97E1-68B3EFA1EE45}">
      <dgm:prSet/>
      <dgm:spPr/>
      <dgm:t>
        <a:bodyPr/>
        <a:lstStyle/>
        <a:p>
          <a:r>
            <a:rPr lang="en-US" dirty="0"/>
            <a:t>My focus will shift to integration. I will use UMAP to project these vectors into 2D space and connect them to the Dash frontend.</a:t>
          </a:r>
        </a:p>
      </dgm:t>
    </dgm:pt>
    <dgm:pt modelId="{12A2834A-AADD-4E7F-83C0-B0B08C34817E}" type="parTrans" cxnId="{065C51F8-E1E7-4354-AF41-5148CCF92E06}">
      <dgm:prSet/>
      <dgm:spPr/>
      <dgm:t>
        <a:bodyPr/>
        <a:lstStyle/>
        <a:p>
          <a:endParaRPr lang="en-US"/>
        </a:p>
      </dgm:t>
    </dgm:pt>
    <dgm:pt modelId="{8CDCD303-D319-4E87-8ACE-6F45B2671F9F}" type="sibTrans" cxnId="{065C51F8-E1E7-4354-AF41-5148CCF92E06}">
      <dgm:prSet/>
      <dgm:spPr/>
      <dgm:t>
        <a:bodyPr/>
        <a:lstStyle/>
        <a:p>
          <a:endParaRPr lang="en-US"/>
        </a:p>
      </dgm:t>
    </dgm:pt>
    <dgm:pt modelId="{84AAB1E9-B9F0-449B-94AF-B41BD2EE7D98}">
      <dgm:prSet/>
      <dgm:spPr/>
      <dgm:t>
        <a:bodyPr/>
        <a:lstStyle/>
        <a:p>
          <a:r>
            <a:rPr lang="en-US" dirty="0"/>
            <a:t>I will add the Cosine Similarity logic to enable the semantic search feature.</a:t>
          </a:r>
        </a:p>
      </dgm:t>
    </dgm:pt>
    <dgm:pt modelId="{A8C76B29-EA27-4DCE-913E-254651D2DA0B}" type="parTrans" cxnId="{D0C7C498-C449-4344-B016-95A87AFF344B}">
      <dgm:prSet/>
      <dgm:spPr/>
      <dgm:t>
        <a:bodyPr/>
        <a:lstStyle/>
        <a:p>
          <a:endParaRPr lang="en-US"/>
        </a:p>
      </dgm:t>
    </dgm:pt>
    <dgm:pt modelId="{AADDDD80-4987-4E46-819A-6D5C249B86B7}" type="sibTrans" cxnId="{D0C7C498-C449-4344-B016-95A87AFF344B}">
      <dgm:prSet/>
      <dgm:spPr/>
      <dgm:t>
        <a:bodyPr/>
        <a:lstStyle/>
        <a:p>
          <a:endParaRPr lang="en-US"/>
        </a:p>
      </dgm:t>
    </dgm:pt>
    <dgm:pt modelId="{0E80CA6C-CF5A-4A6A-AA02-07D911DCF5C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Phase 5</a:t>
          </a:r>
        </a:p>
      </dgm:t>
    </dgm:pt>
    <dgm:pt modelId="{206998DF-2FA9-4A23-B346-3A009FCC3CA0}" type="parTrans" cxnId="{7425465B-F44A-463D-B117-B7451E0CB469}">
      <dgm:prSet/>
      <dgm:spPr/>
      <dgm:t>
        <a:bodyPr/>
        <a:lstStyle/>
        <a:p>
          <a:endParaRPr lang="en-US"/>
        </a:p>
      </dgm:t>
    </dgm:pt>
    <dgm:pt modelId="{554E6361-F676-4C2C-8D89-1101BCF7CC0D}" type="sibTrans" cxnId="{7425465B-F44A-463D-B117-B7451E0CB469}">
      <dgm:prSet phldrT="3"/>
      <dgm:spPr/>
      <dgm:t>
        <a:bodyPr/>
        <a:lstStyle/>
        <a:p>
          <a:endParaRPr lang="en-US"/>
        </a:p>
      </dgm:t>
    </dgm:pt>
    <dgm:pt modelId="{D77D9118-1AD9-4A72-AEBB-977ED365CAD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 (March/April)</a:t>
          </a:r>
        </a:p>
      </dgm:t>
    </dgm:pt>
    <dgm:pt modelId="{DDD4C20E-B80F-4EB4-8423-184C121D2FF9}" type="parTrans" cxnId="{07B9A120-EFC6-4472-B4CD-74ED6213FF98}">
      <dgm:prSet/>
      <dgm:spPr/>
      <dgm:t>
        <a:bodyPr/>
        <a:lstStyle/>
        <a:p>
          <a:endParaRPr lang="en-US"/>
        </a:p>
      </dgm:t>
    </dgm:pt>
    <dgm:pt modelId="{A7F2E297-5189-48BB-95FC-4CBACE5792F9}" type="sibTrans" cxnId="{07B9A120-EFC6-4472-B4CD-74ED6213FF98}">
      <dgm:prSet/>
      <dgm:spPr/>
      <dgm:t>
        <a:bodyPr/>
        <a:lstStyle/>
        <a:p>
          <a:endParaRPr lang="en-US"/>
        </a:p>
      </dgm:t>
    </dgm:pt>
    <dgm:pt modelId="{3F433AC8-FCD2-4D12-96E1-F3BBED3C3E10}">
      <dgm:prSet/>
      <dgm:spPr/>
      <dgm:t>
        <a:bodyPr/>
        <a:lstStyle/>
        <a:p>
          <a:r>
            <a:rPr lang="en-US" dirty="0"/>
            <a:t>I will conduct a quantitative evaluation using Silhouette Scores to measure cluster quality.</a:t>
          </a:r>
        </a:p>
      </dgm:t>
    </dgm:pt>
    <dgm:pt modelId="{12B9C211-F515-45DB-8BAA-321CB5A823C0}" type="parTrans" cxnId="{708C8D3A-E11D-4D94-BC8A-5CF2D60A5E3F}">
      <dgm:prSet/>
      <dgm:spPr/>
      <dgm:t>
        <a:bodyPr/>
        <a:lstStyle/>
        <a:p>
          <a:endParaRPr lang="en-US"/>
        </a:p>
      </dgm:t>
    </dgm:pt>
    <dgm:pt modelId="{4DF84303-B1BA-4F4C-83DC-3D79FAEBD0BF}" type="sibTrans" cxnId="{708C8D3A-E11D-4D94-BC8A-5CF2D60A5E3F}">
      <dgm:prSet/>
      <dgm:spPr/>
      <dgm:t>
        <a:bodyPr/>
        <a:lstStyle/>
        <a:p>
          <a:endParaRPr lang="en-US"/>
        </a:p>
      </dgm:t>
    </dgm:pt>
    <dgm:pt modelId="{6C95F70E-32BC-4A6B-BA54-F69117A98B1D}">
      <dgm:prSet/>
      <dgm:spPr/>
      <dgm:t>
        <a:bodyPr/>
        <a:lstStyle/>
        <a:p>
          <a:r>
            <a:rPr lang="en-US" dirty="0"/>
            <a:t> I’ll complete the dissertation write-up.</a:t>
          </a:r>
        </a:p>
      </dgm:t>
    </dgm:pt>
    <dgm:pt modelId="{698BAD7C-6F5A-42DA-B796-987C21FD4689}" type="parTrans" cxnId="{81A7CED4-4CC4-4AC1-AEC6-156C42329EE9}">
      <dgm:prSet/>
      <dgm:spPr/>
      <dgm:t>
        <a:bodyPr/>
        <a:lstStyle/>
        <a:p>
          <a:endParaRPr lang="en-US"/>
        </a:p>
      </dgm:t>
    </dgm:pt>
    <dgm:pt modelId="{B356CB1C-5D0B-4DC7-8505-38358FFF1877}" type="sibTrans" cxnId="{81A7CED4-4CC4-4AC1-AEC6-156C42329EE9}">
      <dgm:prSet/>
      <dgm:spPr/>
      <dgm:t>
        <a:bodyPr/>
        <a:lstStyle/>
        <a:p>
          <a:endParaRPr lang="en-US"/>
        </a:p>
      </dgm:t>
    </dgm:pt>
    <dgm:pt modelId="{33E5FC23-FCB3-47D5-A0B3-A7B358CBBB8C}" type="pres">
      <dgm:prSet presAssocID="{1B8CA7A7-9414-4DE8-8360-3C4B3D548CFF}" presName="root" presStyleCnt="0">
        <dgm:presLayoutVars>
          <dgm:dir/>
          <dgm:resizeHandles val="exact"/>
        </dgm:presLayoutVars>
      </dgm:prSet>
      <dgm:spPr/>
    </dgm:pt>
    <dgm:pt modelId="{E377C306-F43B-416D-BD89-7C4A42697F39}" type="pres">
      <dgm:prSet presAssocID="{44457196-26C7-498A-8664-FD60E45F9E7B}" presName="compNode" presStyleCnt="0"/>
      <dgm:spPr/>
    </dgm:pt>
    <dgm:pt modelId="{9F862230-5434-4F3C-BBD5-17839C50E47A}" type="pres">
      <dgm:prSet presAssocID="{44457196-26C7-498A-8664-FD60E45F9E7B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120E37C6-87CB-49D5-BD61-63F382F057B5}" type="pres">
      <dgm:prSet presAssocID="{44457196-26C7-498A-8664-FD60E45F9E7B}" presName="iconSpace" presStyleCnt="0"/>
      <dgm:spPr/>
    </dgm:pt>
    <dgm:pt modelId="{009C2165-09DA-4DA0-9D45-F766243B505C}" type="pres">
      <dgm:prSet presAssocID="{44457196-26C7-498A-8664-FD60E45F9E7B}" presName="parTx" presStyleLbl="revTx" presStyleIdx="0" presStyleCnt="6">
        <dgm:presLayoutVars>
          <dgm:chMax val="0"/>
          <dgm:chPref val="0"/>
        </dgm:presLayoutVars>
      </dgm:prSet>
      <dgm:spPr/>
    </dgm:pt>
    <dgm:pt modelId="{5AF13AB9-8BED-4030-9BB6-98F40F454C84}" type="pres">
      <dgm:prSet presAssocID="{44457196-26C7-498A-8664-FD60E45F9E7B}" presName="txSpace" presStyleCnt="0"/>
      <dgm:spPr/>
    </dgm:pt>
    <dgm:pt modelId="{F1B158EB-A77C-4312-AE9A-1052B56FDE8D}" type="pres">
      <dgm:prSet presAssocID="{44457196-26C7-498A-8664-FD60E45F9E7B}" presName="desTx" presStyleLbl="revTx" presStyleIdx="1" presStyleCnt="6">
        <dgm:presLayoutVars/>
      </dgm:prSet>
      <dgm:spPr/>
    </dgm:pt>
    <dgm:pt modelId="{DA02EE25-2665-4124-8062-1952F16B2E3F}" type="pres">
      <dgm:prSet presAssocID="{FC9DFC0C-F53E-4988-8BDA-7D22E21B6596}" presName="sibTrans" presStyleCnt="0"/>
      <dgm:spPr/>
    </dgm:pt>
    <dgm:pt modelId="{5CA7A7FA-7B17-4565-8718-2723B9024732}" type="pres">
      <dgm:prSet presAssocID="{83AA6C40-F63F-4452-AA16-271DFE69515C}" presName="compNode" presStyleCnt="0"/>
      <dgm:spPr/>
    </dgm:pt>
    <dgm:pt modelId="{863EFA6B-F374-49F0-A9B1-B05AC7D10C7C}" type="pres">
      <dgm:prSet presAssocID="{83AA6C40-F63F-4452-AA16-271DFE69515C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22F069D7-028A-441A-82DF-9CD57A6A7FD7}" type="pres">
      <dgm:prSet presAssocID="{83AA6C40-F63F-4452-AA16-271DFE69515C}" presName="iconSpace" presStyleCnt="0"/>
      <dgm:spPr/>
    </dgm:pt>
    <dgm:pt modelId="{657CCEF0-A27B-4394-8359-3DCBB8C3E440}" type="pres">
      <dgm:prSet presAssocID="{83AA6C40-F63F-4452-AA16-271DFE69515C}" presName="parTx" presStyleLbl="revTx" presStyleIdx="2" presStyleCnt="6">
        <dgm:presLayoutVars>
          <dgm:chMax val="0"/>
          <dgm:chPref val="0"/>
        </dgm:presLayoutVars>
      </dgm:prSet>
      <dgm:spPr/>
    </dgm:pt>
    <dgm:pt modelId="{FD06AA58-842F-4B9E-A52C-47EBD959B687}" type="pres">
      <dgm:prSet presAssocID="{83AA6C40-F63F-4452-AA16-271DFE69515C}" presName="txSpace" presStyleCnt="0"/>
      <dgm:spPr/>
    </dgm:pt>
    <dgm:pt modelId="{9CC0D266-E6CE-49F6-8032-9330CEABCD5E}" type="pres">
      <dgm:prSet presAssocID="{83AA6C40-F63F-4452-AA16-271DFE69515C}" presName="desTx" presStyleLbl="revTx" presStyleIdx="3" presStyleCnt="6">
        <dgm:presLayoutVars/>
      </dgm:prSet>
      <dgm:spPr/>
    </dgm:pt>
    <dgm:pt modelId="{F4BFE0C8-9A5D-446B-AEB8-330CD3212EFC}" type="pres">
      <dgm:prSet presAssocID="{C240F929-79B8-44FB-A543-FE1BC6E44D82}" presName="sibTrans" presStyleCnt="0"/>
      <dgm:spPr/>
    </dgm:pt>
    <dgm:pt modelId="{41E8B928-CA98-4AEF-BF95-2EBF94C8260E}" type="pres">
      <dgm:prSet presAssocID="{0E80CA6C-CF5A-4A6A-AA02-07D911DCF5C3}" presName="compNode" presStyleCnt="0"/>
      <dgm:spPr/>
    </dgm:pt>
    <dgm:pt modelId="{E4B2F965-4450-4401-B4A5-A9042E3A067F}" type="pres">
      <dgm:prSet presAssocID="{0E80CA6C-CF5A-4A6A-AA02-07D911DCF5C3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EBE66E69-0434-4A8A-84F6-EBECC8FD8227}" type="pres">
      <dgm:prSet presAssocID="{0E80CA6C-CF5A-4A6A-AA02-07D911DCF5C3}" presName="iconSpace" presStyleCnt="0"/>
      <dgm:spPr/>
    </dgm:pt>
    <dgm:pt modelId="{8522DD47-B473-43CC-9227-DE4AF622B637}" type="pres">
      <dgm:prSet presAssocID="{0E80CA6C-CF5A-4A6A-AA02-07D911DCF5C3}" presName="parTx" presStyleLbl="revTx" presStyleIdx="4" presStyleCnt="6">
        <dgm:presLayoutVars>
          <dgm:chMax val="0"/>
          <dgm:chPref val="0"/>
        </dgm:presLayoutVars>
      </dgm:prSet>
      <dgm:spPr/>
    </dgm:pt>
    <dgm:pt modelId="{4DA5ACBC-1C59-42DF-BB67-12E258F55570}" type="pres">
      <dgm:prSet presAssocID="{0E80CA6C-CF5A-4A6A-AA02-07D911DCF5C3}" presName="txSpace" presStyleCnt="0"/>
      <dgm:spPr/>
    </dgm:pt>
    <dgm:pt modelId="{D60B2264-3F4F-4B70-9DBC-761837D241C9}" type="pres">
      <dgm:prSet presAssocID="{0E80CA6C-CF5A-4A6A-AA02-07D911DCF5C3}" presName="desTx" presStyleLbl="revTx" presStyleIdx="5" presStyleCnt="6">
        <dgm:presLayoutVars/>
      </dgm:prSet>
      <dgm:spPr/>
    </dgm:pt>
  </dgm:ptLst>
  <dgm:cxnLst>
    <dgm:cxn modelId="{8991B200-38AA-49F9-8447-ED188CF6298D}" type="presOf" srcId="{84AAB1E9-B9F0-449B-94AF-B41BD2EE7D98}" destId="{9CC0D266-E6CE-49F6-8032-9330CEABCD5E}" srcOrd="0" destOrd="2" presId="urn:microsoft.com/office/officeart/2018/2/layout/IconLabelDescriptionList"/>
    <dgm:cxn modelId="{E7790915-5CAF-49FF-85FA-1AEA2C0E33D0}" type="presOf" srcId="{44457196-26C7-498A-8664-FD60E45F9E7B}" destId="{009C2165-09DA-4DA0-9D45-F766243B505C}" srcOrd="0" destOrd="0" presId="urn:microsoft.com/office/officeart/2018/2/layout/IconLabelDescriptionList"/>
    <dgm:cxn modelId="{79CD481F-D766-4B19-BBCD-943BAA4C960B}" type="presOf" srcId="{1B8CA7A7-9414-4DE8-8360-3C4B3D548CFF}" destId="{33E5FC23-FCB3-47D5-A0B3-A7B358CBBB8C}" srcOrd="0" destOrd="0" presId="urn:microsoft.com/office/officeart/2018/2/layout/IconLabelDescriptionList"/>
    <dgm:cxn modelId="{07B9A120-EFC6-4472-B4CD-74ED6213FF98}" srcId="{0E80CA6C-CF5A-4A6A-AA02-07D911DCF5C3}" destId="{D77D9118-1AD9-4A72-AEBB-977ED365CAD1}" srcOrd="0" destOrd="0" parTransId="{DDD4C20E-B80F-4EB4-8423-184C121D2FF9}" sibTransId="{A7F2E297-5189-48BB-95FC-4CBACE5792F9}"/>
    <dgm:cxn modelId="{D3310332-309A-4DBF-9DA5-83CAB186812A}" type="presOf" srcId="{83AA6C40-F63F-4452-AA16-271DFE69515C}" destId="{657CCEF0-A27B-4394-8359-3DCBB8C3E440}" srcOrd="0" destOrd="0" presId="urn:microsoft.com/office/officeart/2018/2/layout/IconLabelDescriptionList"/>
    <dgm:cxn modelId="{708C8D3A-E11D-4D94-BC8A-5CF2D60A5E3F}" srcId="{D77D9118-1AD9-4A72-AEBB-977ED365CAD1}" destId="{3F433AC8-FCD2-4D12-96E1-F3BBED3C3E10}" srcOrd="0" destOrd="0" parTransId="{12B9C211-F515-45DB-8BAA-321CB5A823C0}" sibTransId="{4DF84303-B1BA-4F4C-83DC-3D79FAEBD0BF}"/>
    <dgm:cxn modelId="{7425465B-F44A-463D-B117-B7451E0CB469}" srcId="{1B8CA7A7-9414-4DE8-8360-3C4B3D548CFF}" destId="{0E80CA6C-CF5A-4A6A-AA02-07D911DCF5C3}" srcOrd="2" destOrd="0" parTransId="{206998DF-2FA9-4A23-B346-3A009FCC3CA0}" sibTransId="{554E6361-F676-4C2C-8D89-1101BCF7CC0D}"/>
    <dgm:cxn modelId="{B9AE8D5F-EAA6-41DC-85A6-6DD82D897892}" type="presOf" srcId="{0E404482-2CAF-491A-83DA-35122794BF79}" destId="{F1B158EB-A77C-4312-AE9A-1052B56FDE8D}" srcOrd="0" destOrd="0" presId="urn:microsoft.com/office/officeart/2018/2/layout/IconLabelDescriptionList"/>
    <dgm:cxn modelId="{CC05B34D-AECF-4079-8A02-2A01A36AA544}" srcId="{83AA6C40-F63F-4452-AA16-271DFE69515C}" destId="{122D79E5-8EF3-43C3-9F99-E492B3D18FB7}" srcOrd="0" destOrd="0" parTransId="{47C8C9E0-D2FE-47A5-8DCD-DF25CF92CF1A}" sibTransId="{FC251673-1A57-4781-845B-CB9B8BFF9D52}"/>
    <dgm:cxn modelId="{6263234E-2F7C-4797-A174-8A08BD694F46}" srcId="{44457196-26C7-498A-8664-FD60E45F9E7B}" destId="{0E404482-2CAF-491A-83DA-35122794BF79}" srcOrd="0" destOrd="0" parTransId="{2C4D8C34-788D-4DC4-B60B-616CCF8AA9D6}" sibTransId="{DEB831D7-B709-47D2-BD60-609A53E23A80}"/>
    <dgm:cxn modelId="{D8CC504F-4A2C-4EAB-989B-4D42EF0E6D2B}" type="presOf" srcId="{3F433AC8-FCD2-4D12-96E1-F3BBED3C3E10}" destId="{D60B2264-3F4F-4B70-9DBC-761837D241C9}" srcOrd="0" destOrd="1" presId="urn:microsoft.com/office/officeart/2018/2/layout/IconLabelDescriptionList"/>
    <dgm:cxn modelId="{74132558-76AA-419F-BEF2-CD95C109C021}" type="presOf" srcId="{95BE7C81-4922-405D-97E1-68B3EFA1EE45}" destId="{9CC0D266-E6CE-49F6-8032-9330CEABCD5E}" srcOrd="0" destOrd="1" presId="urn:microsoft.com/office/officeart/2018/2/layout/IconLabelDescriptionList"/>
    <dgm:cxn modelId="{ECF2057F-C687-4AB3-847E-2A545239236C}" srcId="{1B8CA7A7-9414-4DE8-8360-3C4B3D548CFF}" destId="{44457196-26C7-498A-8664-FD60E45F9E7B}" srcOrd="0" destOrd="0" parTransId="{DEFBFE61-E044-48B2-8C5E-62E78A800C2D}" sibTransId="{FC9DFC0C-F53E-4988-8BDA-7D22E21B6596}"/>
    <dgm:cxn modelId="{82DE9282-5588-4DD6-9D77-A627E21A9981}" srcId="{1B8CA7A7-9414-4DE8-8360-3C4B3D548CFF}" destId="{83AA6C40-F63F-4452-AA16-271DFE69515C}" srcOrd="1" destOrd="0" parTransId="{2545A345-94CB-4A42-9236-F5648819AD75}" sibTransId="{C240F929-79B8-44FB-A543-FE1BC6E44D82}"/>
    <dgm:cxn modelId="{D0C7C498-C449-4344-B016-95A87AFF344B}" srcId="{122D79E5-8EF3-43C3-9F99-E492B3D18FB7}" destId="{84AAB1E9-B9F0-449B-94AF-B41BD2EE7D98}" srcOrd="1" destOrd="0" parTransId="{A8C76B29-EA27-4DCE-913E-254651D2DA0B}" sibTransId="{AADDDD80-4987-4E46-819A-6D5C249B86B7}"/>
    <dgm:cxn modelId="{65729EAF-EDAA-4EEB-B95A-69161A3177D0}" srcId="{0E404482-2CAF-491A-83DA-35122794BF79}" destId="{533C316C-2263-4AC8-8B25-3585C1BF7B26}" srcOrd="0" destOrd="0" parTransId="{6FE90ACE-FDFE-453C-9C28-0D641A85D1DC}" sibTransId="{974C1F56-84FF-46C3-A7BA-256CE0E19ADA}"/>
    <dgm:cxn modelId="{A99893BF-76D2-4413-A76E-FC28C256D401}" type="presOf" srcId="{D77D9118-1AD9-4A72-AEBB-977ED365CAD1}" destId="{D60B2264-3F4F-4B70-9DBC-761837D241C9}" srcOrd="0" destOrd="0" presId="urn:microsoft.com/office/officeart/2018/2/layout/IconLabelDescriptionList"/>
    <dgm:cxn modelId="{173B25C1-8F5B-417E-8072-B5E2C4ACE397}" type="presOf" srcId="{122D79E5-8EF3-43C3-9F99-E492B3D18FB7}" destId="{9CC0D266-E6CE-49F6-8032-9330CEABCD5E}" srcOrd="0" destOrd="0" presId="urn:microsoft.com/office/officeart/2018/2/layout/IconLabelDescriptionList"/>
    <dgm:cxn modelId="{4A45A6C6-72A5-41A1-80A1-8B88CA494B6C}" type="presOf" srcId="{6C95F70E-32BC-4A6B-BA54-F69117A98B1D}" destId="{D60B2264-3F4F-4B70-9DBC-761837D241C9}" srcOrd="0" destOrd="2" presId="urn:microsoft.com/office/officeart/2018/2/layout/IconLabelDescriptionList"/>
    <dgm:cxn modelId="{9DCE91CF-FE24-4E21-938E-78C628F25382}" type="presOf" srcId="{0E80CA6C-CF5A-4A6A-AA02-07D911DCF5C3}" destId="{8522DD47-B473-43CC-9227-DE4AF622B637}" srcOrd="0" destOrd="0" presId="urn:microsoft.com/office/officeart/2018/2/layout/IconLabelDescriptionList"/>
    <dgm:cxn modelId="{81A7CED4-4CC4-4AC1-AEC6-156C42329EE9}" srcId="{D77D9118-1AD9-4A72-AEBB-977ED365CAD1}" destId="{6C95F70E-32BC-4A6B-BA54-F69117A98B1D}" srcOrd="1" destOrd="0" parTransId="{698BAD7C-6F5A-42DA-B796-987C21FD4689}" sibTransId="{B356CB1C-5D0B-4DC7-8505-38358FFF1877}"/>
    <dgm:cxn modelId="{A23786F7-E45E-44F4-B340-B9831888D3B0}" type="presOf" srcId="{533C316C-2263-4AC8-8B25-3585C1BF7B26}" destId="{F1B158EB-A77C-4312-AE9A-1052B56FDE8D}" srcOrd="0" destOrd="1" presId="urn:microsoft.com/office/officeart/2018/2/layout/IconLabelDescriptionList"/>
    <dgm:cxn modelId="{065C51F8-E1E7-4354-AF41-5148CCF92E06}" srcId="{122D79E5-8EF3-43C3-9F99-E492B3D18FB7}" destId="{95BE7C81-4922-405D-97E1-68B3EFA1EE45}" srcOrd="0" destOrd="0" parTransId="{12A2834A-AADD-4E7F-83C0-B0B08C34817E}" sibTransId="{8CDCD303-D319-4E87-8ACE-6F45B2671F9F}"/>
    <dgm:cxn modelId="{5C9B5110-D5D8-4D2A-A9B7-C2B1575B5695}" type="presParOf" srcId="{33E5FC23-FCB3-47D5-A0B3-A7B358CBBB8C}" destId="{E377C306-F43B-416D-BD89-7C4A42697F39}" srcOrd="0" destOrd="0" presId="urn:microsoft.com/office/officeart/2018/2/layout/IconLabelDescriptionList"/>
    <dgm:cxn modelId="{6D5C2FD5-A362-4ED4-BA4B-D85E6A77C6F6}" type="presParOf" srcId="{E377C306-F43B-416D-BD89-7C4A42697F39}" destId="{9F862230-5434-4F3C-BBD5-17839C50E47A}" srcOrd="0" destOrd="0" presId="urn:microsoft.com/office/officeart/2018/2/layout/IconLabelDescriptionList"/>
    <dgm:cxn modelId="{260F066D-CE03-494B-8548-CF2C30A5D9D3}" type="presParOf" srcId="{E377C306-F43B-416D-BD89-7C4A42697F39}" destId="{120E37C6-87CB-49D5-BD61-63F382F057B5}" srcOrd="1" destOrd="0" presId="urn:microsoft.com/office/officeart/2018/2/layout/IconLabelDescriptionList"/>
    <dgm:cxn modelId="{7620A558-F0E9-4618-8D10-AFBCDD3A2B32}" type="presParOf" srcId="{E377C306-F43B-416D-BD89-7C4A42697F39}" destId="{009C2165-09DA-4DA0-9D45-F766243B505C}" srcOrd="2" destOrd="0" presId="urn:microsoft.com/office/officeart/2018/2/layout/IconLabelDescriptionList"/>
    <dgm:cxn modelId="{427199B4-FFE0-49DA-8E45-17E68A596FE5}" type="presParOf" srcId="{E377C306-F43B-416D-BD89-7C4A42697F39}" destId="{5AF13AB9-8BED-4030-9BB6-98F40F454C84}" srcOrd="3" destOrd="0" presId="urn:microsoft.com/office/officeart/2018/2/layout/IconLabelDescriptionList"/>
    <dgm:cxn modelId="{9BDED4BD-A5F6-4AEC-984D-932E291B3EE7}" type="presParOf" srcId="{E377C306-F43B-416D-BD89-7C4A42697F39}" destId="{F1B158EB-A77C-4312-AE9A-1052B56FDE8D}" srcOrd="4" destOrd="0" presId="urn:microsoft.com/office/officeart/2018/2/layout/IconLabelDescriptionList"/>
    <dgm:cxn modelId="{C8A7E634-5A96-4242-B9E0-125777C645CD}" type="presParOf" srcId="{33E5FC23-FCB3-47D5-A0B3-A7B358CBBB8C}" destId="{DA02EE25-2665-4124-8062-1952F16B2E3F}" srcOrd="1" destOrd="0" presId="urn:microsoft.com/office/officeart/2018/2/layout/IconLabelDescriptionList"/>
    <dgm:cxn modelId="{9A6093B5-03F7-4889-8FC2-2D147F3D14A2}" type="presParOf" srcId="{33E5FC23-FCB3-47D5-A0B3-A7B358CBBB8C}" destId="{5CA7A7FA-7B17-4565-8718-2723B9024732}" srcOrd="2" destOrd="0" presId="urn:microsoft.com/office/officeart/2018/2/layout/IconLabelDescriptionList"/>
    <dgm:cxn modelId="{4C6875C6-2A58-4331-9F41-DA6551CA8CE1}" type="presParOf" srcId="{5CA7A7FA-7B17-4565-8718-2723B9024732}" destId="{863EFA6B-F374-49F0-A9B1-B05AC7D10C7C}" srcOrd="0" destOrd="0" presId="urn:microsoft.com/office/officeart/2018/2/layout/IconLabelDescriptionList"/>
    <dgm:cxn modelId="{D9743705-B78A-4819-8354-54A35ED4A4A6}" type="presParOf" srcId="{5CA7A7FA-7B17-4565-8718-2723B9024732}" destId="{22F069D7-028A-441A-82DF-9CD57A6A7FD7}" srcOrd="1" destOrd="0" presId="urn:microsoft.com/office/officeart/2018/2/layout/IconLabelDescriptionList"/>
    <dgm:cxn modelId="{05AB8F87-B2BA-4521-9296-2A1C74DF5E0C}" type="presParOf" srcId="{5CA7A7FA-7B17-4565-8718-2723B9024732}" destId="{657CCEF0-A27B-4394-8359-3DCBB8C3E440}" srcOrd="2" destOrd="0" presId="urn:microsoft.com/office/officeart/2018/2/layout/IconLabelDescriptionList"/>
    <dgm:cxn modelId="{5C6CC6B7-A55A-4847-BE1B-90BF3938836A}" type="presParOf" srcId="{5CA7A7FA-7B17-4565-8718-2723B9024732}" destId="{FD06AA58-842F-4B9E-A52C-47EBD959B687}" srcOrd="3" destOrd="0" presId="urn:microsoft.com/office/officeart/2018/2/layout/IconLabelDescriptionList"/>
    <dgm:cxn modelId="{62ACF35B-E17E-4C38-9632-8B38EC522960}" type="presParOf" srcId="{5CA7A7FA-7B17-4565-8718-2723B9024732}" destId="{9CC0D266-E6CE-49F6-8032-9330CEABCD5E}" srcOrd="4" destOrd="0" presId="urn:microsoft.com/office/officeart/2018/2/layout/IconLabelDescriptionList"/>
    <dgm:cxn modelId="{C1918F9D-DAB9-4FBA-AC8B-EA7E8AA6C3DC}" type="presParOf" srcId="{33E5FC23-FCB3-47D5-A0B3-A7B358CBBB8C}" destId="{F4BFE0C8-9A5D-446B-AEB8-330CD3212EFC}" srcOrd="3" destOrd="0" presId="urn:microsoft.com/office/officeart/2018/2/layout/IconLabelDescriptionList"/>
    <dgm:cxn modelId="{9606F8E3-7069-4C5C-9379-94567EF70839}" type="presParOf" srcId="{33E5FC23-FCB3-47D5-A0B3-A7B358CBBB8C}" destId="{41E8B928-CA98-4AEF-BF95-2EBF94C8260E}" srcOrd="4" destOrd="0" presId="urn:microsoft.com/office/officeart/2018/2/layout/IconLabelDescriptionList"/>
    <dgm:cxn modelId="{602328DF-0B42-4221-BA92-6B9A2275DAE8}" type="presParOf" srcId="{41E8B928-CA98-4AEF-BF95-2EBF94C8260E}" destId="{E4B2F965-4450-4401-B4A5-A9042E3A067F}" srcOrd="0" destOrd="0" presId="urn:microsoft.com/office/officeart/2018/2/layout/IconLabelDescriptionList"/>
    <dgm:cxn modelId="{3636A6B0-7D0D-4372-944F-DDE419ABDFFB}" type="presParOf" srcId="{41E8B928-CA98-4AEF-BF95-2EBF94C8260E}" destId="{EBE66E69-0434-4A8A-84F6-EBECC8FD8227}" srcOrd="1" destOrd="0" presId="urn:microsoft.com/office/officeart/2018/2/layout/IconLabelDescriptionList"/>
    <dgm:cxn modelId="{BFBA1E4A-645F-458D-BFD5-74EC8950406C}" type="presParOf" srcId="{41E8B928-CA98-4AEF-BF95-2EBF94C8260E}" destId="{8522DD47-B473-43CC-9227-DE4AF622B637}" srcOrd="2" destOrd="0" presId="urn:microsoft.com/office/officeart/2018/2/layout/IconLabelDescriptionList"/>
    <dgm:cxn modelId="{3E54519A-358C-42B3-A1B4-2D947FC4CB88}" type="presParOf" srcId="{41E8B928-CA98-4AEF-BF95-2EBF94C8260E}" destId="{4DA5ACBC-1C59-42DF-BB67-12E258F55570}" srcOrd="3" destOrd="0" presId="urn:microsoft.com/office/officeart/2018/2/layout/IconLabelDescriptionList"/>
    <dgm:cxn modelId="{02DF66B0-9086-40EB-BDDC-09A61581A02F}" type="presParOf" srcId="{41E8B928-CA98-4AEF-BF95-2EBF94C8260E}" destId="{D60B2264-3F4F-4B70-9DBC-761837D241C9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9DC656-56EB-4358-8C92-EAD9C4AD92A5}">
      <dsp:nvSpPr>
        <dsp:cNvPr id="0" name=""/>
        <dsp:cNvSpPr/>
      </dsp:nvSpPr>
      <dsp:spPr>
        <a:xfrm>
          <a:off x="2561" y="91431"/>
          <a:ext cx="2497179" cy="90174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1" kern="1200"/>
            <a:t>Engineering Strategy</a:t>
          </a:r>
          <a:endParaRPr lang="en-US" sz="1800" kern="1200"/>
        </a:p>
      </dsp:txBody>
      <dsp:txXfrm>
        <a:off x="2561" y="91431"/>
        <a:ext cx="2497179" cy="901745"/>
      </dsp:txXfrm>
    </dsp:sp>
    <dsp:sp modelId="{A17C36CA-36B0-4BEC-82E5-677834E2AB37}">
      <dsp:nvSpPr>
        <dsp:cNvPr id="0" name=""/>
        <dsp:cNvSpPr/>
      </dsp:nvSpPr>
      <dsp:spPr>
        <a:xfrm>
          <a:off x="2561" y="993176"/>
          <a:ext cx="2497179" cy="3108197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I have created an “Offline-Online” architecture to make sure the system is scalable. Processing 18,000 images is computationally heavy so I have separated the “</a:t>
          </a:r>
          <a:r>
            <a:rPr lang="en-US" sz="1800" kern="1200" dirty="0" err="1"/>
            <a:t>maths</a:t>
          </a:r>
          <a:r>
            <a:rPr lang="en-US" sz="1800" kern="1200" dirty="0"/>
            <a:t>” from the “interface”.</a:t>
          </a:r>
        </a:p>
      </dsp:txBody>
      <dsp:txXfrm>
        <a:off x="2561" y="993176"/>
        <a:ext cx="2497179" cy="3108197"/>
      </dsp:txXfrm>
    </dsp:sp>
    <dsp:sp modelId="{A58476C1-430F-45DF-8BC9-4B59B6884B2E}">
      <dsp:nvSpPr>
        <dsp:cNvPr id="0" name=""/>
        <dsp:cNvSpPr/>
      </dsp:nvSpPr>
      <dsp:spPr>
        <a:xfrm>
          <a:off x="2849345" y="91431"/>
          <a:ext cx="2497179" cy="901745"/>
        </a:xfrm>
        <a:prstGeom prst="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accent2">
              <a:hueOff val="2340759"/>
              <a:satOff val="-2919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1" kern="1200"/>
            <a:t>Phase A: The Offline Engine (Backend)</a:t>
          </a:r>
          <a:endParaRPr lang="en-US" sz="1800" kern="1200"/>
        </a:p>
      </dsp:txBody>
      <dsp:txXfrm>
        <a:off x="2849345" y="91431"/>
        <a:ext cx="2497179" cy="901745"/>
      </dsp:txXfrm>
    </dsp:sp>
    <dsp:sp modelId="{F667A468-633A-4395-84DD-0C959CFDF2C4}">
      <dsp:nvSpPr>
        <dsp:cNvPr id="0" name=""/>
        <dsp:cNvSpPr/>
      </dsp:nvSpPr>
      <dsp:spPr>
        <a:xfrm>
          <a:off x="2849345" y="993176"/>
          <a:ext cx="2497179" cy="3108197"/>
        </a:xfrm>
        <a:prstGeom prst="rect">
          <a:avLst/>
        </a:prstGeom>
        <a:solidFill>
          <a:schemeClr val="accent2">
            <a:tint val="40000"/>
            <a:alpha val="90000"/>
            <a:hueOff val="2512910"/>
            <a:satOff val="-2189"/>
            <a:lumOff val="-3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2512910"/>
              <a:satOff val="-2189"/>
              <a:lumOff val="-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This pipeline ingests the raw </a:t>
          </a:r>
          <a:r>
            <a:rPr lang="en-US" sz="1800" kern="1200" dirty="0" err="1"/>
            <a:t>CrisisMMD</a:t>
          </a:r>
          <a:r>
            <a:rPr lang="en-US" sz="1800" kern="1200" dirty="0"/>
            <a:t> data, cleans it, and feeds it through the CLIP model.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It outputs a lightweight set of vector coordinates (.</a:t>
          </a:r>
          <a:r>
            <a:rPr lang="en-US" sz="1800" kern="1200" dirty="0" err="1"/>
            <a:t>npy</a:t>
          </a:r>
          <a:r>
            <a:rPr lang="en-US" sz="1800" kern="1200" dirty="0"/>
            <a:t> files) rather than processing images in real-time.</a:t>
          </a:r>
        </a:p>
      </dsp:txBody>
      <dsp:txXfrm>
        <a:off x="2849345" y="993176"/>
        <a:ext cx="2497179" cy="3108197"/>
      </dsp:txXfrm>
    </dsp:sp>
    <dsp:sp modelId="{343F43F1-27C9-4ACA-9AA6-BED00EACF0E3}">
      <dsp:nvSpPr>
        <dsp:cNvPr id="0" name=""/>
        <dsp:cNvSpPr/>
      </dsp:nvSpPr>
      <dsp:spPr>
        <a:xfrm>
          <a:off x="5696130" y="91431"/>
          <a:ext cx="2497179" cy="901745"/>
        </a:xfrm>
        <a:prstGeom prst="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accent2">
              <a:hueOff val="4681519"/>
              <a:satOff val="-5839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800" b="1" kern="1200"/>
            <a:t>Phase B: The Online Visualisation (Frontend)</a:t>
          </a:r>
          <a:endParaRPr lang="en-US" sz="1800" kern="1200"/>
        </a:p>
      </dsp:txBody>
      <dsp:txXfrm>
        <a:off x="5696130" y="91431"/>
        <a:ext cx="2497179" cy="901745"/>
      </dsp:txXfrm>
    </dsp:sp>
    <dsp:sp modelId="{D3EA047B-3025-496C-8CEA-EA993508DAA7}">
      <dsp:nvSpPr>
        <dsp:cNvPr id="0" name=""/>
        <dsp:cNvSpPr/>
      </dsp:nvSpPr>
      <dsp:spPr>
        <a:xfrm>
          <a:off x="5696130" y="993176"/>
          <a:ext cx="2497179" cy="3108197"/>
        </a:xfrm>
        <a:prstGeom prst="rect">
          <a:avLst/>
        </a:prstGeom>
        <a:solidFill>
          <a:schemeClr val="accent2">
            <a:tint val="40000"/>
            <a:alpha val="90000"/>
            <a:hueOff val="5025821"/>
            <a:satOff val="-4378"/>
            <a:lumOff val="-6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5025821"/>
              <a:satOff val="-4378"/>
              <a:lumOff val="-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6012" tIns="96012" rIns="128016" bIns="144018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/>
            <a:t>I am using Dash and Plotly to build the user interface.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800" kern="1200"/>
            <a:t>A lot of the h</a:t>
          </a:r>
          <a:r>
            <a:rPr lang="en-US" sz="1800" kern="1200"/>
            <a:t>eavy lifting is done offline, the dashboard remains responsive and fast, allowing for smooth user interaction on standard hardware.</a:t>
          </a:r>
        </a:p>
      </dsp:txBody>
      <dsp:txXfrm>
        <a:off x="5696130" y="993176"/>
        <a:ext cx="2497179" cy="310819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1DBDAA-FDE0-49A3-8C47-CBF882A2F402}">
      <dsp:nvSpPr>
        <dsp:cNvPr id="0" name=""/>
        <dsp:cNvSpPr/>
      </dsp:nvSpPr>
      <dsp:spPr>
        <a:xfrm>
          <a:off x="4621" y="312173"/>
          <a:ext cx="390169" cy="39016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4E9FF5-0285-47D5-8392-7F2EBD51C2C5}">
      <dsp:nvSpPr>
        <dsp:cNvPr id="0" name=""/>
        <dsp:cNvSpPr/>
      </dsp:nvSpPr>
      <dsp:spPr>
        <a:xfrm>
          <a:off x="4621" y="833612"/>
          <a:ext cx="1114769" cy="3971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kern="1200"/>
            <a:t>Data Ingestion Pipeline</a:t>
          </a:r>
          <a:endParaRPr lang="en-US" sz="1400" kern="1200"/>
        </a:p>
      </dsp:txBody>
      <dsp:txXfrm>
        <a:off x="4621" y="833612"/>
        <a:ext cx="1114769" cy="397136"/>
      </dsp:txXfrm>
    </dsp:sp>
    <dsp:sp modelId="{D5AEC95B-FB99-46A8-B755-D833BAD091E9}">
      <dsp:nvSpPr>
        <dsp:cNvPr id="0" name=""/>
        <dsp:cNvSpPr/>
      </dsp:nvSpPr>
      <dsp:spPr>
        <a:xfrm>
          <a:off x="4621" y="1291804"/>
          <a:ext cx="1114769" cy="20731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I have successfully ingested the full </a:t>
          </a:r>
          <a:r>
            <a:rPr lang="en-US" sz="1100" kern="1200" dirty="0" err="1"/>
            <a:t>CrisisMMD</a:t>
          </a:r>
          <a:r>
            <a:rPr lang="en-US" sz="1100" kern="1200" dirty="0"/>
            <a:t> dataset (</a:t>
          </a:r>
          <a:r>
            <a:rPr lang="en-US" sz="1100" kern="1200" dirty="0" err="1"/>
            <a:t>approx</a:t>
          </a:r>
          <a:r>
            <a:rPr lang="en-US" sz="1100" kern="1200" dirty="0"/>
            <a:t> 18,000 images).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I made a custom cleaning script to handle data corruption making sure only valid images are passed to the model.</a:t>
          </a:r>
        </a:p>
      </dsp:txBody>
      <dsp:txXfrm>
        <a:off x="4621" y="1291804"/>
        <a:ext cx="1114769" cy="2073145"/>
      </dsp:txXfrm>
    </dsp:sp>
    <dsp:sp modelId="{CFB0A4DA-7235-4F11-8C5B-C56202322736}">
      <dsp:nvSpPr>
        <dsp:cNvPr id="0" name=""/>
        <dsp:cNvSpPr/>
      </dsp:nvSpPr>
      <dsp:spPr>
        <a:xfrm>
          <a:off x="1314476" y="312173"/>
          <a:ext cx="390169" cy="39016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F5C936-1F7D-4A28-A029-3CD17F3F71DE}">
      <dsp:nvSpPr>
        <dsp:cNvPr id="0" name=""/>
        <dsp:cNvSpPr/>
      </dsp:nvSpPr>
      <dsp:spPr>
        <a:xfrm>
          <a:off x="1314476" y="833612"/>
          <a:ext cx="1114769" cy="3971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kern="1200"/>
            <a:t>Validation Prototype (V4)</a:t>
          </a:r>
          <a:endParaRPr lang="en-US" sz="1400" kern="1200"/>
        </a:p>
      </dsp:txBody>
      <dsp:txXfrm>
        <a:off x="1314476" y="833612"/>
        <a:ext cx="1114769" cy="397136"/>
      </dsp:txXfrm>
    </dsp:sp>
    <dsp:sp modelId="{36B18EBE-BE54-4584-BE8F-D6D6F015FEE9}">
      <dsp:nvSpPr>
        <dsp:cNvPr id="0" name=""/>
        <dsp:cNvSpPr/>
      </dsp:nvSpPr>
      <dsp:spPr>
        <a:xfrm>
          <a:off x="1314476" y="1291804"/>
          <a:ext cx="1114769" cy="20731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I built a grid-based explorer in Dash to visually verify the quality of the metadata.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This step confirmed that the image resolution (min 200x200px) is sufficient for the CLIP vectorisation process.</a:t>
          </a:r>
        </a:p>
      </dsp:txBody>
      <dsp:txXfrm>
        <a:off x="1314476" y="1291804"/>
        <a:ext cx="1114769" cy="2073145"/>
      </dsp:txXfrm>
    </dsp:sp>
    <dsp:sp modelId="{67B171C7-0DFF-4B24-BA3A-2BDFE4FE489A}">
      <dsp:nvSpPr>
        <dsp:cNvPr id="0" name=""/>
        <dsp:cNvSpPr/>
      </dsp:nvSpPr>
      <dsp:spPr>
        <a:xfrm>
          <a:off x="2624330" y="312173"/>
          <a:ext cx="390169" cy="39016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0EAA71-1713-4EB4-94C3-3E4CB60A230F}">
      <dsp:nvSpPr>
        <dsp:cNvPr id="0" name=""/>
        <dsp:cNvSpPr/>
      </dsp:nvSpPr>
      <dsp:spPr>
        <a:xfrm>
          <a:off x="2624330" y="833612"/>
          <a:ext cx="1114769" cy="3971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b="1" kern="1200"/>
            <a:t>Environment Setup</a:t>
          </a:r>
          <a:endParaRPr lang="en-US" sz="1400" kern="1200"/>
        </a:p>
      </dsp:txBody>
      <dsp:txXfrm>
        <a:off x="2624330" y="833612"/>
        <a:ext cx="1114769" cy="397136"/>
      </dsp:txXfrm>
    </dsp:sp>
    <dsp:sp modelId="{70D0F180-5264-4781-BE31-3D926EE65271}">
      <dsp:nvSpPr>
        <dsp:cNvPr id="0" name=""/>
        <dsp:cNvSpPr/>
      </dsp:nvSpPr>
      <dsp:spPr>
        <a:xfrm>
          <a:off x="2624330" y="1291804"/>
          <a:ext cx="1114769" cy="20731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My local development environment is fully configured with </a:t>
          </a:r>
          <a:r>
            <a:rPr lang="en-US" sz="1100" kern="1200" dirty="0" err="1"/>
            <a:t>PyTorch</a:t>
          </a:r>
          <a:r>
            <a:rPr lang="en-US" sz="1100" kern="1200" dirty="0"/>
            <a:t> and CUDA acceleration to use GPU.</a:t>
          </a:r>
        </a:p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The core </a:t>
          </a:r>
          <a:r>
            <a:rPr lang="en-US" sz="1100" kern="1200" dirty="0" err="1"/>
            <a:t>vectorisation</a:t>
          </a:r>
          <a:r>
            <a:rPr lang="en-US" sz="1100" kern="1200" dirty="0"/>
            <a:t> pipeline is currently running which is the start of Phase 3.</a:t>
          </a:r>
        </a:p>
      </dsp:txBody>
      <dsp:txXfrm>
        <a:off x="2624330" y="1291804"/>
        <a:ext cx="1114769" cy="207314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83CDC9-9AE3-46BA-987F-AE09DB5CC3D2}">
      <dsp:nvSpPr>
        <dsp:cNvPr id="0" name=""/>
        <dsp:cNvSpPr/>
      </dsp:nvSpPr>
      <dsp:spPr>
        <a:xfrm>
          <a:off x="4950" y="100161"/>
          <a:ext cx="1317282" cy="131728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90FEE-15DA-4E37-8A62-291B78717D8C}">
      <dsp:nvSpPr>
        <dsp:cNvPr id="0" name=""/>
        <dsp:cNvSpPr/>
      </dsp:nvSpPr>
      <dsp:spPr>
        <a:xfrm>
          <a:off x="4950" y="1567474"/>
          <a:ext cx="3763664" cy="564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b="1" kern="1200" dirty="0"/>
            <a:t>Challenge 1 - Metadata Inconsistency</a:t>
          </a:r>
          <a:endParaRPr lang="en-US" sz="1900" kern="1200" dirty="0"/>
        </a:p>
      </dsp:txBody>
      <dsp:txXfrm>
        <a:off x="4950" y="1567474"/>
        <a:ext cx="3763664" cy="564549"/>
      </dsp:txXfrm>
    </dsp:sp>
    <dsp:sp modelId="{81FF5D20-3FAE-470D-9D26-4741C1F26B59}">
      <dsp:nvSpPr>
        <dsp:cNvPr id="0" name=""/>
        <dsp:cNvSpPr/>
      </dsp:nvSpPr>
      <dsp:spPr>
        <a:xfrm>
          <a:off x="4950" y="2201806"/>
          <a:ext cx="3763664" cy="1387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I found that about 5% of the images in the dataset had corrupt file headers or missing JSON labels which isn’t suitable.</a:t>
          </a:r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M</a:t>
          </a:r>
          <a:r>
            <a:rPr lang="en-US" sz="1400" kern="1200" dirty="0" err="1"/>
            <a:t>itigation</a:t>
          </a:r>
          <a:r>
            <a:rPr lang="en-US" sz="1400" kern="1200" dirty="0"/>
            <a:t> / fixes: I added a loop with error logging. This make sure the pipeline skips bad files instead of crashing during the long training run.</a:t>
          </a:r>
        </a:p>
      </dsp:txBody>
      <dsp:txXfrm>
        <a:off x="4950" y="2201806"/>
        <a:ext cx="3763664" cy="1387437"/>
      </dsp:txXfrm>
    </dsp:sp>
    <dsp:sp modelId="{34651D93-1753-4C4F-B37B-AFAF3D32FF79}">
      <dsp:nvSpPr>
        <dsp:cNvPr id="0" name=""/>
        <dsp:cNvSpPr/>
      </dsp:nvSpPr>
      <dsp:spPr>
        <a:xfrm>
          <a:off x="4427256" y="100161"/>
          <a:ext cx="1317282" cy="131728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258873-7099-4D9F-A51F-82B89A66C573}">
      <dsp:nvSpPr>
        <dsp:cNvPr id="0" name=""/>
        <dsp:cNvSpPr/>
      </dsp:nvSpPr>
      <dsp:spPr>
        <a:xfrm>
          <a:off x="4427256" y="1567474"/>
          <a:ext cx="3763664" cy="5645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900" b="1" kern="1200" dirty="0"/>
            <a:t>Challenge 2 - Computational Load</a:t>
          </a:r>
          <a:endParaRPr lang="en-US" sz="1900" kern="1200" dirty="0"/>
        </a:p>
      </dsp:txBody>
      <dsp:txXfrm>
        <a:off x="4427256" y="1567474"/>
        <a:ext cx="3763664" cy="564549"/>
      </dsp:txXfrm>
    </dsp:sp>
    <dsp:sp modelId="{886EA068-8572-435F-A649-6CC7A1364551}">
      <dsp:nvSpPr>
        <dsp:cNvPr id="0" name=""/>
        <dsp:cNvSpPr/>
      </dsp:nvSpPr>
      <dsp:spPr>
        <a:xfrm>
          <a:off x="4427256" y="2201806"/>
          <a:ext cx="3763664" cy="138743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kern="1200" dirty="0"/>
            <a:t>Running the </a:t>
          </a:r>
          <a:r>
            <a:rPr lang="en-GB" sz="1400" kern="1200" dirty="0" err="1"/>
            <a:t>ViT</a:t>
          </a:r>
          <a:r>
            <a:rPr lang="en-GB" sz="1400" kern="1200" dirty="0"/>
            <a:t>-B/32 model on 18,000 images exceeds typical local memory limits.</a:t>
          </a:r>
          <a:endParaRPr lang="en-US" sz="1400" kern="1200" dirty="0"/>
        </a:p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Mitigation: I processed the images in batches of 32. I also have a fallback strategy to deploy the script to Google </a:t>
          </a:r>
          <a:r>
            <a:rPr lang="en-US" sz="1400" kern="1200" dirty="0" err="1"/>
            <a:t>Colab's</a:t>
          </a:r>
          <a:r>
            <a:rPr lang="en-US" sz="1400" kern="1200" dirty="0"/>
            <a:t> GPU infrastructure if my local hardware throttles or maybe use the PCs in DAIM.</a:t>
          </a:r>
        </a:p>
      </dsp:txBody>
      <dsp:txXfrm>
        <a:off x="4427256" y="2201806"/>
        <a:ext cx="3763664" cy="138743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862230-5434-4F3C-BBD5-17839C50E47A}">
      <dsp:nvSpPr>
        <dsp:cNvPr id="0" name=""/>
        <dsp:cNvSpPr/>
      </dsp:nvSpPr>
      <dsp:spPr>
        <a:xfrm>
          <a:off x="4621" y="295921"/>
          <a:ext cx="390169" cy="39016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009C2165-09DA-4DA0-9D45-F766243B505C}">
      <dsp:nvSpPr>
        <dsp:cNvPr id="0" name=""/>
        <dsp:cNvSpPr/>
      </dsp:nvSpPr>
      <dsp:spPr>
        <a:xfrm>
          <a:off x="4621" y="818757"/>
          <a:ext cx="1114769" cy="2194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Phase 3</a:t>
          </a:r>
        </a:p>
      </dsp:txBody>
      <dsp:txXfrm>
        <a:off x="4621" y="818757"/>
        <a:ext cx="1114769" cy="219470"/>
      </dsp:txXfrm>
    </dsp:sp>
    <dsp:sp modelId="{F1B158EB-A77C-4312-AE9A-1052B56FDE8D}">
      <dsp:nvSpPr>
        <dsp:cNvPr id="0" name=""/>
        <dsp:cNvSpPr/>
      </dsp:nvSpPr>
      <dsp:spPr>
        <a:xfrm>
          <a:off x="4621" y="1099933"/>
          <a:ext cx="1114769" cy="22812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 (Current - January)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I am currently finishing the full </a:t>
          </a:r>
          <a:r>
            <a:rPr lang="en-US" sz="1100" kern="1200" dirty="0" err="1"/>
            <a:t>vectorisation</a:t>
          </a:r>
          <a:r>
            <a:rPr lang="en-US" sz="1100" kern="1200" dirty="0"/>
            <a:t> process to generate the 512-dimensional embeddings for the entire dataset.</a:t>
          </a:r>
        </a:p>
      </dsp:txBody>
      <dsp:txXfrm>
        <a:off x="4621" y="1099933"/>
        <a:ext cx="1114769" cy="2281267"/>
      </dsp:txXfrm>
    </dsp:sp>
    <dsp:sp modelId="{863EFA6B-F374-49F0-A9B1-B05AC7D10C7C}">
      <dsp:nvSpPr>
        <dsp:cNvPr id="0" name=""/>
        <dsp:cNvSpPr/>
      </dsp:nvSpPr>
      <dsp:spPr>
        <a:xfrm>
          <a:off x="1314476" y="295921"/>
          <a:ext cx="390169" cy="39016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657CCEF0-A27B-4394-8359-3DCBB8C3E440}">
      <dsp:nvSpPr>
        <dsp:cNvPr id="0" name=""/>
        <dsp:cNvSpPr/>
      </dsp:nvSpPr>
      <dsp:spPr>
        <a:xfrm>
          <a:off x="1314476" y="818757"/>
          <a:ext cx="1114769" cy="2194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Phase 4</a:t>
          </a:r>
        </a:p>
      </dsp:txBody>
      <dsp:txXfrm>
        <a:off x="1314476" y="818757"/>
        <a:ext cx="1114769" cy="219470"/>
      </dsp:txXfrm>
    </dsp:sp>
    <dsp:sp modelId="{9CC0D266-E6CE-49F6-8032-9330CEABCD5E}">
      <dsp:nvSpPr>
        <dsp:cNvPr id="0" name=""/>
        <dsp:cNvSpPr/>
      </dsp:nvSpPr>
      <dsp:spPr>
        <a:xfrm>
          <a:off x="1314476" y="1099933"/>
          <a:ext cx="1114769" cy="22812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 (February)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My focus will shift to integration. I will use UMAP to project these vectors into 2D space and connect them to the Dash frontend.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I will add the Cosine Similarity logic to enable the semantic search feature.</a:t>
          </a:r>
        </a:p>
      </dsp:txBody>
      <dsp:txXfrm>
        <a:off x="1314476" y="1099933"/>
        <a:ext cx="1114769" cy="2281267"/>
      </dsp:txXfrm>
    </dsp:sp>
    <dsp:sp modelId="{E4B2F965-4450-4401-B4A5-A9042E3A067F}">
      <dsp:nvSpPr>
        <dsp:cNvPr id="0" name=""/>
        <dsp:cNvSpPr/>
      </dsp:nvSpPr>
      <dsp:spPr>
        <a:xfrm>
          <a:off x="2624330" y="295921"/>
          <a:ext cx="390169" cy="39016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</dsp:sp>
    <dsp:sp modelId="{8522DD47-B473-43CC-9227-DE4AF622B637}">
      <dsp:nvSpPr>
        <dsp:cNvPr id="0" name=""/>
        <dsp:cNvSpPr/>
      </dsp:nvSpPr>
      <dsp:spPr>
        <a:xfrm>
          <a:off x="2624330" y="818757"/>
          <a:ext cx="1114769" cy="2194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400" kern="1200"/>
            <a:t>Phase 5</a:t>
          </a:r>
        </a:p>
      </dsp:txBody>
      <dsp:txXfrm>
        <a:off x="2624330" y="818757"/>
        <a:ext cx="1114769" cy="219470"/>
      </dsp:txXfrm>
    </dsp:sp>
    <dsp:sp modelId="{D60B2264-3F4F-4B70-9DBC-761837D241C9}">
      <dsp:nvSpPr>
        <dsp:cNvPr id="0" name=""/>
        <dsp:cNvSpPr/>
      </dsp:nvSpPr>
      <dsp:spPr>
        <a:xfrm>
          <a:off x="2624330" y="1099933"/>
          <a:ext cx="1114769" cy="22812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/>
            <a:t> (March/April)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I will conduct a quantitative evaluation using Silhouette Scores to measure cluster quality.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 I’ll complete the dissertation write-up.</a:t>
          </a:r>
        </a:p>
      </dsp:txBody>
      <dsp:txXfrm>
        <a:off x="2624330" y="1099933"/>
        <a:ext cx="1114769" cy="22812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2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2.xml"/><Relationship Id="rId5" Type="http://schemas.openxmlformats.org/officeDocument/2006/relationships/diagramLayout" Target="../diagrams/layout2.xml"/><Relationship Id="rId4" Type="http://schemas.openxmlformats.org/officeDocument/2006/relationships/diagramData" Target="../diagrams/data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image" Target="../media/image14.png"/><Relationship Id="rId7" Type="http://schemas.openxmlformats.org/officeDocument/2006/relationships/diagramColors" Target="../diagrams/colors4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DDA8CE9-E0A6-4FF2-823D-D08607606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195564-33B9-434B-9641-764F5905A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D18C537-E336-47C4-836B-C342A230F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-39356" y="1"/>
            <a:ext cx="3196506" cy="2602764"/>
            <a:chOff x="6867015" y="-1"/>
            <a:chExt cx="5324985" cy="3251912"/>
          </a:xfrm>
          <a:solidFill>
            <a:schemeClr val="accent5">
              <a:alpha val="5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81F97D2-9A0D-4CA5-B9AF-27B558BCF1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678A47C-892D-47C9-A5D8-F8860B1B05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D9E8FDFA-59ED-4D6F-BA20-10CDF8436C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58D9A5-8003-4D92-8C05-787C630F75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A1259D8-0C3A-4069-A22F-537BBBB61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620746" y="62352"/>
            <a:ext cx="4521523" cy="6795648"/>
            <a:chOff x="6160995" y="62352"/>
            <a:chExt cx="6028697" cy="6795648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90700B4-CEB5-450F-9EA7-95E355B50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82080" y="81632"/>
              <a:ext cx="6007612" cy="6776368"/>
            </a:xfrm>
            <a:custGeom>
              <a:avLst/>
              <a:gdLst>
                <a:gd name="connsiteX0" fmla="*/ 4493599 w 6007612"/>
                <a:gd name="connsiteY0" fmla="*/ 0 h 6797829"/>
                <a:gd name="connsiteX1" fmla="*/ 5981837 w 6007612"/>
                <a:gd name="connsiteY1" fmla="*/ 314220 h 6797829"/>
                <a:gd name="connsiteX2" fmla="*/ 6007612 w 6007612"/>
                <a:gd name="connsiteY2" fmla="*/ 327088 h 6797829"/>
                <a:gd name="connsiteX3" fmla="*/ 6007612 w 6007612"/>
                <a:gd name="connsiteY3" fmla="*/ 1316637 h 6797829"/>
                <a:gd name="connsiteX4" fmla="*/ 5852405 w 6007612"/>
                <a:gd name="connsiteY4" fmla="*/ 1209899 h 6797829"/>
                <a:gd name="connsiteX5" fmla="*/ 5622498 w 6007612"/>
                <a:gd name="connsiteY5" fmla="*/ 1086619 h 6797829"/>
                <a:gd name="connsiteX6" fmla="*/ 4493032 w 6007612"/>
                <a:gd name="connsiteY6" fmla="*/ 851533 h 6797829"/>
                <a:gd name="connsiteX7" fmla="*/ 3155579 w 6007612"/>
                <a:gd name="connsiteY7" fmla="*/ 1108326 h 6797829"/>
                <a:gd name="connsiteX8" fmla="*/ 1963832 w 6007612"/>
                <a:gd name="connsiteY8" fmla="*/ 1817700 h 6797829"/>
                <a:gd name="connsiteX9" fmla="*/ 1144646 w 6007612"/>
                <a:gd name="connsiteY9" fmla="*/ 2832814 h 6797829"/>
                <a:gd name="connsiteX10" fmla="*/ 851249 w 6007612"/>
                <a:gd name="connsiteY10" fmla="*/ 3998599 h 6797829"/>
                <a:gd name="connsiteX11" fmla="*/ 1336319 w 6007612"/>
                <a:gd name="connsiteY11" fmla="*/ 5057837 h 6797829"/>
                <a:gd name="connsiteX12" fmla="*/ 1597084 w 6007612"/>
                <a:gd name="connsiteY12" fmla="*/ 5424583 h 6797829"/>
                <a:gd name="connsiteX13" fmla="*/ 2591910 w 6007612"/>
                <a:gd name="connsiteY13" fmla="*/ 6440122 h 6797829"/>
                <a:gd name="connsiteX14" fmla="*/ 3899854 w 6007612"/>
                <a:gd name="connsiteY14" fmla="*/ 6780621 h 6797829"/>
                <a:gd name="connsiteX15" fmla="*/ 4741172 w 6007612"/>
                <a:gd name="connsiteY15" fmla="*/ 6563979 h 6797829"/>
                <a:gd name="connsiteX16" fmla="*/ 5649171 w 6007612"/>
                <a:gd name="connsiteY16" fmla="*/ 5938452 h 6797829"/>
                <a:gd name="connsiteX17" fmla="*/ 5873475 w 6007612"/>
                <a:gd name="connsiteY17" fmla="*/ 5764656 h 6797829"/>
                <a:gd name="connsiteX18" fmla="*/ 6007612 w 6007612"/>
                <a:gd name="connsiteY18" fmla="*/ 5660343 h 6797829"/>
                <a:gd name="connsiteX19" fmla="*/ 6007612 w 6007612"/>
                <a:gd name="connsiteY19" fmla="*/ 6737454 h 6797829"/>
                <a:gd name="connsiteX20" fmla="*/ 5929386 w 6007612"/>
                <a:gd name="connsiteY20" fmla="*/ 6797829 h 6797829"/>
                <a:gd name="connsiteX21" fmla="*/ 1656512 w 6007612"/>
                <a:gd name="connsiteY21" fmla="*/ 6797829 h 6797829"/>
                <a:gd name="connsiteX22" fmla="*/ 1630254 w 6007612"/>
                <a:gd name="connsiteY22" fmla="*/ 6775222 h 6797829"/>
                <a:gd name="connsiteX23" fmla="*/ 892250 w 6007612"/>
                <a:gd name="connsiteY23" fmla="*/ 5902700 h 6797829"/>
                <a:gd name="connsiteX24" fmla="*/ 0 w 6007612"/>
                <a:gd name="connsiteY24" fmla="*/ 3998599 h 6797829"/>
                <a:gd name="connsiteX25" fmla="*/ 4493032 w 6007612"/>
                <a:gd name="connsiteY25" fmla="*/ 285 h 679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6007612" h="6797829">
                  <a:moveTo>
                    <a:pt x="4493599" y="0"/>
                  </a:moveTo>
                  <a:cubicBezTo>
                    <a:pt x="5048011" y="0"/>
                    <a:pt x="5546284" y="111886"/>
                    <a:pt x="5981837" y="314220"/>
                  </a:cubicBezTo>
                  <a:lnTo>
                    <a:pt x="6007612" y="327088"/>
                  </a:lnTo>
                  <a:lnTo>
                    <a:pt x="6007612" y="1316637"/>
                  </a:lnTo>
                  <a:lnTo>
                    <a:pt x="5852405" y="1209899"/>
                  </a:lnTo>
                  <a:cubicBezTo>
                    <a:pt x="5778266" y="1164709"/>
                    <a:pt x="5701526" y="1123535"/>
                    <a:pt x="5622498" y="1086619"/>
                  </a:cubicBezTo>
                  <a:cubicBezTo>
                    <a:pt x="5286822" y="930699"/>
                    <a:pt x="4906882" y="851533"/>
                    <a:pt x="4493032" y="851533"/>
                  </a:cubicBezTo>
                  <a:cubicBezTo>
                    <a:pt x="4056201" y="851533"/>
                    <a:pt x="3593263" y="940631"/>
                    <a:pt x="3155579" y="1108326"/>
                  </a:cubicBezTo>
                  <a:cubicBezTo>
                    <a:pt x="2721215" y="1275979"/>
                    <a:pt x="2318305" y="1515819"/>
                    <a:pt x="1963832" y="1817700"/>
                  </a:cubicBezTo>
                  <a:cubicBezTo>
                    <a:pt x="1617657" y="2114360"/>
                    <a:pt x="1334332" y="2465358"/>
                    <a:pt x="1144646" y="2832814"/>
                  </a:cubicBezTo>
                  <a:cubicBezTo>
                    <a:pt x="950561" y="3210060"/>
                    <a:pt x="851249" y="3602202"/>
                    <a:pt x="851249" y="3998599"/>
                  </a:cubicBezTo>
                  <a:cubicBezTo>
                    <a:pt x="851249" y="4377547"/>
                    <a:pt x="999792" y="4597311"/>
                    <a:pt x="1336319" y="5057837"/>
                  </a:cubicBezTo>
                  <a:cubicBezTo>
                    <a:pt x="1420450" y="5173181"/>
                    <a:pt x="1507419" y="5292497"/>
                    <a:pt x="1597084" y="5424583"/>
                  </a:cubicBezTo>
                  <a:cubicBezTo>
                    <a:pt x="1914175" y="5891917"/>
                    <a:pt x="2239493" y="6224189"/>
                    <a:pt x="2591910" y="6440122"/>
                  </a:cubicBezTo>
                  <a:cubicBezTo>
                    <a:pt x="2965467" y="6669393"/>
                    <a:pt x="3393219" y="6780621"/>
                    <a:pt x="3899854" y="6780621"/>
                  </a:cubicBezTo>
                  <a:cubicBezTo>
                    <a:pt x="4187861" y="6780621"/>
                    <a:pt x="4454583" y="6711812"/>
                    <a:pt x="4741172" y="6563979"/>
                  </a:cubicBezTo>
                  <a:cubicBezTo>
                    <a:pt x="5034852" y="6412173"/>
                    <a:pt x="5326263" y="6190848"/>
                    <a:pt x="5649171" y="5938452"/>
                  </a:cubicBezTo>
                  <a:cubicBezTo>
                    <a:pt x="5724931" y="5879291"/>
                    <a:pt x="5800409" y="5821406"/>
                    <a:pt x="5873475" y="5764656"/>
                  </a:cubicBezTo>
                  <a:lnTo>
                    <a:pt x="6007612" y="5660343"/>
                  </a:lnTo>
                  <a:lnTo>
                    <a:pt x="6007612" y="6737454"/>
                  </a:lnTo>
                  <a:lnTo>
                    <a:pt x="5929386" y="6797829"/>
                  </a:lnTo>
                  <a:lnTo>
                    <a:pt x="1656512" y="6797829"/>
                  </a:lnTo>
                  <a:lnTo>
                    <a:pt x="1630254" y="6775222"/>
                  </a:lnTo>
                  <a:cubicBezTo>
                    <a:pt x="1360562" y="6528765"/>
                    <a:pt x="1117699" y="6235219"/>
                    <a:pt x="892250" y="5902700"/>
                  </a:cubicBezTo>
                  <a:cubicBezTo>
                    <a:pt x="459249" y="5264548"/>
                    <a:pt x="0" y="4826722"/>
                    <a:pt x="0" y="3998599"/>
                  </a:cubicBezTo>
                  <a:cubicBezTo>
                    <a:pt x="0" y="1790460"/>
                    <a:pt x="2262336" y="285"/>
                    <a:pt x="4493032" y="2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582300F-F646-4FC3-94FC-0582F4B5E0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60995" y="62352"/>
              <a:ext cx="6028697" cy="6795648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FBB8E8B8-1900-4326-8858-F375F5D8A0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63721" y="81632"/>
              <a:ext cx="6025971" cy="6776368"/>
            </a:xfrm>
            <a:custGeom>
              <a:avLst/>
              <a:gdLst>
                <a:gd name="connsiteX0" fmla="*/ 6025971 w 6025971"/>
                <a:gd name="connsiteY0" fmla="*/ 5825635 h 6797829"/>
                <a:gd name="connsiteX1" fmla="*/ 6025971 w 6025971"/>
                <a:gd name="connsiteY1" fmla="*/ 6723285 h 6797829"/>
                <a:gd name="connsiteX2" fmla="*/ 5929386 w 6025971"/>
                <a:gd name="connsiteY2" fmla="*/ 6797829 h 6797829"/>
                <a:gd name="connsiteX3" fmla="*/ 4560411 w 6025971"/>
                <a:gd name="connsiteY3" fmla="*/ 6797829 h 6797829"/>
                <a:gd name="connsiteX4" fmla="*/ 4597731 w 6025971"/>
                <a:gd name="connsiteY4" fmla="*/ 6785305 h 6797829"/>
                <a:gd name="connsiteX5" fmla="*/ 5736707 w 6025971"/>
                <a:gd name="connsiteY5" fmla="*/ 6050108 h 6797829"/>
                <a:gd name="connsiteX6" fmla="*/ 5960301 w 6025971"/>
                <a:gd name="connsiteY6" fmla="*/ 5876738 h 6797829"/>
                <a:gd name="connsiteX7" fmla="*/ 4493599 w 6025971"/>
                <a:gd name="connsiteY7" fmla="*/ 0 h 6797829"/>
                <a:gd name="connsiteX8" fmla="*/ 5981837 w 6025971"/>
                <a:gd name="connsiteY8" fmla="*/ 314220 h 6797829"/>
                <a:gd name="connsiteX9" fmla="*/ 6025971 w 6025971"/>
                <a:gd name="connsiteY9" fmla="*/ 336254 h 6797829"/>
                <a:gd name="connsiteX10" fmla="*/ 6025971 w 6025971"/>
                <a:gd name="connsiteY10" fmla="*/ 1157325 h 6797829"/>
                <a:gd name="connsiteX11" fmla="*/ 5925889 w 6025971"/>
                <a:gd name="connsiteY11" fmla="*/ 1088522 h 6797829"/>
                <a:gd name="connsiteX12" fmla="*/ 5682227 w 6025971"/>
                <a:gd name="connsiteY12" fmla="*/ 957939 h 6797829"/>
                <a:gd name="connsiteX13" fmla="*/ 4493032 w 6025971"/>
                <a:gd name="connsiteY13" fmla="*/ 709658 h 6797829"/>
                <a:gd name="connsiteX14" fmla="*/ 3104646 w 6025971"/>
                <a:gd name="connsiteY14" fmla="*/ 976666 h 6797829"/>
                <a:gd name="connsiteX15" fmla="*/ 1871612 w 6025971"/>
                <a:gd name="connsiteY15" fmla="*/ 1710017 h 6797829"/>
                <a:gd name="connsiteX16" fmla="*/ 1018661 w 6025971"/>
                <a:gd name="connsiteY16" fmla="*/ 2767694 h 6797829"/>
                <a:gd name="connsiteX17" fmla="*/ 709374 w 6025971"/>
                <a:gd name="connsiteY17" fmla="*/ 3998599 h 6797829"/>
                <a:gd name="connsiteX18" fmla="*/ 1221258 w 6025971"/>
                <a:gd name="connsiteY18" fmla="*/ 5141684 h 6797829"/>
                <a:gd name="connsiteX19" fmla="*/ 1479187 w 6025971"/>
                <a:gd name="connsiteY19" fmla="*/ 5504459 h 6797829"/>
                <a:gd name="connsiteX20" fmla="*/ 3021272 w 6025971"/>
                <a:gd name="connsiteY20" fmla="*/ 6793670 h 6797829"/>
                <a:gd name="connsiteX21" fmla="*/ 3035805 w 6025971"/>
                <a:gd name="connsiteY21" fmla="*/ 6797829 h 6797829"/>
                <a:gd name="connsiteX22" fmla="*/ 1656512 w 6025971"/>
                <a:gd name="connsiteY22" fmla="*/ 6797829 h 6797829"/>
                <a:gd name="connsiteX23" fmla="*/ 1630254 w 6025971"/>
                <a:gd name="connsiteY23" fmla="*/ 6775222 h 6797829"/>
                <a:gd name="connsiteX24" fmla="*/ 892250 w 6025971"/>
                <a:gd name="connsiteY24" fmla="*/ 5902700 h 6797829"/>
                <a:gd name="connsiteX25" fmla="*/ 0 w 6025971"/>
                <a:gd name="connsiteY25" fmla="*/ 3998599 h 6797829"/>
                <a:gd name="connsiteX26" fmla="*/ 4493032 w 6025971"/>
                <a:gd name="connsiteY26" fmla="*/ 285 h 679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025971" h="6797829">
                  <a:moveTo>
                    <a:pt x="6025971" y="5825635"/>
                  </a:moveTo>
                  <a:lnTo>
                    <a:pt x="6025971" y="6723285"/>
                  </a:lnTo>
                  <a:lnTo>
                    <a:pt x="5929386" y="6797829"/>
                  </a:lnTo>
                  <a:lnTo>
                    <a:pt x="4560411" y="6797829"/>
                  </a:lnTo>
                  <a:lnTo>
                    <a:pt x="4597731" y="6785305"/>
                  </a:lnTo>
                  <a:cubicBezTo>
                    <a:pt x="4964953" y="6637825"/>
                    <a:pt x="5315251" y="6379435"/>
                    <a:pt x="5736707" y="6050108"/>
                  </a:cubicBezTo>
                  <a:cubicBezTo>
                    <a:pt x="5812043" y="5991230"/>
                    <a:pt x="5887377" y="5933488"/>
                    <a:pt x="5960301" y="5876738"/>
                  </a:cubicBezTo>
                  <a:close/>
                  <a:moveTo>
                    <a:pt x="4493599" y="0"/>
                  </a:moveTo>
                  <a:cubicBezTo>
                    <a:pt x="5048011" y="0"/>
                    <a:pt x="5546284" y="111886"/>
                    <a:pt x="5981837" y="314220"/>
                  </a:cubicBezTo>
                  <a:lnTo>
                    <a:pt x="6025971" y="336254"/>
                  </a:lnTo>
                  <a:lnTo>
                    <a:pt x="6025971" y="1157325"/>
                  </a:lnTo>
                  <a:lnTo>
                    <a:pt x="5925889" y="1088522"/>
                  </a:lnTo>
                  <a:cubicBezTo>
                    <a:pt x="5847314" y="1040649"/>
                    <a:pt x="5765982" y="997036"/>
                    <a:pt x="5682227" y="957939"/>
                  </a:cubicBezTo>
                  <a:cubicBezTo>
                    <a:pt x="5327823" y="793222"/>
                    <a:pt x="4927595" y="709658"/>
                    <a:pt x="4493032" y="709658"/>
                  </a:cubicBezTo>
                  <a:cubicBezTo>
                    <a:pt x="4031940" y="709658"/>
                    <a:pt x="3564888" y="799465"/>
                    <a:pt x="3104646" y="976666"/>
                  </a:cubicBezTo>
                  <a:cubicBezTo>
                    <a:pt x="2655243" y="1149867"/>
                    <a:pt x="2238358" y="1397822"/>
                    <a:pt x="1871612" y="1710017"/>
                  </a:cubicBezTo>
                  <a:cubicBezTo>
                    <a:pt x="1506427" y="2022852"/>
                    <a:pt x="1219414" y="2378815"/>
                    <a:pt x="1018661" y="2767694"/>
                  </a:cubicBezTo>
                  <a:cubicBezTo>
                    <a:pt x="813368" y="3165227"/>
                    <a:pt x="709374" y="3579358"/>
                    <a:pt x="709374" y="3998599"/>
                  </a:cubicBezTo>
                  <a:cubicBezTo>
                    <a:pt x="709374" y="4421103"/>
                    <a:pt x="875510" y="4667680"/>
                    <a:pt x="1221258" y="5141684"/>
                  </a:cubicBezTo>
                  <a:cubicBezTo>
                    <a:pt x="1304681" y="5256035"/>
                    <a:pt x="1390941" y="5374217"/>
                    <a:pt x="1479187" y="5504459"/>
                  </a:cubicBezTo>
                  <a:cubicBezTo>
                    <a:pt x="1942790" y="6187719"/>
                    <a:pt x="2430063" y="6601673"/>
                    <a:pt x="3021272" y="6793670"/>
                  </a:cubicBezTo>
                  <a:lnTo>
                    <a:pt x="3035805" y="6797829"/>
                  </a:lnTo>
                  <a:lnTo>
                    <a:pt x="1656512" y="6797829"/>
                  </a:lnTo>
                  <a:lnTo>
                    <a:pt x="1630254" y="6775222"/>
                  </a:lnTo>
                  <a:cubicBezTo>
                    <a:pt x="1360562" y="6528765"/>
                    <a:pt x="1117699" y="6235219"/>
                    <a:pt x="892250" y="5902700"/>
                  </a:cubicBezTo>
                  <a:cubicBezTo>
                    <a:pt x="459249" y="5264548"/>
                    <a:pt x="0" y="4826722"/>
                    <a:pt x="0" y="3998599"/>
                  </a:cubicBezTo>
                  <a:cubicBezTo>
                    <a:pt x="0" y="1790460"/>
                    <a:pt x="2262336" y="285"/>
                    <a:pt x="4493032" y="2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1055098"/>
            <a:ext cx="4320539" cy="4747805"/>
          </a:xfrm>
        </p:spPr>
        <p:txBody>
          <a:bodyPr anchor="ctr">
            <a:normAutofit/>
          </a:bodyPr>
          <a:lstStyle/>
          <a:p>
            <a:pPr algn="l">
              <a:defRPr b="1">
                <a:solidFill>
                  <a:srgbClr val="003366"/>
                </a:solidFill>
                <a:latin typeface="Arial"/>
              </a:defRPr>
            </a:pPr>
            <a:r>
              <a:rPr lang="en-GB" sz="3500" dirty="0">
                <a:solidFill>
                  <a:schemeClr val="tx2"/>
                </a:solidFill>
              </a:rPr>
              <a:t>Visualising Natural Disaster Image Embeddings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56767" y="1638300"/>
            <a:ext cx="2497899" cy="3581400"/>
          </a:xfrm>
        </p:spPr>
        <p:txBody>
          <a:bodyPr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GB" sz="2700" dirty="0">
                <a:solidFill>
                  <a:schemeClr val="tx2"/>
                </a:solidFill>
              </a:rPr>
              <a:t>Midway Technical Review</a:t>
            </a:r>
          </a:p>
          <a:p>
            <a:pPr algn="l">
              <a:lnSpc>
                <a:spcPct val="90000"/>
              </a:lnSpc>
            </a:pPr>
            <a:endParaRPr lang="en-GB" sz="2700" dirty="0">
              <a:solidFill>
                <a:schemeClr val="tx2"/>
              </a:solidFill>
            </a:endParaRPr>
          </a:p>
          <a:p>
            <a:pPr algn="l">
              <a:lnSpc>
                <a:spcPct val="90000"/>
              </a:lnSpc>
            </a:pPr>
            <a:r>
              <a:rPr lang="en-GB" sz="2700" dirty="0">
                <a:solidFill>
                  <a:schemeClr val="tx2"/>
                </a:solidFill>
              </a:rPr>
              <a:t>Student / Author: </a:t>
            </a:r>
          </a:p>
          <a:p>
            <a:pPr algn="l">
              <a:lnSpc>
                <a:spcPct val="90000"/>
              </a:lnSpc>
            </a:pPr>
            <a:r>
              <a:rPr lang="en-GB" sz="2700" dirty="0">
                <a:solidFill>
                  <a:schemeClr val="tx2"/>
                </a:solidFill>
              </a:rPr>
              <a:t>Rashid Ahmed Pandor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defRPr sz="3600" b="1">
                <a:solidFill>
                  <a:srgbClr val="003366"/>
                </a:solidFill>
                <a:latin typeface="Arial"/>
              </a:defRPr>
            </a:pPr>
            <a:r>
              <a:rPr lang="en-GB" sz="4300"/>
              <a:t>1. Context and Project Objectives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1677373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929384"/>
            <a:ext cx="7886700" cy="425196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endParaRPr lang="en-GB" sz="1300" dirty="0"/>
          </a:p>
          <a:p>
            <a:pPr>
              <a:lnSpc>
                <a:spcPct val="90000"/>
              </a:lnSpc>
              <a:spcAft>
                <a:spcPts val="1400"/>
              </a:spcAft>
              <a:defRPr sz="2000" b="1">
                <a:latin typeface="Arial"/>
              </a:defRPr>
            </a:pPr>
            <a:r>
              <a:rPr lang="en-GB" sz="1300" dirty="0"/>
              <a:t>The Problem: The Data Deluge</a:t>
            </a:r>
          </a:p>
          <a:p>
            <a:pPr lvl="1">
              <a:lnSpc>
                <a:spcPct val="90000"/>
              </a:lnSpc>
              <a:spcAft>
                <a:spcPts val="1400"/>
              </a:spcAft>
              <a:defRPr sz="2000">
                <a:latin typeface="Arial"/>
              </a:defRPr>
            </a:pPr>
            <a:r>
              <a:rPr lang="en-GB" sz="1300" dirty="0"/>
              <a:t>When a disaster happens, social media is flooded with millions of images. Even though the data is valuable, it makes an information overload that manual teams cannot process in time.</a:t>
            </a:r>
          </a:p>
          <a:p>
            <a:pPr lvl="1">
              <a:lnSpc>
                <a:spcPct val="90000"/>
              </a:lnSpc>
              <a:spcAft>
                <a:spcPts val="1400"/>
              </a:spcAft>
              <a:defRPr sz="2000">
                <a:latin typeface="Arial"/>
              </a:defRPr>
            </a:pPr>
            <a:r>
              <a:rPr lang="en-GB" sz="1300" dirty="0"/>
              <a:t>Current AI solutions (for example CNNs) aren’t suitable because they rely on supervised labels. They fail when they see a new type of disaster they haven't been trained on.</a:t>
            </a:r>
          </a:p>
          <a:p>
            <a:pPr>
              <a:lnSpc>
                <a:spcPct val="90000"/>
              </a:lnSpc>
              <a:spcAft>
                <a:spcPts val="1400"/>
              </a:spcAft>
              <a:defRPr sz="2000" b="1">
                <a:latin typeface="Arial"/>
              </a:defRPr>
            </a:pPr>
            <a:r>
              <a:rPr lang="en-GB" sz="1300" dirty="0"/>
              <a:t>My Solution to use unsupervised Multimodal Learning</a:t>
            </a:r>
          </a:p>
          <a:p>
            <a:pPr lvl="1">
              <a:lnSpc>
                <a:spcPct val="90000"/>
              </a:lnSpc>
              <a:spcAft>
                <a:spcPts val="1400"/>
              </a:spcAft>
              <a:defRPr sz="2000">
                <a:latin typeface="Arial"/>
              </a:defRPr>
            </a:pPr>
            <a:r>
              <a:rPr lang="en-GB" sz="1300" dirty="0"/>
              <a:t>I am building a tool that uses CLIP which is open-source to understand the semantic meaning of these images without needing labels.</a:t>
            </a:r>
          </a:p>
          <a:p>
            <a:pPr lvl="1">
              <a:lnSpc>
                <a:spcPct val="90000"/>
              </a:lnSpc>
              <a:spcAft>
                <a:spcPts val="1400"/>
              </a:spcAft>
              <a:defRPr sz="2000">
                <a:latin typeface="Arial"/>
              </a:defRPr>
            </a:pPr>
            <a:r>
              <a:rPr lang="en-GB" sz="1300" dirty="0"/>
              <a:t>By using UMAP for dimensionality reduction, I can visualise the “global structure” of the disaster data which helps responders see patterns instantly.</a:t>
            </a:r>
          </a:p>
          <a:p>
            <a:pPr>
              <a:lnSpc>
                <a:spcPct val="90000"/>
              </a:lnSpc>
              <a:spcAft>
                <a:spcPts val="1400"/>
              </a:spcAft>
              <a:defRPr sz="2000" b="1">
                <a:latin typeface="Arial"/>
              </a:defRPr>
            </a:pPr>
            <a:r>
              <a:rPr lang="en-GB" sz="1300" dirty="0"/>
              <a:t>Core Objective</a:t>
            </a:r>
          </a:p>
          <a:p>
            <a:pPr lvl="1">
              <a:lnSpc>
                <a:spcPct val="90000"/>
              </a:lnSpc>
              <a:spcAft>
                <a:spcPts val="1400"/>
              </a:spcAft>
              <a:defRPr sz="2000">
                <a:latin typeface="Arial"/>
              </a:defRPr>
            </a:pPr>
            <a:r>
              <a:rPr lang="en-GB" sz="1300" dirty="0"/>
              <a:t>I’ll create a Zero-Shot search engine where a user can type “people on a roof” and find relevant images immediately without needing  prior model training.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096642" y="0"/>
            <a:ext cx="3047358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83777" y="-3783778"/>
            <a:ext cx="1576446" cy="9144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7" y="348865"/>
            <a:ext cx="7533018" cy="87772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defRPr sz="3600" b="1">
                <a:solidFill>
                  <a:srgbClr val="003366"/>
                </a:solidFill>
                <a:latin typeface="Arial"/>
              </a:defRPr>
            </a:pPr>
            <a:r>
              <a:rPr lang="en-GB" sz="2700">
                <a:solidFill>
                  <a:srgbClr val="FFFFFF"/>
                </a:solidFill>
              </a:rPr>
              <a:t>2. System Architecture: The Offline-Online Split</a:t>
            </a:r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D9636C9F-AEBF-3A92-61B4-C54D1E3314A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24602421"/>
              </p:ext>
            </p:extLst>
          </p:nvPr>
        </p:nvGraphicFramePr>
        <p:xfrm>
          <a:off x="483042" y="2112579"/>
          <a:ext cx="8195871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922F19F4-FE70-43DC-856F-2CE5F521D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62849"/>
            <a:ext cx="548639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60" y="656150"/>
            <a:ext cx="4193090" cy="14315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723" y="873940"/>
            <a:ext cx="3696218" cy="1035781"/>
          </a:xfrm>
        </p:spPr>
        <p:txBody>
          <a:bodyPr anchor="ctr">
            <a:norm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rPr lang="en-GB" sz="2900"/>
              <a:t>3. Work Completed (Phase 1 &amp; 2)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95ECC94-3D5E-46A7-A7A1-DE807E1563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75813" y="658367"/>
            <a:ext cx="3539537" cy="26791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576DB82-3A42-5716-04B0-7C90ECF8C0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799" y="1144695"/>
            <a:ext cx="3229429" cy="1711597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7E549738-9961-462D-81B7-4A7A446911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75813" y="3530966"/>
            <a:ext cx="3539537" cy="26791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868E894-BF06-219F-B439-754A849D9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99" y="4075075"/>
            <a:ext cx="3229429" cy="1574346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8650" y="6492240"/>
            <a:ext cx="78867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90CFF53-5D6D-37B7-38EA-97D57DDD5C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27253873"/>
              </p:ext>
            </p:extLst>
          </p:nvPr>
        </p:nvGraphicFramePr>
        <p:xfrm>
          <a:off x="783771" y="2524721"/>
          <a:ext cx="3743722" cy="36771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9143999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62114" y="0"/>
            <a:ext cx="3072908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486646" y="-3486043"/>
            <a:ext cx="2170709" cy="9144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7673" y="348865"/>
            <a:ext cx="7288583" cy="1576446"/>
          </a:xfrm>
        </p:spPr>
        <p:txBody>
          <a:bodyPr anchor="ctr">
            <a:norm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rPr lang="en-GB" sz="3500">
                <a:solidFill>
                  <a:srgbClr val="FFFFFF"/>
                </a:solidFill>
              </a:rPr>
              <a:t>4. Risks and Mitigation Strategies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171F026-E3B5-04FC-8D76-1DA9AF0471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94265512"/>
              </p:ext>
            </p:extLst>
          </p:nvPr>
        </p:nvGraphicFramePr>
        <p:xfrm>
          <a:off x="483042" y="2615979"/>
          <a:ext cx="8195871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922F19F4-FE70-43DC-856F-2CE5F521DC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62849"/>
            <a:ext cx="548639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3" name="Rectangle 42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0060" y="656150"/>
            <a:ext cx="4193090" cy="14315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723" y="873940"/>
            <a:ext cx="3696218" cy="1035781"/>
          </a:xfrm>
        </p:spPr>
        <p:txBody>
          <a:bodyPr anchor="ctr">
            <a:normAutofit/>
          </a:bodyPr>
          <a:lstStyle/>
          <a:p>
            <a:pPr>
              <a:defRPr sz="3600" b="1">
                <a:solidFill>
                  <a:srgbClr val="003366"/>
                </a:solidFill>
                <a:latin typeface="Arial"/>
              </a:defRPr>
            </a:pPr>
            <a:r>
              <a:rPr lang="en-GB" sz="2900"/>
              <a:t>5. Project Roadmap and Next Steps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95ECC94-3D5E-46A7-A7A1-DE807E1563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75813" y="658367"/>
            <a:ext cx="3539537" cy="26791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screenshot of a document&#10;&#10;AI-generated content may be incorrect.">
            <a:extLst>
              <a:ext uri="{FF2B5EF4-FFF2-40B4-BE49-F238E27FC236}">
                <a16:creationId xmlns:a16="http://schemas.microsoft.com/office/drawing/2014/main" id="{46664184-B398-B2AB-E3A3-40B0174D8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5184" y="841905"/>
            <a:ext cx="2640658" cy="2317178"/>
          </a:xfrm>
          <a:prstGeom prst="rect">
            <a:avLst/>
          </a:prstGeom>
        </p:spPr>
      </p:pic>
      <p:sp>
        <p:nvSpPr>
          <p:cNvPr id="47" name="Rectangle 46">
            <a:extLst>
              <a:ext uri="{FF2B5EF4-FFF2-40B4-BE49-F238E27FC236}">
                <a16:creationId xmlns:a16="http://schemas.microsoft.com/office/drawing/2014/main" id="{7E549738-9961-462D-81B7-4A7A446911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75813" y="3530966"/>
            <a:ext cx="3539537" cy="26791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03E81237-C392-DEC4-A1FB-F8927904541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386" t="2945" r="2329" b="3217"/>
          <a:stretch>
            <a:fillRect/>
          </a:stretch>
        </p:blipFill>
        <p:spPr bwMode="auto">
          <a:xfrm>
            <a:off x="5130799" y="3733211"/>
            <a:ext cx="3229429" cy="2258074"/>
          </a:xfrm>
          <a:prstGeom prst="rect">
            <a:avLst/>
          </a:prstGeom>
          <a:extLst>
            <a:ext uri="{53640926-AAD7-44D8-BBD7-CCE9431645EC}">
              <a14:shadowObscured xmlns:a14="http://schemas.microsoft.com/office/drawing/2010/main"/>
            </a:ext>
          </a:extLst>
        </p:spPr>
      </p:pic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28650" y="6492240"/>
            <a:ext cx="78867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Content Placeholder 2">
            <a:extLst>
              <a:ext uri="{FF2B5EF4-FFF2-40B4-BE49-F238E27FC236}">
                <a16:creationId xmlns:a16="http://schemas.microsoft.com/office/drawing/2014/main" id="{D6C69EF3-23D7-F044-D953-92A4D67B0D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72962790"/>
              </p:ext>
            </p:extLst>
          </p:nvPr>
        </p:nvGraphicFramePr>
        <p:xfrm>
          <a:off x="783771" y="2524721"/>
          <a:ext cx="3743722" cy="36771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672</Words>
  <Application>Microsoft Office PowerPoint</Application>
  <PresentationFormat>On-screen Show (4:3)</PresentationFormat>
  <Paragraphs>53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Visualising Natural Disaster Image Embeddings</vt:lpstr>
      <vt:lpstr>1. Context and Project Objectives</vt:lpstr>
      <vt:lpstr>2. System Architecture: The Offline-Online Split</vt:lpstr>
      <vt:lpstr>3. Work Completed (Phase 1 &amp; 2)</vt:lpstr>
      <vt:lpstr>4. Risks and Mitigation Strategies</vt:lpstr>
      <vt:lpstr>5. Project Roadmap and 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rashidahmed pandor</cp:lastModifiedBy>
  <cp:revision>8</cp:revision>
  <dcterms:created xsi:type="dcterms:W3CDTF">2013-01-27T09:14:16Z</dcterms:created>
  <dcterms:modified xsi:type="dcterms:W3CDTF">2026-01-28T21:36:03Z</dcterms:modified>
  <cp:category/>
</cp:coreProperties>
</file>