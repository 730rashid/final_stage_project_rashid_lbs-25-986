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2" r:id="rId6"/>
    <p:sldId id="260" r:id="rId7"/>
    <p:sldId id="261"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72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815FE0-2B56-47BE-928E-C89E13D2573A}" type="doc">
      <dgm:prSet loTypeId="urn:microsoft.com/office/officeart/2005/8/layout/hList1" loCatId="list" qsTypeId="urn:microsoft.com/office/officeart/2005/8/quickstyle/simple4" qsCatId="simple" csTypeId="urn:microsoft.com/office/officeart/2005/8/colors/accent2_2" csCatId="accent2" phldr="1"/>
      <dgm:spPr/>
      <dgm:t>
        <a:bodyPr/>
        <a:lstStyle/>
        <a:p>
          <a:endParaRPr lang="en-US"/>
        </a:p>
      </dgm:t>
    </dgm:pt>
    <dgm:pt modelId="{DD289425-1158-4663-A4D9-13BC7578F810}">
      <dgm:prSet/>
      <dgm:spPr/>
      <dgm:t>
        <a:bodyPr/>
        <a:lstStyle/>
        <a:p>
          <a:pPr>
            <a:defRPr b="1"/>
          </a:pPr>
          <a:r>
            <a:rPr lang="en-US" b="1"/>
            <a:t>Engineering Strategy</a:t>
          </a:r>
          <a:endParaRPr lang="en-US"/>
        </a:p>
      </dgm:t>
    </dgm:pt>
    <dgm:pt modelId="{B5F5B40F-5E65-4D7A-AFA6-7D7C356D936E}" type="parTrans" cxnId="{644CECF7-006A-456B-B653-A55288D50E26}">
      <dgm:prSet/>
      <dgm:spPr/>
      <dgm:t>
        <a:bodyPr/>
        <a:lstStyle/>
        <a:p>
          <a:endParaRPr lang="en-US"/>
        </a:p>
      </dgm:t>
    </dgm:pt>
    <dgm:pt modelId="{BDA1EA66-470F-4B21-BE48-F6AAB388B6DB}" type="sibTrans" cxnId="{644CECF7-006A-456B-B653-A55288D50E26}">
      <dgm:prSet/>
      <dgm:spPr/>
      <dgm:t>
        <a:bodyPr/>
        <a:lstStyle/>
        <a:p>
          <a:endParaRPr lang="en-US"/>
        </a:p>
      </dgm:t>
    </dgm:pt>
    <dgm:pt modelId="{54379A65-8194-4D08-A20B-E8B8E3EB3D9D}">
      <dgm:prSet/>
      <dgm:spPr/>
      <dgm:t>
        <a:bodyPr/>
        <a:lstStyle/>
        <a:p>
          <a:r>
            <a:rPr lang="en-US"/>
            <a:t>I have created an “Offline-Online” architecture to make sure the system is scalable. Processing 18,000 images is computationally heavy so I have separated the “maths” from the “interface”.</a:t>
          </a:r>
        </a:p>
      </dgm:t>
    </dgm:pt>
    <dgm:pt modelId="{14D58431-2B79-4351-9AA7-C3DFB9F481CE}" type="parTrans" cxnId="{6B567EB0-F85C-4C83-B9D0-D3A359FC2A81}">
      <dgm:prSet/>
      <dgm:spPr/>
      <dgm:t>
        <a:bodyPr/>
        <a:lstStyle/>
        <a:p>
          <a:endParaRPr lang="en-US"/>
        </a:p>
      </dgm:t>
    </dgm:pt>
    <dgm:pt modelId="{0E00C01F-40A8-4323-A2A7-8C06EB48A496}" type="sibTrans" cxnId="{6B567EB0-F85C-4C83-B9D0-D3A359FC2A81}">
      <dgm:prSet/>
      <dgm:spPr/>
      <dgm:t>
        <a:bodyPr/>
        <a:lstStyle/>
        <a:p>
          <a:endParaRPr lang="en-US"/>
        </a:p>
      </dgm:t>
    </dgm:pt>
    <dgm:pt modelId="{98E7FCCC-EBC7-4237-BBA1-2A0F76CCC3AF}">
      <dgm:prSet/>
      <dgm:spPr/>
      <dgm:t>
        <a:bodyPr/>
        <a:lstStyle/>
        <a:p>
          <a:pPr>
            <a:defRPr b="1"/>
          </a:pPr>
          <a:r>
            <a:rPr lang="en-US" b="1"/>
            <a:t>The Offline Engine (Backend)</a:t>
          </a:r>
          <a:endParaRPr lang="en-US"/>
        </a:p>
      </dgm:t>
    </dgm:pt>
    <dgm:pt modelId="{9868C9CE-5A5E-41D1-A93E-6385000B6C45}" type="parTrans" cxnId="{010350E2-9035-4692-BB48-7630AB24D16F}">
      <dgm:prSet/>
      <dgm:spPr/>
      <dgm:t>
        <a:bodyPr/>
        <a:lstStyle/>
        <a:p>
          <a:endParaRPr lang="en-US"/>
        </a:p>
      </dgm:t>
    </dgm:pt>
    <dgm:pt modelId="{00B46698-CB55-41B7-8C62-7DEAC89B72F1}" type="sibTrans" cxnId="{010350E2-9035-4692-BB48-7630AB24D16F}">
      <dgm:prSet/>
      <dgm:spPr/>
      <dgm:t>
        <a:bodyPr/>
        <a:lstStyle/>
        <a:p>
          <a:endParaRPr lang="en-US"/>
        </a:p>
      </dgm:t>
    </dgm:pt>
    <dgm:pt modelId="{BED52ADD-553B-4B54-9A87-2505B40E16B9}">
      <dgm:prSet/>
      <dgm:spPr/>
      <dgm:t>
        <a:bodyPr/>
        <a:lstStyle/>
        <a:p>
          <a:r>
            <a:rPr lang="en-US" dirty="0"/>
            <a:t>This pipeline ingests the raw </a:t>
          </a:r>
          <a:r>
            <a:rPr lang="en-US" dirty="0" err="1"/>
            <a:t>CrisisMMD</a:t>
          </a:r>
          <a:r>
            <a:rPr lang="en-US" dirty="0"/>
            <a:t> data, cleans it, and feeds it through the CLIP model.</a:t>
          </a:r>
        </a:p>
      </dgm:t>
    </dgm:pt>
    <dgm:pt modelId="{D478AF3A-A4EB-42A0-8D19-A674557EF40C}" type="parTrans" cxnId="{AAFDB438-7A76-4AE8-84EC-46527A977B73}">
      <dgm:prSet/>
      <dgm:spPr/>
      <dgm:t>
        <a:bodyPr/>
        <a:lstStyle/>
        <a:p>
          <a:endParaRPr lang="en-US"/>
        </a:p>
      </dgm:t>
    </dgm:pt>
    <dgm:pt modelId="{7D09D1FE-CB75-46CA-A373-C711A756BADF}" type="sibTrans" cxnId="{AAFDB438-7A76-4AE8-84EC-46527A977B73}">
      <dgm:prSet/>
      <dgm:spPr/>
      <dgm:t>
        <a:bodyPr/>
        <a:lstStyle/>
        <a:p>
          <a:endParaRPr lang="en-US"/>
        </a:p>
      </dgm:t>
    </dgm:pt>
    <dgm:pt modelId="{19D19966-722A-4C0A-8C6B-A9E2A8814957}">
      <dgm:prSet/>
      <dgm:spPr/>
      <dgm:t>
        <a:bodyPr/>
        <a:lstStyle/>
        <a:p>
          <a:r>
            <a:rPr lang="en-US"/>
            <a:t>It outputs a lightweight set of vector coordinates (.npy files) rather than processing images in real-time.</a:t>
          </a:r>
        </a:p>
      </dgm:t>
    </dgm:pt>
    <dgm:pt modelId="{63D36D03-74B4-444D-A074-DFF725CF4E1A}" type="parTrans" cxnId="{6B77F0ED-FC61-4B0C-800D-C4EFB2BD313F}">
      <dgm:prSet/>
      <dgm:spPr/>
      <dgm:t>
        <a:bodyPr/>
        <a:lstStyle/>
        <a:p>
          <a:endParaRPr lang="en-US"/>
        </a:p>
      </dgm:t>
    </dgm:pt>
    <dgm:pt modelId="{F47E5A32-81DF-4FA1-BC9F-CBA0A0B91E0E}" type="sibTrans" cxnId="{6B77F0ED-FC61-4B0C-800D-C4EFB2BD313F}">
      <dgm:prSet/>
      <dgm:spPr/>
      <dgm:t>
        <a:bodyPr/>
        <a:lstStyle/>
        <a:p>
          <a:endParaRPr lang="en-US"/>
        </a:p>
      </dgm:t>
    </dgm:pt>
    <dgm:pt modelId="{C79BA9C5-8EF6-4B58-BCA1-050253515108}">
      <dgm:prSet/>
      <dgm:spPr/>
      <dgm:t>
        <a:bodyPr/>
        <a:lstStyle/>
        <a:p>
          <a:pPr>
            <a:defRPr b="1"/>
          </a:pPr>
          <a:r>
            <a:rPr lang="en-US" b="1"/>
            <a:t>The Online Visualisation (Frontend)</a:t>
          </a:r>
          <a:endParaRPr lang="en-US"/>
        </a:p>
      </dgm:t>
    </dgm:pt>
    <dgm:pt modelId="{7EC7085B-CFBB-4422-890B-D0CC4B040D6D}" type="parTrans" cxnId="{2E50D693-E3A7-45EA-A405-D59FDC01F038}">
      <dgm:prSet/>
      <dgm:spPr/>
      <dgm:t>
        <a:bodyPr/>
        <a:lstStyle/>
        <a:p>
          <a:endParaRPr lang="en-US"/>
        </a:p>
      </dgm:t>
    </dgm:pt>
    <dgm:pt modelId="{263D3FB0-B8FC-4B25-AD2A-77810B2CC85E}" type="sibTrans" cxnId="{2E50D693-E3A7-45EA-A405-D59FDC01F038}">
      <dgm:prSet/>
      <dgm:spPr/>
      <dgm:t>
        <a:bodyPr/>
        <a:lstStyle/>
        <a:p>
          <a:endParaRPr lang="en-US"/>
        </a:p>
      </dgm:t>
    </dgm:pt>
    <dgm:pt modelId="{74D904A1-1DA3-4058-BD8A-712E01A3636A}">
      <dgm:prSet/>
      <dgm:spPr/>
      <dgm:t>
        <a:bodyPr/>
        <a:lstStyle/>
        <a:p>
          <a:r>
            <a:rPr lang="en-US" dirty="0"/>
            <a:t>I am using Dash and </a:t>
          </a:r>
          <a:r>
            <a:rPr lang="en-US" dirty="0" err="1"/>
            <a:t>Plotly</a:t>
          </a:r>
          <a:r>
            <a:rPr lang="en-US" dirty="0"/>
            <a:t> to build the user interface.</a:t>
          </a:r>
        </a:p>
      </dgm:t>
    </dgm:pt>
    <dgm:pt modelId="{700B4266-0C64-4396-A3D5-D858F04B1467}" type="parTrans" cxnId="{122851DA-B085-46E2-B38E-DF5367001DB1}">
      <dgm:prSet/>
      <dgm:spPr/>
      <dgm:t>
        <a:bodyPr/>
        <a:lstStyle/>
        <a:p>
          <a:endParaRPr lang="en-US"/>
        </a:p>
      </dgm:t>
    </dgm:pt>
    <dgm:pt modelId="{A8508307-0AEC-4653-93A8-D4019864D20D}" type="sibTrans" cxnId="{122851DA-B085-46E2-B38E-DF5367001DB1}">
      <dgm:prSet/>
      <dgm:spPr/>
      <dgm:t>
        <a:bodyPr/>
        <a:lstStyle/>
        <a:p>
          <a:endParaRPr lang="en-US"/>
        </a:p>
      </dgm:t>
    </dgm:pt>
    <dgm:pt modelId="{87EEE5DC-1EED-4313-A5D5-75FD9B0AD5E8}">
      <dgm:prSet/>
      <dgm:spPr/>
      <dgm:t>
        <a:bodyPr/>
        <a:lstStyle/>
        <a:p>
          <a:r>
            <a:rPr lang="en-GB" dirty="0"/>
            <a:t>A lot of the h</a:t>
          </a:r>
          <a:r>
            <a:rPr lang="en-US" dirty="0" err="1"/>
            <a:t>eavy</a:t>
          </a:r>
          <a:r>
            <a:rPr lang="en-US" dirty="0"/>
            <a:t> lifting is done offline, the dashboard remains responsive and fast, allowing for smooth user interaction on standard hardware.</a:t>
          </a:r>
        </a:p>
      </dgm:t>
    </dgm:pt>
    <dgm:pt modelId="{3FDCBD18-99C1-4312-A90A-540D88871EC9}" type="parTrans" cxnId="{2EEA1FB8-7539-40D2-8BDD-D9DAA7321E69}">
      <dgm:prSet/>
      <dgm:spPr/>
      <dgm:t>
        <a:bodyPr/>
        <a:lstStyle/>
        <a:p>
          <a:endParaRPr lang="en-US"/>
        </a:p>
      </dgm:t>
    </dgm:pt>
    <dgm:pt modelId="{53249E29-831D-4E7F-A05E-5E24597D87C5}" type="sibTrans" cxnId="{2EEA1FB8-7539-40D2-8BDD-D9DAA7321E69}">
      <dgm:prSet/>
      <dgm:spPr/>
      <dgm:t>
        <a:bodyPr/>
        <a:lstStyle/>
        <a:p>
          <a:endParaRPr lang="en-US"/>
        </a:p>
      </dgm:t>
    </dgm:pt>
    <dgm:pt modelId="{3E26CA25-5CD9-40DD-868C-866B2E606A25}">
      <dgm:prSet/>
      <dgm:spPr/>
      <dgm:t>
        <a:bodyPr/>
        <a:lstStyle/>
        <a:p>
          <a:r>
            <a:rPr lang="en-GB" b="1" dirty="0"/>
            <a:t>Unsupervised &amp; Multimodal </a:t>
          </a:r>
        </a:p>
      </dgm:t>
    </dgm:pt>
    <dgm:pt modelId="{60128B15-9205-4AF7-A471-644DC9113792}" type="parTrans" cxnId="{355A18C5-281F-4FA4-97E6-989C7DD12294}">
      <dgm:prSet/>
      <dgm:spPr/>
      <dgm:t>
        <a:bodyPr/>
        <a:lstStyle/>
        <a:p>
          <a:endParaRPr lang="en-GB"/>
        </a:p>
      </dgm:t>
    </dgm:pt>
    <dgm:pt modelId="{CD3C5889-203E-458F-81FA-6AECC40CF4E6}" type="sibTrans" cxnId="{355A18C5-281F-4FA4-97E6-989C7DD12294}">
      <dgm:prSet/>
      <dgm:spPr/>
      <dgm:t>
        <a:bodyPr/>
        <a:lstStyle/>
        <a:p>
          <a:endParaRPr lang="en-GB"/>
        </a:p>
      </dgm:t>
    </dgm:pt>
    <dgm:pt modelId="{6DFF8CC7-20F3-417E-ACA1-0EB46C28BE35}">
      <dgm:prSet/>
      <dgm:spPr/>
      <dgm:t>
        <a:bodyPr/>
        <a:lstStyle/>
        <a:p>
          <a:endParaRPr lang="en-GB" dirty="0"/>
        </a:p>
      </dgm:t>
    </dgm:pt>
    <dgm:pt modelId="{E8460B07-CB2F-4E01-BF03-5FBF5B566833}" type="parTrans" cxnId="{2F23F81A-B987-40A1-90AA-63FDDBBD029E}">
      <dgm:prSet/>
      <dgm:spPr/>
      <dgm:t>
        <a:bodyPr/>
        <a:lstStyle/>
        <a:p>
          <a:endParaRPr lang="en-GB"/>
        </a:p>
      </dgm:t>
    </dgm:pt>
    <dgm:pt modelId="{C16355CA-94EC-4657-8463-44A7CBFD3489}" type="sibTrans" cxnId="{2F23F81A-B987-40A1-90AA-63FDDBBD029E}">
      <dgm:prSet/>
      <dgm:spPr/>
      <dgm:t>
        <a:bodyPr/>
        <a:lstStyle/>
        <a:p>
          <a:endParaRPr lang="en-GB"/>
        </a:p>
      </dgm:t>
    </dgm:pt>
    <dgm:pt modelId="{DD53EBCA-E068-4B7C-9C38-21FBFE85F165}">
      <dgm:prSet/>
      <dgm:spPr/>
      <dgm:t>
        <a:bodyPr/>
        <a:lstStyle/>
        <a:p>
          <a:r>
            <a:rPr lang="en-GB" b="1" dirty="0"/>
            <a:t>CLIP: </a:t>
          </a:r>
          <a:r>
            <a:rPr lang="en-GB" dirty="0"/>
            <a:t>- Uses </a:t>
          </a:r>
          <a:r>
            <a:rPr lang="en-GB" dirty="0" err="1"/>
            <a:t>ViT</a:t>
          </a:r>
          <a:r>
            <a:rPr lang="en-GB" dirty="0"/>
            <a:t>-B/32 to extract 512-dimensional semantic vectors - Understands image content without pre-trained labels - Example: Distinguishes 'rescue boat' from 'fishing boat’ </a:t>
          </a:r>
        </a:p>
      </dgm:t>
    </dgm:pt>
    <dgm:pt modelId="{B89022A1-BADA-497D-930F-FDEE74191060}" type="parTrans" cxnId="{103541DB-9002-4EC9-9E6F-B20BA4517F19}">
      <dgm:prSet/>
      <dgm:spPr/>
      <dgm:t>
        <a:bodyPr/>
        <a:lstStyle/>
        <a:p>
          <a:endParaRPr lang="en-GB"/>
        </a:p>
      </dgm:t>
    </dgm:pt>
    <dgm:pt modelId="{FE7D8FEF-5FAF-47CD-9D12-5E20EC526A11}" type="sibTrans" cxnId="{103541DB-9002-4EC9-9E6F-B20BA4517F19}">
      <dgm:prSet/>
      <dgm:spPr/>
      <dgm:t>
        <a:bodyPr/>
        <a:lstStyle/>
        <a:p>
          <a:endParaRPr lang="en-GB"/>
        </a:p>
      </dgm:t>
    </dgm:pt>
    <dgm:pt modelId="{4D32D4A3-7129-4332-933A-A7DEFC11C2DE}">
      <dgm:prSet/>
      <dgm:spPr/>
      <dgm:t>
        <a:bodyPr/>
        <a:lstStyle/>
        <a:p>
          <a:endParaRPr lang="en-GB" b="1" dirty="0"/>
        </a:p>
      </dgm:t>
    </dgm:pt>
    <dgm:pt modelId="{E83D1EC2-96D6-494F-B27A-918727F485B2}" type="parTrans" cxnId="{492A09DB-B2B0-4674-8312-56B7DC2039FB}">
      <dgm:prSet/>
      <dgm:spPr/>
      <dgm:t>
        <a:bodyPr/>
        <a:lstStyle/>
        <a:p>
          <a:endParaRPr lang="en-GB"/>
        </a:p>
      </dgm:t>
    </dgm:pt>
    <dgm:pt modelId="{F280E23A-3A58-498F-8B0B-527A589D6008}" type="sibTrans" cxnId="{492A09DB-B2B0-4674-8312-56B7DC2039FB}">
      <dgm:prSet/>
      <dgm:spPr/>
      <dgm:t>
        <a:bodyPr/>
        <a:lstStyle/>
        <a:p>
          <a:endParaRPr lang="en-GB"/>
        </a:p>
      </dgm:t>
    </dgm:pt>
    <dgm:pt modelId="{EF17271B-3FE0-4D35-BB10-5138D962E7B9}">
      <dgm:prSet/>
      <dgm:spPr/>
      <dgm:t>
        <a:bodyPr/>
        <a:lstStyle/>
        <a:p>
          <a:r>
            <a:rPr lang="en-GB" b="1" dirty="0"/>
            <a:t>UMAP: </a:t>
          </a:r>
          <a:r>
            <a:rPr lang="en-GB" dirty="0"/>
            <a:t>- Projects high-dimensional data into 2D space - Preserves global structure for natural clustering - Shows how disaster events relate to each other</a:t>
          </a:r>
        </a:p>
      </dgm:t>
    </dgm:pt>
    <dgm:pt modelId="{7B54B89C-5643-4796-B831-74A18D77DA4B}" type="parTrans" cxnId="{597BBE61-634E-464D-8F20-A51C8F025D6F}">
      <dgm:prSet/>
      <dgm:spPr/>
      <dgm:t>
        <a:bodyPr/>
        <a:lstStyle/>
        <a:p>
          <a:endParaRPr lang="en-GB"/>
        </a:p>
      </dgm:t>
    </dgm:pt>
    <dgm:pt modelId="{D4AAEFC4-A0E3-44A7-A413-76EFA04CF96A}" type="sibTrans" cxnId="{597BBE61-634E-464D-8F20-A51C8F025D6F}">
      <dgm:prSet/>
      <dgm:spPr/>
      <dgm:t>
        <a:bodyPr/>
        <a:lstStyle/>
        <a:p>
          <a:endParaRPr lang="en-GB"/>
        </a:p>
      </dgm:t>
    </dgm:pt>
    <dgm:pt modelId="{64F339CE-0FF8-45EA-9279-B328285A2AC8}">
      <dgm:prSet/>
      <dgm:spPr/>
      <dgm:t>
        <a:bodyPr/>
        <a:lstStyle/>
        <a:p>
          <a:endParaRPr lang="en-US" dirty="0"/>
        </a:p>
      </dgm:t>
    </dgm:pt>
    <dgm:pt modelId="{E682ACAE-C5BE-499B-9235-B0FDC316BC14}" type="parTrans" cxnId="{B7A521B6-8CBB-4C72-9B36-D50E2D9E427D}">
      <dgm:prSet/>
      <dgm:spPr/>
    </dgm:pt>
    <dgm:pt modelId="{AF86292A-DDD3-43EF-8A1F-71320BABB33C}" type="sibTrans" cxnId="{B7A521B6-8CBB-4C72-9B36-D50E2D9E427D}">
      <dgm:prSet/>
      <dgm:spPr/>
    </dgm:pt>
    <dgm:pt modelId="{91930714-A70A-48DF-9A3C-30E0AA754DD3}">
      <dgm:prSet/>
      <dgm:spPr/>
      <dgm:t>
        <a:bodyPr/>
        <a:lstStyle/>
        <a:p>
          <a:endParaRPr lang="en-US" dirty="0"/>
        </a:p>
      </dgm:t>
    </dgm:pt>
    <dgm:pt modelId="{60A2749E-BE91-4EA2-B7D7-30A39D16D8A0}" type="parTrans" cxnId="{B1D1DBC0-C66B-4D35-A22C-63DD76BFF940}">
      <dgm:prSet/>
      <dgm:spPr/>
    </dgm:pt>
    <dgm:pt modelId="{FAD971DD-9ABB-415D-9E3A-DAA377E9241B}" type="sibTrans" cxnId="{B1D1DBC0-C66B-4D35-A22C-63DD76BFF940}">
      <dgm:prSet/>
      <dgm:spPr/>
    </dgm:pt>
    <dgm:pt modelId="{2A499F7F-7023-41A6-AB5D-E271430675AB}" type="pres">
      <dgm:prSet presAssocID="{D6815FE0-2B56-47BE-928E-C89E13D2573A}" presName="Name0" presStyleCnt="0">
        <dgm:presLayoutVars>
          <dgm:dir/>
          <dgm:animLvl val="lvl"/>
          <dgm:resizeHandles val="exact"/>
        </dgm:presLayoutVars>
      </dgm:prSet>
      <dgm:spPr/>
    </dgm:pt>
    <dgm:pt modelId="{8D93CFB9-FA5B-4224-86AC-41CA42E3B7D3}" type="pres">
      <dgm:prSet presAssocID="{DD289425-1158-4663-A4D9-13BC7578F810}" presName="composite" presStyleCnt="0"/>
      <dgm:spPr/>
    </dgm:pt>
    <dgm:pt modelId="{FBC2EC90-EB92-48F0-94B5-DE096012F297}" type="pres">
      <dgm:prSet presAssocID="{DD289425-1158-4663-A4D9-13BC7578F810}" presName="parTx" presStyleLbl="alignNode1" presStyleIdx="0" presStyleCnt="4">
        <dgm:presLayoutVars>
          <dgm:chMax val="0"/>
          <dgm:chPref val="0"/>
          <dgm:bulletEnabled val="1"/>
        </dgm:presLayoutVars>
      </dgm:prSet>
      <dgm:spPr/>
    </dgm:pt>
    <dgm:pt modelId="{88D68642-6A5A-4DDD-82C5-59D6067362FC}" type="pres">
      <dgm:prSet presAssocID="{DD289425-1158-4663-A4D9-13BC7578F810}" presName="desTx" presStyleLbl="alignAccFollowNode1" presStyleIdx="0" presStyleCnt="4">
        <dgm:presLayoutVars>
          <dgm:bulletEnabled val="1"/>
        </dgm:presLayoutVars>
      </dgm:prSet>
      <dgm:spPr/>
    </dgm:pt>
    <dgm:pt modelId="{FC09F258-48D4-4E33-9D0E-203B2B62F646}" type="pres">
      <dgm:prSet presAssocID="{BDA1EA66-470F-4B21-BE48-F6AAB388B6DB}" presName="space" presStyleCnt="0"/>
      <dgm:spPr/>
    </dgm:pt>
    <dgm:pt modelId="{E12A4682-3A85-473A-BD21-840B6583C15F}" type="pres">
      <dgm:prSet presAssocID="{98E7FCCC-EBC7-4237-BBA1-2A0F76CCC3AF}" presName="composite" presStyleCnt="0"/>
      <dgm:spPr/>
    </dgm:pt>
    <dgm:pt modelId="{80E4757A-4E29-4FC5-A445-2D3B4B81162E}" type="pres">
      <dgm:prSet presAssocID="{98E7FCCC-EBC7-4237-BBA1-2A0F76CCC3AF}" presName="parTx" presStyleLbl="alignNode1" presStyleIdx="1" presStyleCnt="4">
        <dgm:presLayoutVars>
          <dgm:chMax val="0"/>
          <dgm:chPref val="0"/>
          <dgm:bulletEnabled val="1"/>
        </dgm:presLayoutVars>
      </dgm:prSet>
      <dgm:spPr/>
    </dgm:pt>
    <dgm:pt modelId="{C6343B1C-71D9-487E-A001-C15FF722EBDA}" type="pres">
      <dgm:prSet presAssocID="{98E7FCCC-EBC7-4237-BBA1-2A0F76CCC3AF}" presName="desTx" presStyleLbl="alignAccFollowNode1" presStyleIdx="1" presStyleCnt="4">
        <dgm:presLayoutVars>
          <dgm:bulletEnabled val="1"/>
        </dgm:presLayoutVars>
      </dgm:prSet>
      <dgm:spPr/>
    </dgm:pt>
    <dgm:pt modelId="{8D0DA629-B787-4761-9759-32E7BCF55E6A}" type="pres">
      <dgm:prSet presAssocID="{00B46698-CB55-41B7-8C62-7DEAC89B72F1}" presName="space" presStyleCnt="0"/>
      <dgm:spPr/>
    </dgm:pt>
    <dgm:pt modelId="{9D6183E9-6174-4D06-89E6-AAD3608B40F4}" type="pres">
      <dgm:prSet presAssocID="{C79BA9C5-8EF6-4B58-BCA1-050253515108}" presName="composite" presStyleCnt="0"/>
      <dgm:spPr/>
    </dgm:pt>
    <dgm:pt modelId="{137B72E4-77CA-4A6D-9CBF-81F774813F2D}" type="pres">
      <dgm:prSet presAssocID="{C79BA9C5-8EF6-4B58-BCA1-050253515108}" presName="parTx" presStyleLbl="alignNode1" presStyleIdx="2" presStyleCnt="4">
        <dgm:presLayoutVars>
          <dgm:chMax val="0"/>
          <dgm:chPref val="0"/>
          <dgm:bulletEnabled val="1"/>
        </dgm:presLayoutVars>
      </dgm:prSet>
      <dgm:spPr/>
    </dgm:pt>
    <dgm:pt modelId="{A2576744-2271-4C63-A64E-09900380D0FD}" type="pres">
      <dgm:prSet presAssocID="{C79BA9C5-8EF6-4B58-BCA1-050253515108}" presName="desTx" presStyleLbl="alignAccFollowNode1" presStyleIdx="2" presStyleCnt="4">
        <dgm:presLayoutVars>
          <dgm:bulletEnabled val="1"/>
        </dgm:presLayoutVars>
      </dgm:prSet>
      <dgm:spPr/>
    </dgm:pt>
    <dgm:pt modelId="{1D4FB5CE-7BF7-437B-9064-861A58D1844B}" type="pres">
      <dgm:prSet presAssocID="{263D3FB0-B8FC-4B25-AD2A-77810B2CC85E}" presName="space" presStyleCnt="0"/>
      <dgm:spPr/>
    </dgm:pt>
    <dgm:pt modelId="{EA159C35-8054-4C63-B758-E05D44FCF573}" type="pres">
      <dgm:prSet presAssocID="{3E26CA25-5CD9-40DD-868C-866B2E606A25}" presName="composite" presStyleCnt="0"/>
      <dgm:spPr/>
    </dgm:pt>
    <dgm:pt modelId="{08D4987A-5E90-44D1-83A4-8BFF8CA4E80A}" type="pres">
      <dgm:prSet presAssocID="{3E26CA25-5CD9-40DD-868C-866B2E606A25}" presName="parTx" presStyleLbl="alignNode1" presStyleIdx="3" presStyleCnt="4">
        <dgm:presLayoutVars>
          <dgm:chMax val="0"/>
          <dgm:chPref val="0"/>
          <dgm:bulletEnabled val="1"/>
        </dgm:presLayoutVars>
      </dgm:prSet>
      <dgm:spPr/>
    </dgm:pt>
    <dgm:pt modelId="{35774047-59F3-442C-850D-ECE9FE19BDE8}" type="pres">
      <dgm:prSet presAssocID="{3E26CA25-5CD9-40DD-868C-866B2E606A25}" presName="desTx" presStyleLbl="alignAccFollowNode1" presStyleIdx="3" presStyleCnt="4">
        <dgm:presLayoutVars>
          <dgm:bulletEnabled val="1"/>
        </dgm:presLayoutVars>
      </dgm:prSet>
      <dgm:spPr/>
    </dgm:pt>
  </dgm:ptLst>
  <dgm:cxnLst>
    <dgm:cxn modelId="{5CBBB210-4F99-4A6B-A93F-1F48E4FC4823}" type="presOf" srcId="{64F339CE-0FF8-45EA-9279-B328285A2AC8}" destId="{A2576744-2271-4C63-A64E-09900380D0FD}" srcOrd="0" destOrd="1" presId="urn:microsoft.com/office/officeart/2005/8/layout/hList1"/>
    <dgm:cxn modelId="{2F23F81A-B987-40A1-90AA-63FDDBBD029E}" srcId="{3E26CA25-5CD9-40DD-868C-866B2E606A25}" destId="{6DFF8CC7-20F3-417E-ACA1-0EB46C28BE35}" srcOrd="0" destOrd="0" parTransId="{E8460B07-CB2F-4E01-BF03-5FBF5B566833}" sibTransId="{C16355CA-94EC-4657-8463-44A7CBFD3489}"/>
    <dgm:cxn modelId="{588D032F-B7E9-4405-99C6-1EA876808AEF}" type="presOf" srcId="{98E7FCCC-EBC7-4237-BBA1-2A0F76CCC3AF}" destId="{80E4757A-4E29-4FC5-A445-2D3B4B81162E}" srcOrd="0" destOrd="0" presId="urn:microsoft.com/office/officeart/2005/8/layout/hList1"/>
    <dgm:cxn modelId="{4DEFED31-ED77-417F-8E5E-B74C15F19138}" type="presOf" srcId="{91930714-A70A-48DF-9A3C-30E0AA754DD3}" destId="{C6343B1C-71D9-487E-A001-C15FF722EBDA}" srcOrd="0" destOrd="1" presId="urn:microsoft.com/office/officeart/2005/8/layout/hList1"/>
    <dgm:cxn modelId="{AAFDB438-7A76-4AE8-84EC-46527A977B73}" srcId="{98E7FCCC-EBC7-4237-BBA1-2A0F76CCC3AF}" destId="{BED52ADD-553B-4B54-9A87-2505B40E16B9}" srcOrd="0" destOrd="0" parTransId="{D478AF3A-A4EB-42A0-8D19-A674557EF40C}" sibTransId="{7D09D1FE-CB75-46CA-A373-C711A756BADF}"/>
    <dgm:cxn modelId="{02A77540-B661-4300-87C8-D13E2B120B6A}" type="presOf" srcId="{C79BA9C5-8EF6-4B58-BCA1-050253515108}" destId="{137B72E4-77CA-4A6D-9CBF-81F774813F2D}" srcOrd="0" destOrd="0" presId="urn:microsoft.com/office/officeart/2005/8/layout/hList1"/>
    <dgm:cxn modelId="{708A995C-B389-4AA7-9976-E75B45CC86AE}" type="presOf" srcId="{19D19966-722A-4C0A-8C6B-A9E2A8814957}" destId="{C6343B1C-71D9-487E-A001-C15FF722EBDA}" srcOrd="0" destOrd="2" presId="urn:microsoft.com/office/officeart/2005/8/layout/hList1"/>
    <dgm:cxn modelId="{597BBE61-634E-464D-8F20-A51C8F025D6F}" srcId="{3E26CA25-5CD9-40DD-868C-866B2E606A25}" destId="{EF17271B-3FE0-4D35-BB10-5138D962E7B9}" srcOrd="3" destOrd="0" parTransId="{7B54B89C-5643-4796-B831-74A18D77DA4B}" sibTransId="{D4AAEFC4-A0E3-44A7-A413-76EFA04CF96A}"/>
    <dgm:cxn modelId="{E0937B44-260F-4EA6-88A1-B8DF228CC9C5}" type="presOf" srcId="{4D32D4A3-7129-4332-933A-A7DEFC11C2DE}" destId="{35774047-59F3-442C-850D-ECE9FE19BDE8}" srcOrd="0" destOrd="2" presId="urn:microsoft.com/office/officeart/2005/8/layout/hList1"/>
    <dgm:cxn modelId="{AB9CA46F-2B84-483B-A593-652BB709A694}" type="presOf" srcId="{DD289425-1158-4663-A4D9-13BC7578F810}" destId="{FBC2EC90-EB92-48F0-94B5-DE096012F297}" srcOrd="0" destOrd="0" presId="urn:microsoft.com/office/officeart/2005/8/layout/hList1"/>
    <dgm:cxn modelId="{080D2350-49AA-4E0A-8CE9-3C445D666A05}" type="presOf" srcId="{6DFF8CC7-20F3-417E-ACA1-0EB46C28BE35}" destId="{35774047-59F3-442C-850D-ECE9FE19BDE8}" srcOrd="0" destOrd="0" presId="urn:microsoft.com/office/officeart/2005/8/layout/hList1"/>
    <dgm:cxn modelId="{F2A65172-A7A8-47BC-9E6F-069B36E520AC}" type="presOf" srcId="{74D904A1-1DA3-4058-BD8A-712E01A3636A}" destId="{A2576744-2271-4C63-A64E-09900380D0FD}" srcOrd="0" destOrd="0" presId="urn:microsoft.com/office/officeart/2005/8/layout/hList1"/>
    <dgm:cxn modelId="{B1072E57-079A-4840-B84C-706A3F385E57}" type="presOf" srcId="{DD53EBCA-E068-4B7C-9C38-21FBFE85F165}" destId="{35774047-59F3-442C-850D-ECE9FE19BDE8}" srcOrd="0" destOrd="1" presId="urn:microsoft.com/office/officeart/2005/8/layout/hList1"/>
    <dgm:cxn modelId="{2373588E-6FBD-4627-B61D-9C5FE5DC2D68}" type="presOf" srcId="{BED52ADD-553B-4B54-9A87-2505B40E16B9}" destId="{C6343B1C-71D9-487E-A001-C15FF722EBDA}" srcOrd="0" destOrd="0" presId="urn:microsoft.com/office/officeart/2005/8/layout/hList1"/>
    <dgm:cxn modelId="{2E50D693-E3A7-45EA-A405-D59FDC01F038}" srcId="{D6815FE0-2B56-47BE-928E-C89E13D2573A}" destId="{C79BA9C5-8EF6-4B58-BCA1-050253515108}" srcOrd="2" destOrd="0" parTransId="{7EC7085B-CFBB-4422-890B-D0CC4B040D6D}" sibTransId="{263D3FB0-B8FC-4B25-AD2A-77810B2CC85E}"/>
    <dgm:cxn modelId="{34B0ED97-8F01-4CEC-97AF-B56EA6B78882}" type="presOf" srcId="{D6815FE0-2B56-47BE-928E-C89E13D2573A}" destId="{2A499F7F-7023-41A6-AB5D-E271430675AB}" srcOrd="0" destOrd="0" presId="urn:microsoft.com/office/officeart/2005/8/layout/hList1"/>
    <dgm:cxn modelId="{340BA59D-D9B3-44F2-81D6-545DF27580A9}" type="presOf" srcId="{3E26CA25-5CD9-40DD-868C-866B2E606A25}" destId="{08D4987A-5E90-44D1-83A4-8BFF8CA4E80A}" srcOrd="0" destOrd="0" presId="urn:microsoft.com/office/officeart/2005/8/layout/hList1"/>
    <dgm:cxn modelId="{6B567EB0-F85C-4C83-B9D0-D3A359FC2A81}" srcId="{DD289425-1158-4663-A4D9-13BC7578F810}" destId="{54379A65-8194-4D08-A20B-E8B8E3EB3D9D}" srcOrd="0" destOrd="0" parTransId="{14D58431-2B79-4351-9AA7-C3DFB9F481CE}" sibTransId="{0E00C01F-40A8-4323-A2A7-8C06EB48A496}"/>
    <dgm:cxn modelId="{B7A521B6-8CBB-4C72-9B36-D50E2D9E427D}" srcId="{C79BA9C5-8EF6-4B58-BCA1-050253515108}" destId="{64F339CE-0FF8-45EA-9279-B328285A2AC8}" srcOrd="1" destOrd="0" parTransId="{E682ACAE-C5BE-499B-9235-B0FDC316BC14}" sibTransId="{AF86292A-DDD3-43EF-8A1F-71320BABB33C}"/>
    <dgm:cxn modelId="{2EEA1FB8-7539-40D2-8BDD-D9DAA7321E69}" srcId="{C79BA9C5-8EF6-4B58-BCA1-050253515108}" destId="{87EEE5DC-1EED-4313-A5D5-75FD9B0AD5E8}" srcOrd="2" destOrd="0" parTransId="{3FDCBD18-99C1-4312-A90A-540D88871EC9}" sibTransId="{53249E29-831D-4E7F-A05E-5E24597D87C5}"/>
    <dgm:cxn modelId="{B1D1DBC0-C66B-4D35-A22C-63DD76BFF940}" srcId="{98E7FCCC-EBC7-4237-BBA1-2A0F76CCC3AF}" destId="{91930714-A70A-48DF-9A3C-30E0AA754DD3}" srcOrd="1" destOrd="0" parTransId="{60A2749E-BE91-4EA2-B7D7-30A39D16D8A0}" sibTransId="{FAD971DD-9ABB-415D-9E3A-DAA377E9241B}"/>
    <dgm:cxn modelId="{598745C2-F401-4B86-9968-ACEF64E0595A}" type="presOf" srcId="{87EEE5DC-1EED-4313-A5D5-75FD9B0AD5E8}" destId="{A2576744-2271-4C63-A64E-09900380D0FD}" srcOrd="0" destOrd="2" presId="urn:microsoft.com/office/officeart/2005/8/layout/hList1"/>
    <dgm:cxn modelId="{355A18C5-281F-4FA4-97E6-989C7DD12294}" srcId="{D6815FE0-2B56-47BE-928E-C89E13D2573A}" destId="{3E26CA25-5CD9-40DD-868C-866B2E606A25}" srcOrd="3" destOrd="0" parTransId="{60128B15-9205-4AF7-A471-644DC9113792}" sibTransId="{CD3C5889-203E-458F-81FA-6AECC40CF4E6}"/>
    <dgm:cxn modelId="{640FC2D2-F6D5-4638-9519-A3BBE0E241B4}" type="presOf" srcId="{EF17271B-3FE0-4D35-BB10-5138D962E7B9}" destId="{35774047-59F3-442C-850D-ECE9FE19BDE8}" srcOrd="0" destOrd="3" presId="urn:microsoft.com/office/officeart/2005/8/layout/hList1"/>
    <dgm:cxn modelId="{122851DA-B085-46E2-B38E-DF5367001DB1}" srcId="{C79BA9C5-8EF6-4B58-BCA1-050253515108}" destId="{74D904A1-1DA3-4058-BD8A-712E01A3636A}" srcOrd="0" destOrd="0" parTransId="{700B4266-0C64-4396-A3D5-D858F04B1467}" sibTransId="{A8508307-0AEC-4653-93A8-D4019864D20D}"/>
    <dgm:cxn modelId="{492A09DB-B2B0-4674-8312-56B7DC2039FB}" srcId="{3E26CA25-5CD9-40DD-868C-866B2E606A25}" destId="{4D32D4A3-7129-4332-933A-A7DEFC11C2DE}" srcOrd="2" destOrd="0" parTransId="{E83D1EC2-96D6-494F-B27A-918727F485B2}" sibTransId="{F280E23A-3A58-498F-8B0B-527A589D6008}"/>
    <dgm:cxn modelId="{103541DB-9002-4EC9-9E6F-B20BA4517F19}" srcId="{3E26CA25-5CD9-40DD-868C-866B2E606A25}" destId="{DD53EBCA-E068-4B7C-9C38-21FBFE85F165}" srcOrd="1" destOrd="0" parTransId="{B89022A1-BADA-497D-930F-FDEE74191060}" sibTransId="{FE7D8FEF-5FAF-47CD-9D12-5E20EC526A11}"/>
    <dgm:cxn modelId="{010350E2-9035-4692-BB48-7630AB24D16F}" srcId="{D6815FE0-2B56-47BE-928E-C89E13D2573A}" destId="{98E7FCCC-EBC7-4237-BBA1-2A0F76CCC3AF}" srcOrd="1" destOrd="0" parTransId="{9868C9CE-5A5E-41D1-A93E-6385000B6C45}" sibTransId="{00B46698-CB55-41B7-8C62-7DEAC89B72F1}"/>
    <dgm:cxn modelId="{6B77F0ED-FC61-4B0C-800D-C4EFB2BD313F}" srcId="{98E7FCCC-EBC7-4237-BBA1-2A0F76CCC3AF}" destId="{19D19966-722A-4C0A-8C6B-A9E2A8814957}" srcOrd="2" destOrd="0" parTransId="{63D36D03-74B4-444D-A074-DFF725CF4E1A}" sibTransId="{F47E5A32-81DF-4FA1-BC9F-CBA0A0B91E0E}"/>
    <dgm:cxn modelId="{644CECF7-006A-456B-B653-A55288D50E26}" srcId="{D6815FE0-2B56-47BE-928E-C89E13D2573A}" destId="{DD289425-1158-4663-A4D9-13BC7578F810}" srcOrd="0" destOrd="0" parTransId="{B5F5B40F-5E65-4D7A-AFA6-7D7C356D936E}" sibTransId="{BDA1EA66-470F-4B21-BE48-F6AAB388B6DB}"/>
    <dgm:cxn modelId="{08EF6DFD-838D-4B77-8E9E-2875C1D0E4F6}" type="presOf" srcId="{54379A65-8194-4D08-A20B-E8B8E3EB3D9D}" destId="{88D68642-6A5A-4DDD-82C5-59D6067362FC}" srcOrd="0" destOrd="0" presId="urn:microsoft.com/office/officeart/2005/8/layout/hList1"/>
    <dgm:cxn modelId="{509DDB68-B7D5-4170-9D29-AD62E3DC4D55}" type="presParOf" srcId="{2A499F7F-7023-41A6-AB5D-E271430675AB}" destId="{8D93CFB9-FA5B-4224-86AC-41CA42E3B7D3}" srcOrd="0" destOrd="0" presId="urn:microsoft.com/office/officeart/2005/8/layout/hList1"/>
    <dgm:cxn modelId="{ABD388F8-8882-4CB6-A558-329B40155D00}" type="presParOf" srcId="{8D93CFB9-FA5B-4224-86AC-41CA42E3B7D3}" destId="{FBC2EC90-EB92-48F0-94B5-DE096012F297}" srcOrd="0" destOrd="0" presId="urn:microsoft.com/office/officeart/2005/8/layout/hList1"/>
    <dgm:cxn modelId="{2A5BA9D2-78BA-4572-BCA6-E7DA0D196214}" type="presParOf" srcId="{8D93CFB9-FA5B-4224-86AC-41CA42E3B7D3}" destId="{88D68642-6A5A-4DDD-82C5-59D6067362FC}" srcOrd="1" destOrd="0" presId="urn:microsoft.com/office/officeart/2005/8/layout/hList1"/>
    <dgm:cxn modelId="{087B048E-DBAA-43FF-B7B4-454BD4E7C6AE}" type="presParOf" srcId="{2A499F7F-7023-41A6-AB5D-E271430675AB}" destId="{FC09F258-48D4-4E33-9D0E-203B2B62F646}" srcOrd="1" destOrd="0" presId="urn:microsoft.com/office/officeart/2005/8/layout/hList1"/>
    <dgm:cxn modelId="{12DE255A-55A8-4818-B16C-AB09A814CB77}" type="presParOf" srcId="{2A499F7F-7023-41A6-AB5D-E271430675AB}" destId="{E12A4682-3A85-473A-BD21-840B6583C15F}" srcOrd="2" destOrd="0" presId="urn:microsoft.com/office/officeart/2005/8/layout/hList1"/>
    <dgm:cxn modelId="{AD4E2578-7A71-4E64-ACC4-594C86B30A76}" type="presParOf" srcId="{E12A4682-3A85-473A-BD21-840B6583C15F}" destId="{80E4757A-4E29-4FC5-A445-2D3B4B81162E}" srcOrd="0" destOrd="0" presId="urn:microsoft.com/office/officeart/2005/8/layout/hList1"/>
    <dgm:cxn modelId="{AAF1D8CD-B8FA-4A9D-BB7F-46E45F1AAE7F}" type="presParOf" srcId="{E12A4682-3A85-473A-BD21-840B6583C15F}" destId="{C6343B1C-71D9-487E-A001-C15FF722EBDA}" srcOrd="1" destOrd="0" presId="urn:microsoft.com/office/officeart/2005/8/layout/hList1"/>
    <dgm:cxn modelId="{4D8F73A4-7A5A-4E0F-9A2A-955FF9B9D605}" type="presParOf" srcId="{2A499F7F-7023-41A6-AB5D-E271430675AB}" destId="{8D0DA629-B787-4761-9759-32E7BCF55E6A}" srcOrd="3" destOrd="0" presId="urn:microsoft.com/office/officeart/2005/8/layout/hList1"/>
    <dgm:cxn modelId="{8B946690-9E45-4749-8C43-3135747765B0}" type="presParOf" srcId="{2A499F7F-7023-41A6-AB5D-E271430675AB}" destId="{9D6183E9-6174-4D06-89E6-AAD3608B40F4}" srcOrd="4" destOrd="0" presId="urn:microsoft.com/office/officeart/2005/8/layout/hList1"/>
    <dgm:cxn modelId="{65E8DC40-2B02-44FB-8513-378FFB738518}" type="presParOf" srcId="{9D6183E9-6174-4D06-89E6-AAD3608B40F4}" destId="{137B72E4-77CA-4A6D-9CBF-81F774813F2D}" srcOrd="0" destOrd="0" presId="urn:microsoft.com/office/officeart/2005/8/layout/hList1"/>
    <dgm:cxn modelId="{1F236568-358A-4601-9B1D-5D0052B0B4CF}" type="presParOf" srcId="{9D6183E9-6174-4D06-89E6-AAD3608B40F4}" destId="{A2576744-2271-4C63-A64E-09900380D0FD}" srcOrd="1" destOrd="0" presId="urn:microsoft.com/office/officeart/2005/8/layout/hList1"/>
    <dgm:cxn modelId="{98B29E44-7DB9-40FC-97BF-F49D4B43F01A}" type="presParOf" srcId="{2A499F7F-7023-41A6-AB5D-E271430675AB}" destId="{1D4FB5CE-7BF7-437B-9064-861A58D1844B}" srcOrd="5" destOrd="0" presId="urn:microsoft.com/office/officeart/2005/8/layout/hList1"/>
    <dgm:cxn modelId="{6E8AE401-8BFA-4913-BF49-9E21A08D053A}" type="presParOf" srcId="{2A499F7F-7023-41A6-AB5D-E271430675AB}" destId="{EA159C35-8054-4C63-B758-E05D44FCF573}" srcOrd="6" destOrd="0" presId="urn:microsoft.com/office/officeart/2005/8/layout/hList1"/>
    <dgm:cxn modelId="{F7EC8208-7A4F-4CD7-96EA-CE322876B951}" type="presParOf" srcId="{EA159C35-8054-4C63-B758-E05D44FCF573}" destId="{08D4987A-5E90-44D1-83A4-8BFF8CA4E80A}" srcOrd="0" destOrd="0" presId="urn:microsoft.com/office/officeart/2005/8/layout/hList1"/>
    <dgm:cxn modelId="{4C8EB985-D733-4568-83BE-F806B4991584}" type="presParOf" srcId="{EA159C35-8054-4C63-B758-E05D44FCF573}" destId="{35774047-59F3-442C-850D-ECE9FE19BDE8}"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824A1B-A2B6-4FCB-B161-EC5291F90371}" type="doc">
      <dgm:prSet loTypeId="urn:microsoft.com/office/officeart/2018/2/layout/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EA6643CA-069F-4333-8068-C4236BD3C7C6}">
      <dgm:prSet/>
      <dgm:spPr/>
      <dgm:t>
        <a:bodyPr/>
        <a:lstStyle/>
        <a:p>
          <a:pPr>
            <a:defRPr b="1"/>
          </a:pPr>
          <a:r>
            <a:rPr lang="en-US" b="1"/>
            <a:t>Data Ingestion Pipeline</a:t>
          </a:r>
          <a:endParaRPr lang="en-US"/>
        </a:p>
      </dgm:t>
    </dgm:pt>
    <dgm:pt modelId="{856D2924-252F-47B0-A424-AC31638942B4}" type="parTrans" cxnId="{46D21078-F77D-463F-9AA0-68320EEB1ADF}">
      <dgm:prSet/>
      <dgm:spPr/>
      <dgm:t>
        <a:bodyPr/>
        <a:lstStyle/>
        <a:p>
          <a:endParaRPr lang="en-US"/>
        </a:p>
      </dgm:t>
    </dgm:pt>
    <dgm:pt modelId="{BB2212DF-208A-46E8-BEB6-6AB0C5B24D39}" type="sibTrans" cxnId="{46D21078-F77D-463F-9AA0-68320EEB1ADF}">
      <dgm:prSet/>
      <dgm:spPr/>
      <dgm:t>
        <a:bodyPr/>
        <a:lstStyle/>
        <a:p>
          <a:endParaRPr lang="en-US"/>
        </a:p>
      </dgm:t>
    </dgm:pt>
    <dgm:pt modelId="{77F38064-76F0-486B-BB86-66AC1D4637AA}">
      <dgm:prSet/>
      <dgm:spPr/>
      <dgm:t>
        <a:bodyPr/>
        <a:lstStyle/>
        <a:p>
          <a:r>
            <a:rPr lang="en-US" dirty="0"/>
            <a:t>I have successfully ingested the full </a:t>
          </a:r>
          <a:r>
            <a:rPr lang="en-US" dirty="0" err="1"/>
            <a:t>CrisisMMD</a:t>
          </a:r>
          <a:r>
            <a:rPr lang="en-US" dirty="0"/>
            <a:t> dataset (</a:t>
          </a:r>
          <a:r>
            <a:rPr lang="en-US" dirty="0" err="1"/>
            <a:t>approx</a:t>
          </a:r>
          <a:r>
            <a:rPr lang="en-US" dirty="0"/>
            <a:t> 18,000 images).</a:t>
          </a:r>
        </a:p>
      </dgm:t>
    </dgm:pt>
    <dgm:pt modelId="{88A7F76C-43C0-4D60-AD36-0CF42C6609CE}" type="parTrans" cxnId="{9BA75D74-57E7-46B2-89A6-B6C8025F5F2B}">
      <dgm:prSet/>
      <dgm:spPr/>
      <dgm:t>
        <a:bodyPr/>
        <a:lstStyle/>
        <a:p>
          <a:endParaRPr lang="en-US"/>
        </a:p>
      </dgm:t>
    </dgm:pt>
    <dgm:pt modelId="{92493FA8-D8C3-46B9-A02B-4A5FA7BFC291}" type="sibTrans" cxnId="{9BA75D74-57E7-46B2-89A6-B6C8025F5F2B}">
      <dgm:prSet/>
      <dgm:spPr/>
      <dgm:t>
        <a:bodyPr/>
        <a:lstStyle/>
        <a:p>
          <a:endParaRPr lang="en-US"/>
        </a:p>
      </dgm:t>
    </dgm:pt>
    <dgm:pt modelId="{F2898FD8-39AE-4F0D-B8A2-92E39E9CB88B}">
      <dgm:prSet/>
      <dgm:spPr/>
      <dgm:t>
        <a:bodyPr/>
        <a:lstStyle/>
        <a:p>
          <a:r>
            <a:rPr lang="en-US" dirty="0"/>
            <a:t>I made a custom cleaning script to handle data corruption making sure only valid images are passed to the model.</a:t>
          </a:r>
        </a:p>
      </dgm:t>
    </dgm:pt>
    <dgm:pt modelId="{A60F32AB-DDC2-4370-BF50-1DCC03DBB996}" type="parTrans" cxnId="{B4459AB0-B30F-45D7-A315-1EE86197978B}">
      <dgm:prSet/>
      <dgm:spPr/>
      <dgm:t>
        <a:bodyPr/>
        <a:lstStyle/>
        <a:p>
          <a:endParaRPr lang="en-US"/>
        </a:p>
      </dgm:t>
    </dgm:pt>
    <dgm:pt modelId="{C45EFEA0-9EEB-445C-BFA7-0415DD1A1A26}" type="sibTrans" cxnId="{B4459AB0-B30F-45D7-A315-1EE86197978B}">
      <dgm:prSet/>
      <dgm:spPr/>
      <dgm:t>
        <a:bodyPr/>
        <a:lstStyle/>
        <a:p>
          <a:endParaRPr lang="en-US"/>
        </a:p>
      </dgm:t>
    </dgm:pt>
    <dgm:pt modelId="{5B840BCB-76D0-4161-A8C9-3B3EDE74B4FE}">
      <dgm:prSet/>
      <dgm:spPr/>
      <dgm:t>
        <a:bodyPr/>
        <a:lstStyle/>
        <a:p>
          <a:pPr>
            <a:defRPr b="1"/>
          </a:pPr>
          <a:r>
            <a:rPr lang="en-US" b="1"/>
            <a:t>Validation Prototype (V4)</a:t>
          </a:r>
          <a:endParaRPr lang="en-US"/>
        </a:p>
      </dgm:t>
    </dgm:pt>
    <dgm:pt modelId="{9A5ED212-5E79-41CD-8C24-BC23FF24C823}" type="parTrans" cxnId="{7564E579-40C6-4DE1-89E1-4596ED6640AA}">
      <dgm:prSet/>
      <dgm:spPr/>
      <dgm:t>
        <a:bodyPr/>
        <a:lstStyle/>
        <a:p>
          <a:endParaRPr lang="en-US"/>
        </a:p>
      </dgm:t>
    </dgm:pt>
    <dgm:pt modelId="{E573CAF5-F975-4815-B349-77A88CB696CF}" type="sibTrans" cxnId="{7564E579-40C6-4DE1-89E1-4596ED6640AA}">
      <dgm:prSet/>
      <dgm:spPr/>
      <dgm:t>
        <a:bodyPr/>
        <a:lstStyle/>
        <a:p>
          <a:endParaRPr lang="en-US"/>
        </a:p>
      </dgm:t>
    </dgm:pt>
    <dgm:pt modelId="{962CFCF5-399C-48D5-923A-452500BB0CCD}">
      <dgm:prSet/>
      <dgm:spPr/>
      <dgm:t>
        <a:bodyPr/>
        <a:lstStyle/>
        <a:p>
          <a:r>
            <a:rPr lang="en-US" dirty="0"/>
            <a:t>I built a grid-based explorer in Dash to visually verify the quality of the metadata.</a:t>
          </a:r>
        </a:p>
      </dgm:t>
    </dgm:pt>
    <dgm:pt modelId="{D71FE02A-6F32-48FB-8667-975392B63F99}" type="parTrans" cxnId="{E196D998-80A3-4373-9D47-F415C561B26C}">
      <dgm:prSet/>
      <dgm:spPr/>
      <dgm:t>
        <a:bodyPr/>
        <a:lstStyle/>
        <a:p>
          <a:endParaRPr lang="en-US"/>
        </a:p>
      </dgm:t>
    </dgm:pt>
    <dgm:pt modelId="{3CA2E85A-DD30-40A1-B8B6-61921F172E54}" type="sibTrans" cxnId="{E196D998-80A3-4373-9D47-F415C561B26C}">
      <dgm:prSet/>
      <dgm:spPr/>
      <dgm:t>
        <a:bodyPr/>
        <a:lstStyle/>
        <a:p>
          <a:endParaRPr lang="en-US"/>
        </a:p>
      </dgm:t>
    </dgm:pt>
    <dgm:pt modelId="{73E2D51E-626D-447D-95C0-5872094FEA14}">
      <dgm:prSet/>
      <dgm:spPr/>
      <dgm:t>
        <a:bodyPr/>
        <a:lstStyle/>
        <a:p>
          <a:r>
            <a:rPr lang="en-US"/>
            <a:t>This step confirmed that the image resolution (min 200x200px) is sufficient for the CLIP vectorisation process.</a:t>
          </a:r>
        </a:p>
      </dgm:t>
    </dgm:pt>
    <dgm:pt modelId="{4BAC54F9-DA80-466D-AD05-7E08339810DC}" type="parTrans" cxnId="{05887811-0E36-4C61-987D-99A3867FB3AA}">
      <dgm:prSet/>
      <dgm:spPr/>
      <dgm:t>
        <a:bodyPr/>
        <a:lstStyle/>
        <a:p>
          <a:endParaRPr lang="en-US"/>
        </a:p>
      </dgm:t>
    </dgm:pt>
    <dgm:pt modelId="{E1CEB802-E4EA-4D61-B3D6-A981DE45080F}" type="sibTrans" cxnId="{05887811-0E36-4C61-987D-99A3867FB3AA}">
      <dgm:prSet/>
      <dgm:spPr/>
      <dgm:t>
        <a:bodyPr/>
        <a:lstStyle/>
        <a:p>
          <a:endParaRPr lang="en-US"/>
        </a:p>
      </dgm:t>
    </dgm:pt>
    <dgm:pt modelId="{F6DE9F5E-974D-42AB-97A0-23EC02D4349B}">
      <dgm:prSet/>
      <dgm:spPr/>
      <dgm:t>
        <a:bodyPr/>
        <a:lstStyle/>
        <a:p>
          <a:pPr>
            <a:defRPr b="1"/>
          </a:pPr>
          <a:r>
            <a:rPr lang="en-US" b="1"/>
            <a:t>Environment Setup</a:t>
          </a:r>
          <a:endParaRPr lang="en-US"/>
        </a:p>
      </dgm:t>
    </dgm:pt>
    <dgm:pt modelId="{00066EC8-395C-491A-9CD1-478AC6AA05AA}" type="parTrans" cxnId="{60A616DF-1378-4912-AB6B-7A5CA15FFCA0}">
      <dgm:prSet/>
      <dgm:spPr/>
      <dgm:t>
        <a:bodyPr/>
        <a:lstStyle/>
        <a:p>
          <a:endParaRPr lang="en-US"/>
        </a:p>
      </dgm:t>
    </dgm:pt>
    <dgm:pt modelId="{B2480841-7F8A-4964-A3DA-97519B0EE1C6}" type="sibTrans" cxnId="{60A616DF-1378-4912-AB6B-7A5CA15FFCA0}">
      <dgm:prSet/>
      <dgm:spPr/>
      <dgm:t>
        <a:bodyPr/>
        <a:lstStyle/>
        <a:p>
          <a:endParaRPr lang="en-US"/>
        </a:p>
      </dgm:t>
    </dgm:pt>
    <dgm:pt modelId="{470EFAD6-57B9-4B27-A441-7BD54D6A8A71}">
      <dgm:prSet/>
      <dgm:spPr/>
      <dgm:t>
        <a:bodyPr/>
        <a:lstStyle/>
        <a:p>
          <a:r>
            <a:rPr lang="en-US" dirty="0"/>
            <a:t>My local development environment is fully configured with </a:t>
          </a:r>
          <a:r>
            <a:rPr lang="en-US" dirty="0" err="1"/>
            <a:t>PyTorch</a:t>
          </a:r>
          <a:r>
            <a:rPr lang="en-US" dirty="0"/>
            <a:t> and CUDA acceleration to use GPU.</a:t>
          </a:r>
        </a:p>
      </dgm:t>
    </dgm:pt>
    <dgm:pt modelId="{21FF40FF-03C0-4B06-8961-FCFAA872E13A}" type="parTrans" cxnId="{51D88A1F-1B74-407A-950E-7EA0A2C05107}">
      <dgm:prSet/>
      <dgm:spPr/>
      <dgm:t>
        <a:bodyPr/>
        <a:lstStyle/>
        <a:p>
          <a:endParaRPr lang="en-US"/>
        </a:p>
      </dgm:t>
    </dgm:pt>
    <dgm:pt modelId="{0ED532D4-2DE1-44E1-AA42-072E94D608CB}" type="sibTrans" cxnId="{51D88A1F-1B74-407A-950E-7EA0A2C05107}">
      <dgm:prSet/>
      <dgm:spPr/>
      <dgm:t>
        <a:bodyPr/>
        <a:lstStyle/>
        <a:p>
          <a:endParaRPr lang="en-US"/>
        </a:p>
      </dgm:t>
    </dgm:pt>
    <dgm:pt modelId="{4E9906B9-3FB1-42D6-8648-1B224D3DDD2D}">
      <dgm:prSet/>
      <dgm:spPr/>
      <dgm:t>
        <a:bodyPr/>
        <a:lstStyle/>
        <a:p>
          <a:r>
            <a:rPr lang="en-US" dirty="0"/>
            <a:t>The core </a:t>
          </a:r>
          <a:r>
            <a:rPr lang="en-US" dirty="0" err="1"/>
            <a:t>vectorisation</a:t>
          </a:r>
          <a:r>
            <a:rPr lang="en-US" dirty="0"/>
            <a:t> pipeline is currently running which is the start of Phase 3.</a:t>
          </a:r>
        </a:p>
      </dgm:t>
    </dgm:pt>
    <dgm:pt modelId="{11304024-6486-4532-97C7-A2D79C8EFA0B}" type="parTrans" cxnId="{6EEFA95F-5958-4ADE-B509-5AADC5744A87}">
      <dgm:prSet/>
      <dgm:spPr/>
      <dgm:t>
        <a:bodyPr/>
        <a:lstStyle/>
        <a:p>
          <a:endParaRPr lang="en-US"/>
        </a:p>
      </dgm:t>
    </dgm:pt>
    <dgm:pt modelId="{C861F7B4-9153-43D5-AECD-D6EAAD71B1ED}" type="sibTrans" cxnId="{6EEFA95F-5958-4ADE-B509-5AADC5744A87}">
      <dgm:prSet/>
      <dgm:spPr/>
      <dgm:t>
        <a:bodyPr/>
        <a:lstStyle/>
        <a:p>
          <a:endParaRPr lang="en-US"/>
        </a:p>
      </dgm:t>
    </dgm:pt>
    <dgm:pt modelId="{EF264CF9-7600-4A88-A045-E851B783AA75}" type="pres">
      <dgm:prSet presAssocID="{C9824A1B-A2B6-4FCB-B161-EC5291F90371}" presName="root" presStyleCnt="0">
        <dgm:presLayoutVars>
          <dgm:dir/>
          <dgm:resizeHandles val="exact"/>
        </dgm:presLayoutVars>
      </dgm:prSet>
      <dgm:spPr/>
    </dgm:pt>
    <dgm:pt modelId="{F618617E-6251-46CA-A2B3-0F63D92D7513}" type="pres">
      <dgm:prSet presAssocID="{EA6643CA-069F-4333-8068-C4236BD3C7C6}" presName="compNode" presStyleCnt="0"/>
      <dgm:spPr/>
    </dgm:pt>
    <dgm:pt modelId="{031DBDAA-FDE0-49A3-8C47-CBF882A2F402}" type="pres">
      <dgm:prSet presAssocID="{EA6643CA-069F-4333-8068-C4236BD3C7C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67704492-6C3A-4F73-BA23-FCA2310BEC7D}" type="pres">
      <dgm:prSet presAssocID="{EA6643CA-069F-4333-8068-C4236BD3C7C6}" presName="iconSpace" presStyleCnt="0"/>
      <dgm:spPr/>
    </dgm:pt>
    <dgm:pt modelId="{D94E9FF5-0285-47D5-8392-7F2EBD51C2C5}" type="pres">
      <dgm:prSet presAssocID="{EA6643CA-069F-4333-8068-C4236BD3C7C6}" presName="parTx" presStyleLbl="revTx" presStyleIdx="0" presStyleCnt="6">
        <dgm:presLayoutVars>
          <dgm:chMax val="0"/>
          <dgm:chPref val="0"/>
        </dgm:presLayoutVars>
      </dgm:prSet>
      <dgm:spPr/>
    </dgm:pt>
    <dgm:pt modelId="{4FFEB770-B80E-4D53-939F-BA883D45B85D}" type="pres">
      <dgm:prSet presAssocID="{EA6643CA-069F-4333-8068-C4236BD3C7C6}" presName="txSpace" presStyleCnt="0"/>
      <dgm:spPr/>
    </dgm:pt>
    <dgm:pt modelId="{D5AEC95B-FB99-46A8-B755-D833BAD091E9}" type="pres">
      <dgm:prSet presAssocID="{EA6643CA-069F-4333-8068-C4236BD3C7C6}" presName="desTx" presStyleLbl="revTx" presStyleIdx="1" presStyleCnt="6">
        <dgm:presLayoutVars/>
      </dgm:prSet>
      <dgm:spPr/>
    </dgm:pt>
    <dgm:pt modelId="{FCBB31FB-F491-405D-AF7E-F65B70450CD8}" type="pres">
      <dgm:prSet presAssocID="{BB2212DF-208A-46E8-BEB6-6AB0C5B24D39}" presName="sibTrans" presStyleCnt="0"/>
      <dgm:spPr/>
    </dgm:pt>
    <dgm:pt modelId="{3F274582-7030-4D63-BCD6-89A80B84EA6D}" type="pres">
      <dgm:prSet presAssocID="{5B840BCB-76D0-4161-A8C9-3B3EDE74B4FE}" presName="compNode" presStyleCnt="0"/>
      <dgm:spPr/>
    </dgm:pt>
    <dgm:pt modelId="{CFB0A4DA-7235-4F11-8C5B-C56202322736}" type="pres">
      <dgm:prSet presAssocID="{5B840BCB-76D0-4161-A8C9-3B3EDE74B4F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1DBE59AA-12D9-4D6B-80CE-8C6134A83F37}" type="pres">
      <dgm:prSet presAssocID="{5B840BCB-76D0-4161-A8C9-3B3EDE74B4FE}" presName="iconSpace" presStyleCnt="0"/>
      <dgm:spPr/>
    </dgm:pt>
    <dgm:pt modelId="{71F5C936-1F7D-4A28-A029-3CD17F3F71DE}" type="pres">
      <dgm:prSet presAssocID="{5B840BCB-76D0-4161-A8C9-3B3EDE74B4FE}" presName="parTx" presStyleLbl="revTx" presStyleIdx="2" presStyleCnt="6">
        <dgm:presLayoutVars>
          <dgm:chMax val="0"/>
          <dgm:chPref val="0"/>
        </dgm:presLayoutVars>
      </dgm:prSet>
      <dgm:spPr/>
    </dgm:pt>
    <dgm:pt modelId="{79936DCF-23EF-4F31-9FB7-5748706013D3}" type="pres">
      <dgm:prSet presAssocID="{5B840BCB-76D0-4161-A8C9-3B3EDE74B4FE}" presName="txSpace" presStyleCnt="0"/>
      <dgm:spPr/>
    </dgm:pt>
    <dgm:pt modelId="{36B18EBE-BE54-4584-BE8F-D6D6F015FEE9}" type="pres">
      <dgm:prSet presAssocID="{5B840BCB-76D0-4161-A8C9-3B3EDE74B4FE}" presName="desTx" presStyleLbl="revTx" presStyleIdx="3" presStyleCnt="6">
        <dgm:presLayoutVars/>
      </dgm:prSet>
      <dgm:spPr/>
    </dgm:pt>
    <dgm:pt modelId="{E47B5BD9-E762-452C-A331-4C0F3DE0333B}" type="pres">
      <dgm:prSet presAssocID="{E573CAF5-F975-4815-B349-77A88CB696CF}" presName="sibTrans" presStyleCnt="0"/>
      <dgm:spPr/>
    </dgm:pt>
    <dgm:pt modelId="{E39BD671-C7D3-4AAC-AADF-F4E22BA12703}" type="pres">
      <dgm:prSet presAssocID="{F6DE9F5E-974D-42AB-97A0-23EC02D4349B}" presName="compNode" presStyleCnt="0"/>
      <dgm:spPr/>
    </dgm:pt>
    <dgm:pt modelId="{67B171C7-0DFF-4B24-BA3A-2BDFE4FE489A}" type="pres">
      <dgm:prSet presAssocID="{F6DE9F5E-974D-42AB-97A0-23EC02D4349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695D9D90-350C-4DC8-83A1-E4AB548BD6FF}" type="pres">
      <dgm:prSet presAssocID="{F6DE9F5E-974D-42AB-97A0-23EC02D4349B}" presName="iconSpace" presStyleCnt="0"/>
      <dgm:spPr/>
    </dgm:pt>
    <dgm:pt modelId="{9D0EAA71-1713-4EB4-94C3-3E4CB60A230F}" type="pres">
      <dgm:prSet presAssocID="{F6DE9F5E-974D-42AB-97A0-23EC02D4349B}" presName="parTx" presStyleLbl="revTx" presStyleIdx="4" presStyleCnt="6">
        <dgm:presLayoutVars>
          <dgm:chMax val="0"/>
          <dgm:chPref val="0"/>
        </dgm:presLayoutVars>
      </dgm:prSet>
      <dgm:spPr/>
    </dgm:pt>
    <dgm:pt modelId="{34D048B7-557C-441F-BC10-8EF0D184DC48}" type="pres">
      <dgm:prSet presAssocID="{F6DE9F5E-974D-42AB-97A0-23EC02D4349B}" presName="txSpace" presStyleCnt="0"/>
      <dgm:spPr/>
    </dgm:pt>
    <dgm:pt modelId="{70D0F180-5264-4781-BE31-3D926EE65271}" type="pres">
      <dgm:prSet presAssocID="{F6DE9F5E-974D-42AB-97A0-23EC02D4349B}" presName="desTx" presStyleLbl="revTx" presStyleIdx="5" presStyleCnt="6">
        <dgm:presLayoutVars/>
      </dgm:prSet>
      <dgm:spPr/>
    </dgm:pt>
  </dgm:ptLst>
  <dgm:cxnLst>
    <dgm:cxn modelId="{05887811-0E36-4C61-987D-99A3867FB3AA}" srcId="{5B840BCB-76D0-4161-A8C9-3B3EDE74B4FE}" destId="{73E2D51E-626D-447D-95C0-5872094FEA14}" srcOrd="1" destOrd="0" parTransId="{4BAC54F9-DA80-466D-AD05-7E08339810DC}" sibTransId="{E1CEB802-E4EA-4D61-B3D6-A981DE45080F}"/>
    <dgm:cxn modelId="{BA44C919-564F-49C1-A7C2-BD75F9D9B8FD}" type="presOf" srcId="{77F38064-76F0-486B-BB86-66AC1D4637AA}" destId="{D5AEC95B-FB99-46A8-B755-D833BAD091E9}" srcOrd="0" destOrd="0" presId="urn:microsoft.com/office/officeart/2018/2/layout/IconLabelDescriptionList"/>
    <dgm:cxn modelId="{51D88A1F-1B74-407A-950E-7EA0A2C05107}" srcId="{F6DE9F5E-974D-42AB-97A0-23EC02D4349B}" destId="{470EFAD6-57B9-4B27-A441-7BD54D6A8A71}" srcOrd="0" destOrd="0" parTransId="{21FF40FF-03C0-4B06-8961-FCFAA872E13A}" sibTransId="{0ED532D4-2DE1-44E1-AA42-072E94D608CB}"/>
    <dgm:cxn modelId="{D0F50C5E-087A-487E-9A40-46D4C948C64D}" type="presOf" srcId="{470EFAD6-57B9-4B27-A441-7BD54D6A8A71}" destId="{70D0F180-5264-4781-BE31-3D926EE65271}" srcOrd="0" destOrd="0" presId="urn:microsoft.com/office/officeart/2018/2/layout/IconLabelDescriptionList"/>
    <dgm:cxn modelId="{6EEFA95F-5958-4ADE-B509-5AADC5744A87}" srcId="{F6DE9F5E-974D-42AB-97A0-23EC02D4349B}" destId="{4E9906B9-3FB1-42D6-8648-1B224D3DDD2D}" srcOrd="1" destOrd="0" parTransId="{11304024-6486-4532-97C7-A2D79C8EFA0B}" sibTransId="{C861F7B4-9153-43D5-AECD-D6EAAD71B1ED}"/>
    <dgm:cxn modelId="{F2C07648-619E-4091-9D44-B8CD34766A74}" type="presOf" srcId="{5B840BCB-76D0-4161-A8C9-3B3EDE74B4FE}" destId="{71F5C936-1F7D-4A28-A029-3CD17F3F71DE}" srcOrd="0" destOrd="0" presId="urn:microsoft.com/office/officeart/2018/2/layout/IconLabelDescriptionList"/>
    <dgm:cxn modelId="{4076BD6A-0020-428F-82FC-6592D9CB3764}" type="presOf" srcId="{EA6643CA-069F-4333-8068-C4236BD3C7C6}" destId="{D94E9FF5-0285-47D5-8392-7F2EBD51C2C5}" srcOrd="0" destOrd="0" presId="urn:microsoft.com/office/officeart/2018/2/layout/IconLabelDescriptionList"/>
    <dgm:cxn modelId="{A8F2856F-C2EB-4618-B018-99A8C8C79A10}" type="presOf" srcId="{4E9906B9-3FB1-42D6-8648-1B224D3DDD2D}" destId="{70D0F180-5264-4781-BE31-3D926EE65271}" srcOrd="0" destOrd="1" presId="urn:microsoft.com/office/officeart/2018/2/layout/IconLabelDescriptionList"/>
    <dgm:cxn modelId="{C3B95052-481C-40CA-B614-8BE9BC48211A}" type="presOf" srcId="{C9824A1B-A2B6-4FCB-B161-EC5291F90371}" destId="{EF264CF9-7600-4A88-A045-E851B783AA75}" srcOrd="0" destOrd="0" presId="urn:microsoft.com/office/officeart/2018/2/layout/IconLabelDescriptionList"/>
    <dgm:cxn modelId="{75D52B54-F27B-4DA8-B0DF-AF8B0BF5EBBD}" type="presOf" srcId="{962CFCF5-399C-48D5-923A-452500BB0CCD}" destId="{36B18EBE-BE54-4584-BE8F-D6D6F015FEE9}" srcOrd="0" destOrd="0" presId="urn:microsoft.com/office/officeart/2018/2/layout/IconLabelDescriptionList"/>
    <dgm:cxn modelId="{9BA75D74-57E7-46B2-89A6-B6C8025F5F2B}" srcId="{EA6643CA-069F-4333-8068-C4236BD3C7C6}" destId="{77F38064-76F0-486B-BB86-66AC1D4637AA}" srcOrd="0" destOrd="0" parTransId="{88A7F76C-43C0-4D60-AD36-0CF42C6609CE}" sibTransId="{92493FA8-D8C3-46B9-A02B-4A5FA7BFC291}"/>
    <dgm:cxn modelId="{46D21078-F77D-463F-9AA0-68320EEB1ADF}" srcId="{C9824A1B-A2B6-4FCB-B161-EC5291F90371}" destId="{EA6643CA-069F-4333-8068-C4236BD3C7C6}" srcOrd="0" destOrd="0" parTransId="{856D2924-252F-47B0-A424-AC31638942B4}" sibTransId="{BB2212DF-208A-46E8-BEB6-6AB0C5B24D39}"/>
    <dgm:cxn modelId="{7564E579-40C6-4DE1-89E1-4596ED6640AA}" srcId="{C9824A1B-A2B6-4FCB-B161-EC5291F90371}" destId="{5B840BCB-76D0-4161-A8C9-3B3EDE74B4FE}" srcOrd="1" destOrd="0" parTransId="{9A5ED212-5E79-41CD-8C24-BC23FF24C823}" sibTransId="{E573CAF5-F975-4815-B349-77A88CB696CF}"/>
    <dgm:cxn modelId="{BF6F237B-1BA4-4F31-9476-9CEEA5EBAFCF}" type="presOf" srcId="{F2898FD8-39AE-4F0D-B8A2-92E39E9CB88B}" destId="{D5AEC95B-FB99-46A8-B755-D833BAD091E9}" srcOrd="0" destOrd="1" presId="urn:microsoft.com/office/officeart/2018/2/layout/IconLabelDescriptionList"/>
    <dgm:cxn modelId="{E196D998-80A3-4373-9D47-F415C561B26C}" srcId="{5B840BCB-76D0-4161-A8C9-3B3EDE74B4FE}" destId="{962CFCF5-399C-48D5-923A-452500BB0CCD}" srcOrd="0" destOrd="0" parTransId="{D71FE02A-6F32-48FB-8667-975392B63F99}" sibTransId="{3CA2E85A-DD30-40A1-B8B6-61921F172E54}"/>
    <dgm:cxn modelId="{B4459AB0-B30F-45D7-A315-1EE86197978B}" srcId="{EA6643CA-069F-4333-8068-C4236BD3C7C6}" destId="{F2898FD8-39AE-4F0D-B8A2-92E39E9CB88B}" srcOrd="1" destOrd="0" parTransId="{A60F32AB-DDC2-4370-BF50-1DCC03DBB996}" sibTransId="{C45EFEA0-9EEB-445C-BFA7-0415DD1A1A26}"/>
    <dgm:cxn modelId="{273021D9-5441-48D8-8B38-D3202279A50F}" type="presOf" srcId="{F6DE9F5E-974D-42AB-97A0-23EC02D4349B}" destId="{9D0EAA71-1713-4EB4-94C3-3E4CB60A230F}" srcOrd="0" destOrd="0" presId="urn:microsoft.com/office/officeart/2018/2/layout/IconLabelDescriptionList"/>
    <dgm:cxn modelId="{60A616DF-1378-4912-AB6B-7A5CA15FFCA0}" srcId="{C9824A1B-A2B6-4FCB-B161-EC5291F90371}" destId="{F6DE9F5E-974D-42AB-97A0-23EC02D4349B}" srcOrd="2" destOrd="0" parTransId="{00066EC8-395C-491A-9CD1-478AC6AA05AA}" sibTransId="{B2480841-7F8A-4964-A3DA-97519B0EE1C6}"/>
    <dgm:cxn modelId="{9D8382F2-9FA4-46DF-877B-A95A7B613BC5}" type="presOf" srcId="{73E2D51E-626D-447D-95C0-5872094FEA14}" destId="{36B18EBE-BE54-4584-BE8F-D6D6F015FEE9}" srcOrd="0" destOrd="1" presId="urn:microsoft.com/office/officeart/2018/2/layout/IconLabelDescriptionList"/>
    <dgm:cxn modelId="{C620586D-A4C5-40DC-978E-66213418AB54}" type="presParOf" srcId="{EF264CF9-7600-4A88-A045-E851B783AA75}" destId="{F618617E-6251-46CA-A2B3-0F63D92D7513}" srcOrd="0" destOrd="0" presId="urn:microsoft.com/office/officeart/2018/2/layout/IconLabelDescriptionList"/>
    <dgm:cxn modelId="{4D0B4AF0-059B-4D32-9B3B-3859EF66D291}" type="presParOf" srcId="{F618617E-6251-46CA-A2B3-0F63D92D7513}" destId="{031DBDAA-FDE0-49A3-8C47-CBF882A2F402}" srcOrd="0" destOrd="0" presId="urn:microsoft.com/office/officeart/2018/2/layout/IconLabelDescriptionList"/>
    <dgm:cxn modelId="{D3365DAB-1C0D-4BC2-A5EF-807CC453F4ED}" type="presParOf" srcId="{F618617E-6251-46CA-A2B3-0F63D92D7513}" destId="{67704492-6C3A-4F73-BA23-FCA2310BEC7D}" srcOrd="1" destOrd="0" presId="urn:microsoft.com/office/officeart/2018/2/layout/IconLabelDescriptionList"/>
    <dgm:cxn modelId="{BB1A1C09-62E4-4E22-91BB-9E223DEC96F9}" type="presParOf" srcId="{F618617E-6251-46CA-A2B3-0F63D92D7513}" destId="{D94E9FF5-0285-47D5-8392-7F2EBD51C2C5}" srcOrd="2" destOrd="0" presId="urn:microsoft.com/office/officeart/2018/2/layout/IconLabelDescriptionList"/>
    <dgm:cxn modelId="{FAE6217A-5DD2-4C5F-9060-948D92F55CCD}" type="presParOf" srcId="{F618617E-6251-46CA-A2B3-0F63D92D7513}" destId="{4FFEB770-B80E-4D53-939F-BA883D45B85D}" srcOrd="3" destOrd="0" presId="urn:microsoft.com/office/officeart/2018/2/layout/IconLabelDescriptionList"/>
    <dgm:cxn modelId="{ACB79CF6-A92A-4DF4-954E-CFC816C16351}" type="presParOf" srcId="{F618617E-6251-46CA-A2B3-0F63D92D7513}" destId="{D5AEC95B-FB99-46A8-B755-D833BAD091E9}" srcOrd="4" destOrd="0" presId="urn:microsoft.com/office/officeart/2018/2/layout/IconLabelDescriptionList"/>
    <dgm:cxn modelId="{16B80656-8192-4881-BFE5-58FF08FFEC14}" type="presParOf" srcId="{EF264CF9-7600-4A88-A045-E851B783AA75}" destId="{FCBB31FB-F491-405D-AF7E-F65B70450CD8}" srcOrd="1" destOrd="0" presId="urn:microsoft.com/office/officeart/2018/2/layout/IconLabelDescriptionList"/>
    <dgm:cxn modelId="{B459232F-2754-4E3E-A1D2-056A023A0360}" type="presParOf" srcId="{EF264CF9-7600-4A88-A045-E851B783AA75}" destId="{3F274582-7030-4D63-BCD6-89A80B84EA6D}" srcOrd="2" destOrd="0" presId="urn:microsoft.com/office/officeart/2018/2/layout/IconLabelDescriptionList"/>
    <dgm:cxn modelId="{B2FCDF73-A055-40A8-B158-8913DA7040F3}" type="presParOf" srcId="{3F274582-7030-4D63-BCD6-89A80B84EA6D}" destId="{CFB0A4DA-7235-4F11-8C5B-C56202322736}" srcOrd="0" destOrd="0" presId="urn:microsoft.com/office/officeart/2018/2/layout/IconLabelDescriptionList"/>
    <dgm:cxn modelId="{9264E1FE-3DC1-40D3-89B2-D6EA6A73C1D2}" type="presParOf" srcId="{3F274582-7030-4D63-BCD6-89A80B84EA6D}" destId="{1DBE59AA-12D9-4D6B-80CE-8C6134A83F37}" srcOrd="1" destOrd="0" presId="urn:microsoft.com/office/officeart/2018/2/layout/IconLabelDescriptionList"/>
    <dgm:cxn modelId="{68619707-352B-42E9-81E1-0E21EDFF8236}" type="presParOf" srcId="{3F274582-7030-4D63-BCD6-89A80B84EA6D}" destId="{71F5C936-1F7D-4A28-A029-3CD17F3F71DE}" srcOrd="2" destOrd="0" presId="urn:microsoft.com/office/officeart/2018/2/layout/IconLabelDescriptionList"/>
    <dgm:cxn modelId="{E1498413-4B47-4308-92B9-B45245EB2541}" type="presParOf" srcId="{3F274582-7030-4D63-BCD6-89A80B84EA6D}" destId="{79936DCF-23EF-4F31-9FB7-5748706013D3}" srcOrd="3" destOrd="0" presId="urn:microsoft.com/office/officeart/2018/2/layout/IconLabelDescriptionList"/>
    <dgm:cxn modelId="{4607FCBA-BCD3-4EB4-A1A4-8DE534442DB6}" type="presParOf" srcId="{3F274582-7030-4D63-BCD6-89A80B84EA6D}" destId="{36B18EBE-BE54-4584-BE8F-D6D6F015FEE9}" srcOrd="4" destOrd="0" presId="urn:microsoft.com/office/officeart/2018/2/layout/IconLabelDescriptionList"/>
    <dgm:cxn modelId="{03BFFA76-F8DE-4A72-B3EA-680D33297069}" type="presParOf" srcId="{EF264CF9-7600-4A88-A045-E851B783AA75}" destId="{E47B5BD9-E762-452C-A331-4C0F3DE0333B}" srcOrd="3" destOrd="0" presId="urn:microsoft.com/office/officeart/2018/2/layout/IconLabelDescriptionList"/>
    <dgm:cxn modelId="{467855F5-B42E-4351-AD14-4DF7CEE67670}" type="presParOf" srcId="{EF264CF9-7600-4A88-A045-E851B783AA75}" destId="{E39BD671-C7D3-4AAC-AADF-F4E22BA12703}" srcOrd="4" destOrd="0" presId="urn:microsoft.com/office/officeart/2018/2/layout/IconLabelDescriptionList"/>
    <dgm:cxn modelId="{D69CB9A9-2CED-4A62-8657-2B310CAC98C0}" type="presParOf" srcId="{E39BD671-C7D3-4AAC-AADF-F4E22BA12703}" destId="{67B171C7-0DFF-4B24-BA3A-2BDFE4FE489A}" srcOrd="0" destOrd="0" presId="urn:microsoft.com/office/officeart/2018/2/layout/IconLabelDescriptionList"/>
    <dgm:cxn modelId="{820A01B9-25D6-4B1C-ADF2-D859B86C5879}" type="presParOf" srcId="{E39BD671-C7D3-4AAC-AADF-F4E22BA12703}" destId="{695D9D90-350C-4DC8-83A1-E4AB548BD6FF}" srcOrd="1" destOrd="0" presId="urn:microsoft.com/office/officeart/2018/2/layout/IconLabelDescriptionList"/>
    <dgm:cxn modelId="{72050591-0023-4E12-B37A-2B2D20641A22}" type="presParOf" srcId="{E39BD671-C7D3-4AAC-AADF-F4E22BA12703}" destId="{9D0EAA71-1713-4EB4-94C3-3E4CB60A230F}" srcOrd="2" destOrd="0" presId="urn:microsoft.com/office/officeart/2018/2/layout/IconLabelDescriptionList"/>
    <dgm:cxn modelId="{CA472F7E-0B5F-4380-B9A7-B76B142CE65E}" type="presParOf" srcId="{E39BD671-C7D3-4AAC-AADF-F4E22BA12703}" destId="{34D048B7-557C-441F-BC10-8EF0D184DC48}" srcOrd="3" destOrd="0" presId="urn:microsoft.com/office/officeart/2018/2/layout/IconLabelDescriptionList"/>
    <dgm:cxn modelId="{56A57F16-5329-415F-8D0E-352B546BBB7D}" type="presParOf" srcId="{E39BD671-C7D3-4AAC-AADF-F4E22BA12703}" destId="{70D0F180-5264-4781-BE31-3D926EE65271}" srcOrd="4" destOrd="0" presId="urn:microsoft.com/office/officeart/2018/2/layout/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493EAA-C0EC-4B92-96A6-DB72D4829850}"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D5EFFC2-0AED-418D-A4F0-324A14DF6664}">
      <dgm:prSet/>
      <dgm:spPr/>
      <dgm:t>
        <a:bodyPr/>
        <a:lstStyle/>
        <a:p>
          <a:pPr>
            <a:lnSpc>
              <a:spcPct val="100000"/>
            </a:lnSpc>
            <a:defRPr b="1"/>
          </a:pPr>
          <a:r>
            <a:rPr lang="en-US" b="1" dirty="0"/>
            <a:t>Challenge 1 - Metadata Inconsistency</a:t>
          </a:r>
          <a:endParaRPr lang="en-US" dirty="0"/>
        </a:p>
      </dgm:t>
    </dgm:pt>
    <dgm:pt modelId="{FA84FC25-D9F7-4CF5-BB26-9556C6F5D0E2}" type="parTrans" cxnId="{B720657E-D4D4-4C70-9080-2A77F83E87D1}">
      <dgm:prSet/>
      <dgm:spPr/>
      <dgm:t>
        <a:bodyPr/>
        <a:lstStyle/>
        <a:p>
          <a:endParaRPr lang="en-US"/>
        </a:p>
      </dgm:t>
    </dgm:pt>
    <dgm:pt modelId="{F3B53406-81DB-4472-A309-3FFF6D7F6E10}" type="sibTrans" cxnId="{B720657E-D4D4-4C70-9080-2A77F83E87D1}">
      <dgm:prSet/>
      <dgm:spPr/>
      <dgm:t>
        <a:bodyPr/>
        <a:lstStyle/>
        <a:p>
          <a:endParaRPr lang="en-US"/>
        </a:p>
      </dgm:t>
    </dgm:pt>
    <dgm:pt modelId="{AEF98654-81FA-443D-BA3F-227FE8415AF7}">
      <dgm:prSet/>
      <dgm:spPr/>
      <dgm:t>
        <a:bodyPr/>
        <a:lstStyle/>
        <a:p>
          <a:pPr>
            <a:lnSpc>
              <a:spcPct val="100000"/>
            </a:lnSpc>
          </a:pPr>
          <a:r>
            <a:rPr lang="en-US" dirty="0"/>
            <a:t>I found that about 5% of the images in the dataset had corrupt file headers or missing JSON labels which isn’t suitable.</a:t>
          </a:r>
        </a:p>
      </dgm:t>
    </dgm:pt>
    <dgm:pt modelId="{DC409EAA-6031-4DFB-9417-29A890F539E7}" type="parTrans" cxnId="{14F6440F-96AE-4279-901A-25E3634C81B7}">
      <dgm:prSet/>
      <dgm:spPr/>
      <dgm:t>
        <a:bodyPr/>
        <a:lstStyle/>
        <a:p>
          <a:endParaRPr lang="en-US"/>
        </a:p>
      </dgm:t>
    </dgm:pt>
    <dgm:pt modelId="{93433C6B-A4B7-4871-AB61-C74EF30C3353}" type="sibTrans" cxnId="{14F6440F-96AE-4279-901A-25E3634C81B7}">
      <dgm:prSet/>
      <dgm:spPr/>
      <dgm:t>
        <a:bodyPr/>
        <a:lstStyle/>
        <a:p>
          <a:endParaRPr lang="en-US"/>
        </a:p>
      </dgm:t>
    </dgm:pt>
    <dgm:pt modelId="{2AA672D1-AF2D-4744-8CF0-4055D386B262}">
      <dgm:prSet/>
      <dgm:spPr/>
      <dgm:t>
        <a:bodyPr/>
        <a:lstStyle/>
        <a:p>
          <a:pPr>
            <a:lnSpc>
              <a:spcPct val="100000"/>
            </a:lnSpc>
          </a:pPr>
          <a:r>
            <a:rPr lang="en-GB" dirty="0"/>
            <a:t>M</a:t>
          </a:r>
          <a:r>
            <a:rPr lang="en-US" dirty="0" err="1"/>
            <a:t>itigation</a:t>
          </a:r>
          <a:r>
            <a:rPr lang="en-US" dirty="0"/>
            <a:t> / fixes: I added a loop with error logging. This make sure the pipeline skips bad files instead of crashing during the long training run.</a:t>
          </a:r>
        </a:p>
      </dgm:t>
    </dgm:pt>
    <dgm:pt modelId="{49D70E4E-4D34-41BB-90E7-28B98B33F48A}" type="parTrans" cxnId="{274A6EF6-2FDF-42A9-9CBD-B7B3E0E99186}">
      <dgm:prSet/>
      <dgm:spPr/>
      <dgm:t>
        <a:bodyPr/>
        <a:lstStyle/>
        <a:p>
          <a:endParaRPr lang="en-US"/>
        </a:p>
      </dgm:t>
    </dgm:pt>
    <dgm:pt modelId="{53B351F1-C0AF-40A9-9AE1-B8FA8B5F7529}" type="sibTrans" cxnId="{274A6EF6-2FDF-42A9-9CBD-B7B3E0E99186}">
      <dgm:prSet/>
      <dgm:spPr/>
      <dgm:t>
        <a:bodyPr/>
        <a:lstStyle/>
        <a:p>
          <a:endParaRPr lang="en-US"/>
        </a:p>
      </dgm:t>
    </dgm:pt>
    <dgm:pt modelId="{7B687607-382A-4987-964C-2CD83BDD166C}">
      <dgm:prSet/>
      <dgm:spPr/>
      <dgm:t>
        <a:bodyPr/>
        <a:lstStyle/>
        <a:p>
          <a:pPr>
            <a:lnSpc>
              <a:spcPct val="100000"/>
            </a:lnSpc>
            <a:defRPr b="1"/>
          </a:pPr>
          <a:r>
            <a:rPr lang="en-US" b="1" dirty="0"/>
            <a:t>Challenge 2 - Computational Load</a:t>
          </a:r>
          <a:endParaRPr lang="en-US" dirty="0"/>
        </a:p>
      </dgm:t>
    </dgm:pt>
    <dgm:pt modelId="{5B90C8FE-F9EB-4780-A7F0-D656F19E322B}" type="parTrans" cxnId="{B3886F42-4A3F-4FCF-A5AF-FFE0D6D1CECF}">
      <dgm:prSet/>
      <dgm:spPr/>
      <dgm:t>
        <a:bodyPr/>
        <a:lstStyle/>
        <a:p>
          <a:endParaRPr lang="en-US"/>
        </a:p>
      </dgm:t>
    </dgm:pt>
    <dgm:pt modelId="{78A597B1-6C2F-4E7D-8278-BCAD6DA9DAD4}" type="sibTrans" cxnId="{B3886F42-4A3F-4FCF-A5AF-FFE0D6D1CECF}">
      <dgm:prSet/>
      <dgm:spPr/>
      <dgm:t>
        <a:bodyPr/>
        <a:lstStyle/>
        <a:p>
          <a:endParaRPr lang="en-US"/>
        </a:p>
      </dgm:t>
    </dgm:pt>
    <dgm:pt modelId="{4FCBB8E6-A04B-4E5C-989A-052AA2E96B6A}">
      <dgm:prSet/>
      <dgm:spPr/>
      <dgm:t>
        <a:bodyPr/>
        <a:lstStyle/>
        <a:p>
          <a:pPr>
            <a:lnSpc>
              <a:spcPct val="100000"/>
            </a:lnSpc>
          </a:pPr>
          <a:r>
            <a:rPr lang="en-GB" dirty="0"/>
            <a:t>Running the </a:t>
          </a:r>
          <a:r>
            <a:rPr lang="en-GB" dirty="0" err="1"/>
            <a:t>ViT</a:t>
          </a:r>
          <a:r>
            <a:rPr lang="en-GB" dirty="0"/>
            <a:t>-B/32 model on 18,000 images exceeds typical local memory limits.</a:t>
          </a:r>
          <a:endParaRPr lang="en-US" dirty="0"/>
        </a:p>
      </dgm:t>
    </dgm:pt>
    <dgm:pt modelId="{7922D6A3-CEFA-45A3-AF17-A567E29C6C3E}" type="parTrans" cxnId="{7C0EB393-7ABA-48B7-AE99-55197DD526BC}">
      <dgm:prSet/>
      <dgm:spPr/>
      <dgm:t>
        <a:bodyPr/>
        <a:lstStyle/>
        <a:p>
          <a:endParaRPr lang="en-US"/>
        </a:p>
      </dgm:t>
    </dgm:pt>
    <dgm:pt modelId="{CF57F5AF-20CC-4132-8CCE-4751F5FD71FD}" type="sibTrans" cxnId="{7C0EB393-7ABA-48B7-AE99-55197DD526BC}">
      <dgm:prSet/>
      <dgm:spPr/>
      <dgm:t>
        <a:bodyPr/>
        <a:lstStyle/>
        <a:p>
          <a:endParaRPr lang="en-US"/>
        </a:p>
      </dgm:t>
    </dgm:pt>
    <dgm:pt modelId="{22D9BA60-EBA4-49E6-BA7C-EDEE7CB62C70}">
      <dgm:prSet/>
      <dgm:spPr/>
      <dgm:t>
        <a:bodyPr/>
        <a:lstStyle/>
        <a:p>
          <a:pPr>
            <a:lnSpc>
              <a:spcPct val="100000"/>
            </a:lnSpc>
          </a:pPr>
          <a:r>
            <a:rPr lang="en-US" dirty="0"/>
            <a:t>Mitigation: I processed the images in batches of 32. I also have a fallback strategy to deploy the script to Google </a:t>
          </a:r>
          <a:r>
            <a:rPr lang="en-US" dirty="0" err="1"/>
            <a:t>Colab's</a:t>
          </a:r>
          <a:r>
            <a:rPr lang="en-US" dirty="0"/>
            <a:t> GPU infrastructure if my local hardware throttles or maybe use the PCs in DAIM.</a:t>
          </a:r>
        </a:p>
      </dgm:t>
    </dgm:pt>
    <dgm:pt modelId="{212ABA0A-F724-4200-B2AF-8C6C037A731F}" type="parTrans" cxnId="{594F7A3D-3A4E-43DD-A750-92354817A666}">
      <dgm:prSet/>
      <dgm:spPr/>
      <dgm:t>
        <a:bodyPr/>
        <a:lstStyle/>
        <a:p>
          <a:endParaRPr lang="en-US"/>
        </a:p>
      </dgm:t>
    </dgm:pt>
    <dgm:pt modelId="{A5DC4E87-BAB4-4B05-9AEA-5735C1A174D9}" type="sibTrans" cxnId="{594F7A3D-3A4E-43DD-A750-92354817A666}">
      <dgm:prSet/>
      <dgm:spPr/>
      <dgm:t>
        <a:bodyPr/>
        <a:lstStyle/>
        <a:p>
          <a:endParaRPr lang="en-US"/>
        </a:p>
      </dgm:t>
    </dgm:pt>
    <dgm:pt modelId="{92766DE6-A114-42E5-897E-C6CF495DD7E8}" type="pres">
      <dgm:prSet presAssocID="{DE493EAA-C0EC-4B92-96A6-DB72D4829850}" presName="root" presStyleCnt="0">
        <dgm:presLayoutVars>
          <dgm:dir/>
          <dgm:resizeHandles val="exact"/>
        </dgm:presLayoutVars>
      </dgm:prSet>
      <dgm:spPr/>
    </dgm:pt>
    <dgm:pt modelId="{3C30E1DC-9C04-4F92-81AB-774B66CE2473}" type="pres">
      <dgm:prSet presAssocID="{DD5EFFC2-0AED-418D-A4F0-324A14DF6664}" presName="compNode" presStyleCnt="0"/>
      <dgm:spPr/>
    </dgm:pt>
    <dgm:pt modelId="{9183CDC9-9AE3-46BA-987F-AE09DB5CC3D2}" type="pres">
      <dgm:prSet presAssocID="{DD5EFFC2-0AED-418D-A4F0-324A14DF666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B5B8DFF-A85F-4A52-B9A0-FA6686F23B13}" type="pres">
      <dgm:prSet presAssocID="{DD5EFFC2-0AED-418D-A4F0-324A14DF6664}" presName="iconSpace" presStyleCnt="0"/>
      <dgm:spPr/>
    </dgm:pt>
    <dgm:pt modelId="{98990FEE-15DA-4E37-8A62-291B78717D8C}" type="pres">
      <dgm:prSet presAssocID="{DD5EFFC2-0AED-418D-A4F0-324A14DF6664}" presName="parTx" presStyleLbl="revTx" presStyleIdx="0" presStyleCnt="4">
        <dgm:presLayoutVars>
          <dgm:chMax val="0"/>
          <dgm:chPref val="0"/>
        </dgm:presLayoutVars>
      </dgm:prSet>
      <dgm:spPr/>
    </dgm:pt>
    <dgm:pt modelId="{288BBF0D-4159-45A3-BC6C-E567237D1CFE}" type="pres">
      <dgm:prSet presAssocID="{DD5EFFC2-0AED-418D-A4F0-324A14DF6664}" presName="txSpace" presStyleCnt="0"/>
      <dgm:spPr/>
    </dgm:pt>
    <dgm:pt modelId="{81FF5D20-3FAE-470D-9D26-4741C1F26B59}" type="pres">
      <dgm:prSet presAssocID="{DD5EFFC2-0AED-418D-A4F0-324A14DF6664}" presName="desTx" presStyleLbl="revTx" presStyleIdx="1" presStyleCnt="4">
        <dgm:presLayoutVars/>
      </dgm:prSet>
      <dgm:spPr/>
    </dgm:pt>
    <dgm:pt modelId="{8D234C2D-44E5-44E9-B0D3-198767FC20BC}" type="pres">
      <dgm:prSet presAssocID="{F3B53406-81DB-4472-A309-3FFF6D7F6E10}" presName="sibTrans" presStyleCnt="0"/>
      <dgm:spPr/>
    </dgm:pt>
    <dgm:pt modelId="{74CD690E-1FA8-485B-BC7C-7D15CB1EDAC9}" type="pres">
      <dgm:prSet presAssocID="{7B687607-382A-4987-964C-2CD83BDD166C}" presName="compNode" presStyleCnt="0"/>
      <dgm:spPr/>
    </dgm:pt>
    <dgm:pt modelId="{34651D93-1753-4C4F-B37B-AFAF3D32FF79}" type="pres">
      <dgm:prSet presAssocID="{7B687607-382A-4987-964C-2CD83BDD166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9C66BDDB-60C0-4714-A952-42C4F072CB53}" type="pres">
      <dgm:prSet presAssocID="{7B687607-382A-4987-964C-2CD83BDD166C}" presName="iconSpace" presStyleCnt="0"/>
      <dgm:spPr/>
    </dgm:pt>
    <dgm:pt modelId="{EF258873-7099-4D9F-A51F-82B89A66C573}" type="pres">
      <dgm:prSet presAssocID="{7B687607-382A-4987-964C-2CD83BDD166C}" presName="parTx" presStyleLbl="revTx" presStyleIdx="2" presStyleCnt="4">
        <dgm:presLayoutVars>
          <dgm:chMax val="0"/>
          <dgm:chPref val="0"/>
        </dgm:presLayoutVars>
      </dgm:prSet>
      <dgm:spPr/>
    </dgm:pt>
    <dgm:pt modelId="{E437B888-73AC-4604-B91C-FC00B89B9F8C}" type="pres">
      <dgm:prSet presAssocID="{7B687607-382A-4987-964C-2CD83BDD166C}" presName="txSpace" presStyleCnt="0"/>
      <dgm:spPr/>
    </dgm:pt>
    <dgm:pt modelId="{886EA068-8572-435F-A649-6CC7A1364551}" type="pres">
      <dgm:prSet presAssocID="{7B687607-382A-4987-964C-2CD83BDD166C}" presName="desTx" presStyleLbl="revTx" presStyleIdx="3" presStyleCnt="4">
        <dgm:presLayoutVars/>
      </dgm:prSet>
      <dgm:spPr/>
    </dgm:pt>
  </dgm:ptLst>
  <dgm:cxnLst>
    <dgm:cxn modelId="{14F6440F-96AE-4279-901A-25E3634C81B7}" srcId="{DD5EFFC2-0AED-418D-A4F0-324A14DF6664}" destId="{AEF98654-81FA-443D-BA3F-227FE8415AF7}" srcOrd="0" destOrd="0" parTransId="{DC409EAA-6031-4DFB-9417-29A890F539E7}" sibTransId="{93433C6B-A4B7-4871-AB61-C74EF30C3353}"/>
    <dgm:cxn modelId="{40928F27-BB56-44DD-8CA4-52C887D3DFC1}" type="presOf" srcId="{2AA672D1-AF2D-4744-8CF0-4055D386B262}" destId="{81FF5D20-3FAE-470D-9D26-4741C1F26B59}" srcOrd="0" destOrd="1" presId="urn:microsoft.com/office/officeart/2018/2/layout/IconLabelDescriptionList"/>
    <dgm:cxn modelId="{594F7A3D-3A4E-43DD-A750-92354817A666}" srcId="{7B687607-382A-4987-964C-2CD83BDD166C}" destId="{22D9BA60-EBA4-49E6-BA7C-EDEE7CB62C70}" srcOrd="1" destOrd="0" parTransId="{212ABA0A-F724-4200-B2AF-8C6C037A731F}" sibTransId="{A5DC4E87-BAB4-4B05-9AEA-5735C1A174D9}"/>
    <dgm:cxn modelId="{0029D15F-FB51-464D-9A3E-56015D2658F2}" type="presOf" srcId="{DD5EFFC2-0AED-418D-A4F0-324A14DF6664}" destId="{98990FEE-15DA-4E37-8A62-291B78717D8C}" srcOrd="0" destOrd="0" presId="urn:microsoft.com/office/officeart/2018/2/layout/IconLabelDescriptionList"/>
    <dgm:cxn modelId="{B3886F42-4A3F-4FCF-A5AF-FFE0D6D1CECF}" srcId="{DE493EAA-C0EC-4B92-96A6-DB72D4829850}" destId="{7B687607-382A-4987-964C-2CD83BDD166C}" srcOrd="1" destOrd="0" parTransId="{5B90C8FE-F9EB-4780-A7F0-D656F19E322B}" sibTransId="{78A597B1-6C2F-4E7D-8278-BCAD6DA9DAD4}"/>
    <dgm:cxn modelId="{0C39A754-21FE-4D76-A6E4-286AF6D6A716}" type="presOf" srcId="{AEF98654-81FA-443D-BA3F-227FE8415AF7}" destId="{81FF5D20-3FAE-470D-9D26-4741C1F26B59}" srcOrd="0" destOrd="0" presId="urn:microsoft.com/office/officeart/2018/2/layout/IconLabelDescriptionList"/>
    <dgm:cxn modelId="{5C38037B-3DE1-47AC-A830-2834F1865AFA}" type="presOf" srcId="{DE493EAA-C0EC-4B92-96A6-DB72D4829850}" destId="{92766DE6-A114-42E5-897E-C6CF495DD7E8}" srcOrd="0" destOrd="0" presId="urn:microsoft.com/office/officeart/2018/2/layout/IconLabelDescriptionList"/>
    <dgm:cxn modelId="{B720657E-D4D4-4C70-9080-2A77F83E87D1}" srcId="{DE493EAA-C0EC-4B92-96A6-DB72D4829850}" destId="{DD5EFFC2-0AED-418D-A4F0-324A14DF6664}" srcOrd="0" destOrd="0" parTransId="{FA84FC25-D9F7-4CF5-BB26-9556C6F5D0E2}" sibTransId="{F3B53406-81DB-4472-A309-3FFF6D7F6E10}"/>
    <dgm:cxn modelId="{DF9EE089-B699-40EA-ACB1-213A768C53AC}" type="presOf" srcId="{7B687607-382A-4987-964C-2CD83BDD166C}" destId="{EF258873-7099-4D9F-A51F-82B89A66C573}" srcOrd="0" destOrd="0" presId="urn:microsoft.com/office/officeart/2018/2/layout/IconLabelDescriptionList"/>
    <dgm:cxn modelId="{7C0EB393-7ABA-48B7-AE99-55197DD526BC}" srcId="{7B687607-382A-4987-964C-2CD83BDD166C}" destId="{4FCBB8E6-A04B-4E5C-989A-052AA2E96B6A}" srcOrd="0" destOrd="0" parTransId="{7922D6A3-CEFA-45A3-AF17-A567E29C6C3E}" sibTransId="{CF57F5AF-20CC-4132-8CCE-4751F5FD71FD}"/>
    <dgm:cxn modelId="{4672CEA5-286F-4796-8A7D-E93CF02A34D8}" type="presOf" srcId="{22D9BA60-EBA4-49E6-BA7C-EDEE7CB62C70}" destId="{886EA068-8572-435F-A649-6CC7A1364551}" srcOrd="0" destOrd="1" presId="urn:microsoft.com/office/officeart/2018/2/layout/IconLabelDescriptionList"/>
    <dgm:cxn modelId="{274A6EF6-2FDF-42A9-9CBD-B7B3E0E99186}" srcId="{DD5EFFC2-0AED-418D-A4F0-324A14DF6664}" destId="{2AA672D1-AF2D-4744-8CF0-4055D386B262}" srcOrd="1" destOrd="0" parTransId="{49D70E4E-4D34-41BB-90E7-28B98B33F48A}" sibTransId="{53B351F1-C0AF-40A9-9AE1-B8FA8B5F7529}"/>
    <dgm:cxn modelId="{6248E8FA-A9B7-4514-B9B0-F46F1BDF57F5}" type="presOf" srcId="{4FCBB8E6-A04B-4E5C-989A-052AA2E96B6A}" destId="{886EA068-8572-435F-A649-6CC7A1364551}" srcOrd="0" destOrd="0" presId="urn:microsoft.com/office/officeart/2018/2/layout/IconLabelDescriptionList"/>
    <dgm:cxn modelId="{DBA77F2A-6494-45F4-A5C0-061E84227064}" type="presParOf" srcId="{92766DE6-A114-42E5-897E-C6CF495DD7E8}" destId="{3C30E1DC-9C04-4F92-81AB-774B66CE2473}" srcOrd="0" destOrd="0" presId="urn:microsoft.com/office/officeart/2018/2/layout/IconLabelDescriptionList"/>
    <dgm:cxn modelId="{B6C7BE95-2BB7-48C5-8FB1-F9D77EA841AF}" type="presParOf" srcId="{3C30E1DC-9C04-4F92-81AB-774B66CE2473}" destId="{9183CDC9-9AE3-46BA-987F-AE09DB5CC3D2}" srcOrd="0" destOrd="0" presId="urn:microsoft.com/office/officeart/2018/2/layout/IconLabelDescriptionList"/>
    <dgm:cxn modelId="{BFF0F4C4-A7A9-4EDE-BE13-731568CCEBCD}" type="presParOf" srcId="{3C30E1DC-9C04-4F92-81AB-774B66CE2473}" destId="{4B5B8DFF-A85F-4A52-B9A0-FA6686F23B13}" srcOrd="1" destOrd="0" presId="urn:microsoft.com/office/officeart/2018/2/layout/IconLabelDescriptionList"/>
    <dgm:cxn modelId="{B0CBD423-9A6F-48B8-A02B-DD3889FE6F25}" type="presParOf" srcId="{3C30E1DC-9C04-4F92-81AB-774B66CE2473}" destId="{98990FEE-15DA-4E37-8A62-291B78717D8C}" srcOrd="2" destOrd="0" presId="urn:microsoft.com/office/officeart/2018/2/layout/IconLabelDescriptionList"/>
    <dgm:cxn modelId="{96ACB4D9-B6DE-4F91-B463-CD653E73B7E3}" type="presParOf" srcId="{3C30E1DC-9C04-4F92-81AB-774B66CE2473}" destId="{288BBF0D-4159-45A3-BC6C-E567237D1CFE}" srcOrd="3" destOrd="0" presId="urn:microsoft.com/office/officeart/2018/2/layout/IconLabelDescriptionList"/>
    <dgm:cxn modelId="{053DFFA1-B7B1-4C33-80E8-C3632BAB1BD3}" type="presParOf" srcId="{3C30E1DC-9C04-4F92-81AB-774B66CE2473}" destId="{81FF5D20-3FAE-470D-9D26-4741C1F26B59}" srcOrd="4" destOrd="0" presId="urn:microsoft.com/office/officeart/2018/2/layout/IconLabelDescriptionList"/>
    <dgm:cxn modelId="{EDB5A416-61BB-45D4-AD5C-36444192F3F6}" type="presParOf" srcId="{92766DE6-A114-42E5-897E-C6CF495DD7E8}" destId="{8D234C2D-44E5-44E9-B0D3-198767FC20BC}" srcOrd="1" destOrd="0" presId="urn:microsoft.com/office/officeart/2018/2/layout/IconLabelDescriptionList"/>
    <dgm:cxn modelId="{57ED5399-E828-4445-A015-1A98FE512A9A}" type="presParOf" srcId="{92766DE6-A114-42E5-897E-C6CF495DD7E8}" destId="{74CD690E-1FA8-485B-BC7C-7D15CB1EDAC9}" srcOrd="2" destOrd="0" presId="urn:microsoft.com/office/officeart/2018/2/layout/IconLabelDescriptionList"/>
    <dgm:cxn modelId="{4069B07A-6E56-4464-88E6-AE4151AA56B3}" type="presParOf" srcId="{74CD690E-1FA8-485B-BC7C-7D15CB1EDAC9}" destId="{34651D93-1753-4C4F-B37B-AFAF3D32FF79}" srcOrd="0" destOrd="0" presId="urn:microsoft.com/office/officeart/2018/2/layout/IconLabelDescriptionList"/>
    <dgm:cxn modelId="{523E4076-8F31-4C71-A18B-E96B2464E4C1}" type="presParOf" srcId="{74CD690E-1FA8-485B-BC7C-7D15CB1EDAC9}" destId="{9C66BDDB-60C0-4714-A952-42C4F072CB53}" srcOrd="1" destOrd="0" presId="urn:microsoft.com/office/officeart/2018/2/layout/IconLabelDescriptionList"/>
    <dgm:cxn modelId="{CA849B27-19A8-4070-A7D1-F1978C14B49B}" type="presParOf" srcId="{74CD690E-1FA8-485B-BC7C-7D15CB1EDAC9}" destId="{EF258873-7099-4D9F-A51F-82B89A66C573}" srcOrd="2" destOrd="0" presId="urn:microsoft.com/office/officeart/2018/2/layout/IconLabelDescriptionList"/>
    <dgm:cxn modelId="{BCEEA9BD-6585-404F-A21B-0C71A04C7945}" type="presParOf" srcId="{74CD690E-1FA8-485B-BC7C-7D15CB1EDAC9}" destId="{E437B888-73AC-4604-B91C-FC00B89B9F8C}" srcOrd="3" destOrd="0" presId="urn:microsoft.com/office/officeart/2018/2/layout/IconLabelDescriptionList"/>
    <dgm:cxn modelId="{E83DF60D-0DF8-4266-9D94-E47A6216F72B}" type="presParOf" srcId="{74CD690E-1FA8-485B-BC7C-7D15CB1EDAC9}" destId="{886EA068-8572-435F-A649-6CC7A1364551}"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8CA7A7-9414-4DE8-8360-3C4B3D548CFF}" type="doc">
      <dgm:prSet loTypeId="urn:microsoft.com/office/officeart/2018/2/layout/IconLabelDescriptionList" loCatId="icon" qsTypeId="urn:microsoft.com/office/officeart/2005/8/quickstyle/simple2" qsCatId="simple" csTypeId="urn:microsoft.com/office/officeart/2005/8/colors/accent6_2" csCatId="accent6" phldr="1"/>
      <dgm:spPr/>
      <dgm:t>
        <a:bodyPr/>
        <a:lstStyle/>
        <a:p>
          <a:endParaRPr lang="en-US"/>
        </a:p>
      </dgm:t>
    </dgm:pt>
    <dgm:pt modelId="{44457196-26C7-498A-8664-FD60E45F9E7B}">
      <dgm:prSet/>
      <dgm:spPr/>
      <dgm:t>
        <a:bodyPr/>
        <a:lstStyle/>
        <a:p>
          <a:pPr>
            <a:lnSpc>
              <a:spcPct val="100000"/>
            </a:lnSpc>
            <a:defRPr b="1"/>
          </a:pPr>
          <a:r>
            <a:rPr lang="en-US"/>
            <a:t>Phase 3</a:t>
          </a:r>
        </a:p>
      </dgm:t>
    </dgm:pt>
    <dgm:pt modelId="{DEFBFE61-E044-48B2-8C5E-62E78A800C2D}" type="parTrans" cxnId="{ECF2057F-C687-4AB3-847E-2A545239236C}">
      <dgm:prSet/>
      <dgm:spPr/>
      <dgm:t>
        <a:bodyPr/>
        <a:lstStyle/>
        <a:p>
          <a:endParaRPr lang="en-US"/>
        </a:p>
      </dgm:t>
    </dgm:pt>
    <dgm:pt modelId="{FC9DFC0C-F53E-4988-8BDA-7D22E21B6596}" type="sibTrans" cxnId="{ECF2057F-C687-4AB3-847E-2A545239236C}">
      <dgm:prSet phldrT="1"/>
      <dgm:spPr/>
      <dgm:t>
        <a:bodyPr/>
        <a:lstStyle/>
        <a:p>
          <a:endParaRPr lang="en-US"/>
        </a:p>
      </dgm:t>
    </dgm:pt>
    <dgm:pt modelId="{0E404482-2CAF-491A-83DA-35122794BF79}">
      <dgm:prSet/>
      <dgm:spPr/>
      <dgm:t>
        <a:bodyPr/>
        <a:lstStyle/>
        <a:p>
          <a:pPr>
            <a:lnSpc>
              <a:spcPct val="100000"/>
            </a:lnSpc>
          </a:pPr>
          <a:r>
            <a:rPr lang="en-US" dirty="0"/>
            <a:t> (Current - January)</a:t>
          </a:r>
        </a:p>
      </dgm:t>
    </dgm:pt>
    <dgm:pt modelId="{2C4D8C34-788D-4DC4-B60B-616CCF8AA9D6}" type="parTrans" cxnId="{6263234E-2F7C-4797-A174-8A08BD694F46}">
      <dgm:prSet/>
      <dgm:spPr/>
      <dgm:t>
        <a:bodyPr/>
        <a:lstStyle/>
        <a:p>
          <a:endParaRPr lang="en-US"/>
        </a:p>
      </dgm:t>
    </dgm:pt>
    <dgm:pt modelId="{DEB831D7-B709-47D2-BD60-609A53E23A80}" type="sibTrans" cxnId="{6263234E-2F7C-4797-A174-8A08BD694F46}">
      <dgm:prSet/>
      <dgm:spPr/>
      <dgm:t>
        <a:bodyPr/>
        <a:lstStyle/>
        <a:p>
          <a:endParaRPr lang="en-US"/>
        </a:p>
      </dgm:t>
    </dgm:pt>
    <dgm:pt modelId="{533C316C-2263-4AC8-8B25-3585C1BF7B26}">
      <dgm:prSet/>
      <dgm:spPr/>
      <dgm:t>
        <a:bodyPr/>
        <a:lstStyle/>
        <a:p>
          <a:r>
            <a:rPr lang="en-US" dirty="0"/>
            <a:t>I am currently finishing the full </a:t>
          </a:r>
          <a:r>
            <a:rPr lang="en-US" dirty="0" err="1"/>
            <a:t>vectorisation</a:t>
          </a:r>
          <a:r>
            <a:rPr lang="en-US" dirty="0"/>
            <a:t> process to generate the 512-dimensional embeddings for the entire dataset.</a:t>
          </a:r>
        </a:p>
      </dgm:t>
    </dgm:pt>
    <dgm:pt modelId="{6FE90ACE-FDFE-453C-9C28-0D641A85D1DC}" type="parTrans" cxnId="{65729EAF-EDAA-4EEB-B95A-69161A3177D0}">
      <dgm:prSet/>
      <dgm:spPr/>
      <dgm:t>
        <a:bodyPr/>
        <a:lstStyle/>
        <a:p>
          <a:endParaRPr lang="en-US"/>
        </a:p>
      </dgm:t>
    </dgm:pt>
    <dgm:pt modelId="{974C1F56-84FF-46C3-A7BA-256CE0E19ADA}" type="sibTrans" cxnId="{65729EAF-EDAA-4EEB-B95A-69161A3177D0}">
      <dgm:prSet/>
      <dgm:spPr/>
      <dgm:t>
        <a:bodyPr/>
        <a:lstStyle/>
        <a:p>
          <a:endParaRPr lang="en-US"/>
        </a:p>
      </dgm:t>
    </dgm:pt>
    <dgm:pt modelId="{83AA6C40-F63F-4452-AA16-271DFE69515C}">
      <dgm:prSet/>
      <dgm:spPr/>
      <dgm:t>
        <a:bodyPr/>
        <a:lstStyle/>
        <a:p>
          <a:pPr>
            <a:lnSpc>
              <a:spcPct val="100000"/>
            </a:lnSpc>
            <a:defRPr b="1"/>
          </a:pPr>
          <a:r>
            <a:rPr lang="en-US"/>
            <a:t>Phase 4</a:t>
          </a:r>
        </a:p>
      </dgm:t>
    </dgm:pt>
    <dgm:pt modelId="{2545A345-94CB-4A42-9236-F5648819AD75}" type="parTrans" cxnId="{82DE9282-5588-4DD6-9D77-A627E21A9981}">
      <dgm:prSet/>
      <dgm:spPr/>
      <dgm:t>
        <a:bodyPr/>
        <a:lstStyle/>
        <a:p>
          <a:endParaRPr lang="en-US"/>
        </a:p>
      </dgm:t>
    </dgm:pt>
    <dgm:pt modelId="{C240F929-79B8-44FB-A543-FE1BC6E44D82}" type="sibTrans" cxnId="{82DE9282-5588-4DD6-9D77-A627E21A9981}">
      <dgm:prSet phldrT="2"/>
      <dgm:spPr/>
      <dgm:t>
        <a:bodyPr/>
        <a:lstStyle/>
        <a:p>
          <a:endParaRPr lang="en-US"/>
        </a:p>
      </dgm:t>
    </dgm:pt>
    <dgm:pt modelId="{122D79E5-8EF3-43C3-9F99-E492B3D18FB7}">
      <dgm:prSet/>
      <dgm:spPr/>
      <dgm:t>
        <a:bodyPr/>
        <a:lstStyle/>
        <a:p>
          <a:pPr>
            <a:lnSpc>
              <a:spcPct val="100000"/>
            </a:lnSpc>
          </a:pPr>
          <a:r>
            <a:rPr lang="en-US" dirty="0"/>
            <a:t> (February)</a:t>
          </a:r>
        </a:p>
      </dgm:t>
    </dgm:pt>
    <dgm:pt modelId="{47C8C9E0-D2FE-47A5-8DCD-DF25CF92CF1A}" type="parTrans" cxnId="{CC05B34D-AECF-4079-8A02-2A01A36AA544}">
      <dgm:prSet/>
      <dgm:spPr/>
      <dgm:t>
        <a:bodyPr/>
        <a:lstStyle/>
        <a:p>
          <a:endParaRPr lang="en-US"/>
        </a:p>
      </dgm:t>
    </dgm:pt>
    <dgm:pt modelId="{FC251673-1A57-4781-845B-CB9B8BFF9D52}" type="sibTrans" cxnId="{CC05B34D-AECF-4079-8A02-2A01A36AA544}">
      <dgm:prSet/>
      <dgm:spPr/>
      <dgm:t>
        <a:bodyPr/>
        <a:lstStyle/>
        <a:p>
          <a:endParaRPr lang="en-US"/>
        </a:p>
      </dgm:t>
    </dgm:pt>
    <dgm:pt modelId="{95BE7C81-4922-405D-97E1-68B3EFA1EE45}">
      <dgm:prSet/>
      <dgm:spPr/>
      <dgm:t>
        <a:bodyPr/>
        <a:lstStyle/>
        <a:p>
          <a:r>
            <a:rPr lang="en-US" dirty="0"/>
            <a:t>My focus will shift to integration. I will use UMAP to project these vectors into 2D space and connect them to the Dash frontend.</a:t>
          </a:r>
        </a:p>
      </dgm:t>
    </dgm:pt>
    <dgm:pt modelId="{12A2834A-AADD-4E7F-83C0-B0B08C34817E}" type="parTrans" cxnId="{065C51F8-E1E7-4354-AF41-5148CCF92E06}">
      <dgm:prSet/>
      <dgm:spPr/>
      <dgm:t>
        <a:bodyPr/>
        <a:lstStyle/>
        <a:p>
          <a:endParaRPr lang="en-US"/>
        </a:p>
      </dgm:t>
    </dgm:pt>
    <dgm:pt modelId="{8CDCD303-D319-4E87-8ACE-6F45B2671F9F}" type="sibTrans" cxnId="{065C51F8-E1E7-4354-AF41-5148CCF92E06}">
      <dgm:prSet/>
      <dgm:spPr/>
      <dgm:t>
        <a:bodyPr/>
        <a:lstStyle/>
        <a:p>
          <a:endParaRPr lang="en-US"/>
        </a:p>
      </dgm:t>
    </dgm:pt>
    <dgm:pt modelId="{84AAB1E9-B9F0-449B-94AF-B41BD2EE7D98}">
      <dgm:prSet/>
      <dgm:spPr/>
      <dgm:t>
        <a:bodyPr/>
        <a:lstStyle/>
        <a:p>
          <a:r>
            <a:rPr lang="en-US" dirty="0"/>
            <a:t>I will add the Cosine Similarity logic to enable the semantic search feature.</a:t>
          </a:r>
        </a:p>
      </dgm:t>
    </dgm:pt>
    <dgm:pt modelId="{A8C76B29-EA27-4DCE-913E-254651D2DA0B}" type="parTrans" cxnId="{D0C7C498-C449-4344-B016-95A87AFF344B}">
      <dgm:prSet/>
      <dgm:spPr/>
      <dgm:t>
        <a:bodyPr/>
        <a:lstStyle/>
        <a:p>
          <a:endParaRPr lang="en-US"/>
        </a:p>
      </dgm:t>
    </dgm:pt>
    <dgm:pt modelId="{AADDDD80-4987-4E46-819A-6D5C249B86B7}" type="sibTrans" cxnId="{D0C7C498-C449-4344-B016-95A87AFF344B}">
      <dgm:prSet/>
      <dgm:spPr/>
      <dgm:t>
        <a:bodyPr/>
        <a:lstStyle/>
        <a:p>
          <a:endParaRPr lang="en-US"/>
        </a:p>
      </dgm:t>
    </dgm:pt>
    <dgm:pt modelId="{0E80CA6C-CF5A-4A6A-AA02-07D911DCF5C3}">
      <dgm:prSet/>
      <dgm:spPr/>
      <dgm:t>
        <a:bodyPr/>
        <a:lstStyle/>
        <a:p>
          <a:pPr>
            <a:lnSpc>
              <a:spcPct val="100000"/>
            </a:lnSpc>
            <a:defRPr b="1"/>
          </a:pPr>
          <a:r>
            <a:rPr lang="en-US"/>
            <a:t>Phase 5</a:t>
          </a:r>
        </a:p>
      </dgm:t>
    </dgm:pt>
    <dgm:pt modelId="{206998DF-2FA9-4A23-B346-3A009FCC3CA0}" type="parTrans" cxnId="{7425465B-F44A-463D-B117-B7451E0CB469}">
      <dgm:prSet/>
      <dgm:spPr/>
      <dgm:t>
        <a:bodyPr/>
        <a:lstStyle/>
        <a:p>
          <a:endParaRPr lang="en-US"/>
        </a:p>
      </dgm:t>
    </dgm:pt>
    <dgm:pt modelId="{554E6361-F676-4C2C-8D89-1101BCF7CC0D}" type="sibTrans" cxnId="{7425465B-F44A-463D-B117-B7451E0CB469}">
      <dgm:prSet phldrT="3"/>
      <dgm:spPr/>
      <dgm:t>
        <a:bodyPr/>
        <a:lstStyle/>
        <a:p>
          <a:endParaRPr lang="en-US"/>
        </a:p>
      </dgm:t>
    </dgm:pt>
    <dgm:pt modelId="{D77D9118-1AD9-4A72-AEBB-977ED365CAD1}">
      <dgm:prSet/>
      <dgm:spPr/>
      <dgm:t>
        <a:bodyPr/>
        <a:lstStyle/>
        <a:p>
          <a:pPr>
            <a:lnSpc>
              <a:spcPct val="100000"/>
            </a:lnSpc>
          </a:pPr>
          <a:r>
            <a:rPr lang="en-US" dirty="0"/>
            <a:t> (March/April)</a:t>
          </a:r>
        </a:p>
      </dgm:t>
    </dgm:pt>
    <dgm:pt modelId="{DDD4C20E-B80F-4EB4-8423-184C121D2FF9}" type="parTrans" cxnId="{07B9A120-EFC6-4472-B4CD-74ED6213FF98}">
      <dgm:prSet/>
      <dgm:spPr/>
      <dgm:t>
        <a:bodyPr/>
        <a:lstStyle/>
        <a:p>
          <a:endParaRPr lang="en-US"/>
        </a:p>
      </dgm:t>
    </dgm:pt>
    <dgm:pt modelId="{A7F2E297-5189-48BB-95FC-4CBACE5792F9}" type="sibTrans" cxnId="{07B9A120-EFC6-4472-B4CD-74ED6213FF98}">
      <dgm:prSet/>
      <dgm:spPr/>
      <dgm:t>
        <a:bodyPr/>
        <a:lstStyle/>
        <a:p>
          <a:endParaRPr lang="en-US"/>
        </a:p>
      </dgm:t>
    </dgm:pt>
    <dgm:pt modelId="{3F433AC8-FCD2-4D12-96E1-F3BBED3C3E10}">
      <dgm:prSet/>
      <dgm:spPr/>
      <dgm:t>
        <a:bodyPr/>
        <a:lstStyle/>
        <a:p>
          <a:r>
            <a:rPr lang="en-US" dirty="0"/>
            <a:t>I will conduct a quantitative evaluation using Silhouette Scores to measure cluster quality.</a:t>
          </a:r>
        </a:p>
      </dgm:t>
    </dgm:pt>
    <dgm:pt modelId="{12B9C211-F515-45DB-8BAA-321CB5A823C0}" type="parTrans" cxnId="{708C8D3A-E11D-4D94-BC8A-5CF2D60A5E3F}">
      <dgm:prSet/>
      <dgm:spPr/>
      <dgm:t>
        <a:bodyPr/>
        <a:lstStyle/>
        <a:p>
          <a:endParaRPr lang="en-US"/>
        </a:p>
      </dgm:t>
    </dgm:pt>
    <dgm:pt modelId="{4DF84303-B1BA-4F4C-83DC-3D79FAEBD0BF}" type="sibTrans" cxnId="{708C8D3A-E11D-4D94-BC8A-5CF2D60A5E3F}">
      <dgm:prSet/>
      <dgm:spPr/>
      <dgm:t>
        <a:bodyPr/>
        <a:lstStyle/>
        <a:p>
          <a:endParaRPr lang="en-US"/>
        </a:p>
      </dgm:t>
    </dgm:pt>
    <dgm:pt modelId="{6C95F70E-32BC-4A6B-BA54-F69117A98B1D}">
      <dgm:prSet/>
      <dgm:spPr/>
      <dgm:t>
        <a:bodyPr/>
        <a:lstStyle/>
        <a:p>
          <a:r>
            <a:rPr lang="en-US" dirty="0"/>
            <a:t> I’ll complete the dissertation write-up.</a:t>
          </a:r>
        </a:p>
      </dgm:t>
    </dgm:pt>
    <dgm:pt modelId="{698BAD7C-6F5A-42DA-B796-987C21FD4689}" type="parTrans" cxnId="{81A7CED4-4CC4-4AC1-AEC6-156C42329EE9}">
      <dgm:prSet/>
      <dgm:spPr/>
      <dgm:t>
        <a:bodyPr/>
        <a:lstStyle/>
        <a:p>
          <a:endParaRPr lang="en-US"/>
        </a:p>
      </dgm:t>
    </dgm:pt>
    <dgm:pt modelId="{B356CB1C-5D0B-4DC7-8505-38358FFF1877}" type="sibTrans" cxnId="{81A7CED4-4CC4-4AC1-AEC6-156C42329EE9}">
      <dgm:prSet/>
      <dgm:spPr/>
      <dgm:t>
        <a:bodyPr/>
        <a:lstStyle/>
        <a:p>
          <a:endParaRPr lang="en-US"/>
        </a:p>
      </dgm:t>
    </dgm:pt>
    <dgm:pt modelId="{33E5FC23-FCB3-47D5-A0B3-A7B358CBBB8C}" type="pres">
      <dgm:prSet presAssocID="{1B8CA7A7-9414-4DE8-8360-3C4B3D548CFF}" presName="root" presStyleCnt="0">
        <dgm:presLayoutVars>
          <dgm:dir/>
          <dgm:resizeHandles val="exact"/>
        </dgm:presLayoutVars>
      </dgm:prSet>
      <dgm:spPr/>
    </dgm:pt>
    <dgm:pt modelId="{E377C306-F43B-416D-BD89-7C4A42697F39}" type="pres">
      <dgm:prSet presAssocID="{44457196-26C7-498A-8664-FD60E45F9E7B}" presName="compNode" presStyleCnt="0"/>
      <dgm:spPr/>
    </dgm:pt>
    <dgm:pt modelId="{9F862230-5434-4F3C-BBD5-17839C50E47A}" type="pres">
      <dgm:prSet presAssocID="{44457196-26C7-498A-8664-FD60E45F9E7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120E37C6-87CB-49D5-BD61-63F382F057B5}" type="pres">
      <dgm:prSet presAssocID="{44457196-26C7-498A-8664-FD60E45F9E7B}" presName="iconSpace" presStyleCnt="0"/>
      <dgm:spPr/>
    </dgm:pt>
    <dgm:pt modelId="{009C2165-09DA-4DA0-9D45-F766243B505C}" type="pres">
      <dgm:prSet presAssocID="{44457196-26C7-498A-8664-FD60E45F9E7B}" presName="parTx" presStyleLbl="revTx" presStyleIdx="0" presStyleCnt="6">
        <dgm:presLayoutVars>
          <dgm:chMax val="0"/>
          <dgm:chPref val="0"/>
        </dgm:presLayoutVars>
      </dgm:prSet>
      <dgm:spPr/>
    </dgm:pt>
    <dgm:pt modelId="{5AF13AB9-8BED-4030-9BB6-98F40F454C84}" type="pres">
      <dgm:prSet presAssocID="{44457196-26C7-498A-8664-FD60E45F9E7B}" presName="txSpace" presStyleCnt="0"/>
      <dgm:spPr/>
    </dgm:pt>
    <dgm:pt modelId="{F1B158EB-A77C-4312-AE9A-1052B56FDE8D}" type="pres">
      <dgm:prSet presAssocID="{44457196-26C7-498A-8664-FD60E45F9E7B}" presName="desTx" presStyleLbl="revTx" presStyleIdx="1" presStyleCnt="6">
        <dgm:presLayoutVars/>
      </dgm:prSet>
      <dgm:spPr/>
    </dgm:pt>
    <dgm:pt modelId="{DA02EE25-2665-4124-8062-1952F16B2E3F}" type="pres">
      <dgm:prSet presAssocID="{FC9DFC0C-F53E-4988-8BDA-7D22E21B6596}" presName="sibTrans" presStyleCnt="0"/>
      <dgm:spPr/>
    </dgm:pt>
    <dgm:pt modelId="{5CA7A7FA-7B17-4565-8718-2723B9024732}" type="pres">
      <dgm:prSet presAssocID="{83AA6C40-F63F-4452-AA16-271DFE69515C}" presName="compNode" presStyleCnt="0"/>
      <dgm:spPr/>
    </dgm:pt>
    <dgm:pt modelId="{863EFA6B-F374-49F0-A9B1-B05AC7D10C7C}" type="pres">
      <dgm:prSet presAssocID="{83AA6C40-F63F-4452-AA16-271DFE69515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22F069D7-028A-441A-82DF-9CD57A6A7FD7}" type="pres">
      <dgm:prSet presAssocID="{83AA6C40-F63F-4452-AA16-271DFE69515C}" presName="iconSpace" presStyleCnt="0"/>
      <dgm:spPr/>
    </dgm:pt>
    <dgm:pt modelId="{657CCEF0-A27B-4394-8359-3DCBB8C3E440}" type="pres">
      <dgm:prSet presAssocID="{83AA6C40-F63F-4452-AA16-271DFE69515C}" presName="parTx" presStyleLbl="revTx" presStyleIdx="2" presStyleCnt="6">
        <dgm:presLayoutVars>
          <dgm:chMax val="0"/>
          <dgm:chPref val="0"/>
        </dgm:presLayoutVars>
      </dgm:prSet>
      <dgm:spPr/>
    </dgm:pt>
    <dgm:pt modelId="{FD06AA58-842F-4B9E-A52C-47EBD959B687}" type="pres">
      <dgm:prSet presAssocID="{83AA6C40-F63F-4452-AA16-271DFE69515C}" presName="txSpace" presStyleCnt="0"/>
      <dgm:spPr/>
    </dgm:pt>
    <dgm:pt modelId="{9CC0D266-E6CE-49F6-8032-9330CEABCD5E}" type="pres">
      <dgm:prSet presAssocID="{83AA6C40-F63F-4452-AA16-271DFE69515C}" presName="desTx" presStyleLbl="revTx" presStyleIdx="3" presStyleCnt="6">
        <dgm:presLayoutVars/>
      </dgm:prSet>
      <dgm:spPr/>
    </dgm:pt>
    <dgm:pt modelId="{F4BFE0C8-9A5D-446B-AEB8-330CD3212EFC}" type="pres">
      <dgm:prSet presAssocID="{C240F929-79B8-44FB-A543-FE1BC6E44D82}" presName="sibTrans" presStyleCnt="0"/>
      <dgm:spPr/>
    </dgm:pt>
    <dgm:pt modelId="{41E8B928-CA98-4AEF-BF95-2EBF94C8260E}" type="pres">
      <dgm:prSet presAssocID="{0E80CA6C-CF5A-4A6A-AA02-07D911DCF5C3}" presName="compNode" presStyleCnt="0"/>
      <dgm:spPr/>
    </dgm:pt>
    <dgm:pt modelId="{E4B2F965-4450-4401-B4A5-A9042E3A067F}" type="pres">
      <dgm:prSet presAssocID="{0E80CA6C-CF5A-4A6A-AA02-07D911DCF5C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EBE66E69-0434-4A8A-84F6-EBECC8FD8227}" type="pres">
      <dgm:prSet presAssocID="{0E80CA6C-CF5A-4A6A-AA02-07D911DCF5C3}" presName="iconSpace" presStyleCnt="0"/>
      <dgm:spPr/>
    </dgm:pt>
    <dgm:pt modelId="{8522DD47-B473-43CC-9227-DE4AF622B637}" type="pres">
      <dgm:prSet presAssocID="{0E80CA6C-CF5A-4A6A-AA02-07D911DCF5C3}" presName="parTx" presStyleLbl="revTx" presStyleIdx="4" presStyleCnt="6">
        <dgm:presLayoutVars>
          <dgm:chMax val="0"/>
          <dgm:chPref val="0"/>
        </dgm:presLayoutVars>
      </dgm:prSet>
      <dgm:spPr/>
    </dgm:pt>
    <dgm:pt modelId="{4DA5ACBC-1C59-42DF-BB67-12E258F55570}" type="pres">
      <dgm:prSet presAssocID="{0E80CA6C-CF5A-4A6A-AA02-07D911DCF5C3}" presName="txSpace" presStyleCnt="0"/>
      <dgm:spPr/>
    </dgm:pt>
    <dgm:pt modelId="{D60B2264-3F4F-4B70-9DBC-761837D241C9}" type="pres">
      <dgm:prSet presAssocID="{0E80CA6C-CF5A-4A6A-AA02-07D911DCF5C3}" presName="desTx" presStyleLbl="revTx" presStyleIdx="5" presStyleCnt="6">
        <dgm:presLayoutVars/>
      </dgm:prSet>
      <dgm:spPr/>
    </dgm:pt>
  </dgm:ptLst>
  <dgm:cxnLst>
    <dgm:cxn modelId="{8991B200-38AA-49F9-8447-ED188CF6298D}" type="presOf" srcId="{84AAB1E9-B9F0-449B-94AF-B41BD2EE7D98}" destId="{9CC0D266-E6CE-49F6-8032-9330CEABCD5E}" srcOrd="0" destOrd="2" presId="urn:microsoft.com/office/officeart/2018/2/layout/IconLabelDescriptionList"/>
    <dgm:cxn modelId="{E7790915-5CAF-49FF-85FA-1AEA2C0E33D0}" type="presOf" srcId="{44457196-26C7-498A-8664-FD60E45F9E7B}" destId="{009C2165-09DA-4DA0-9D45-F766243B505C}" srcOrd="0" destOrd="0" presId="urn:microsoft.com/office/officeart/2018/2/layout/IconLabelDescriptionList"/>
    <dgm:cxn modelId="{79CD481F-D766-4B19-BBCD-943BAA4C960B}" type="presOf" srcId="{1B8CA7A7-9414-4DE8-8360-3C4B3D548CFF}" destId="{33E5FC23-FCB3-47D5-A0B3-A7B358CBBB8C}" srcOrd="0" destOrd="0" presId="urn:microsoft.com/office/officeart/2018/2/layout/IconLabelDescriptionList"/>
    <dgm:cxn modelId="{07B9A120-EFC6-4472-B4CD-74ED6213FF98}" srcId="{0E80CA6C-CF5A-4A6A-AA02-07D911DCF5C3}" destId="{D77D9118-1AD9-4A72-AEBB-977ED365CAD1}" srcOrd="0" destOrd="0" parTransId="{DDD4C20E-B80F-4EB4-8423-184C121D2FF9}" sibTransId="{A7F2E297-5189-48BB-95FC-4CBACE5792F9}"/>
    <dgm:cxn modelId="{D3310332-309A-4DBF-9DA5-83CAB186812A}" type="presOf" srcId="{83AA6C40-F63F-4452-AA16-271DFE69515C}" destId="{657CCEF0-A27B-4394-8359-3DCBB8C3E440}" srcOrd="0" destOrd="0" presId="urn:microsoft.com/office/officeart/2018/2/layout/IconLabelDescriptionList"/>
    <dgm:cxn modelId="{708C8D3A-E11D-4D94-BC8A-5CF2D60A5E3F}" srcId="{D77D9118-1AD9-4A72-AEBB-977ED365CAD1}" destId="{3F433AC8-FCD2-4D12-96E1-F3BBED3C3E10}" srcOrd="0" destOrd="0" parTransId="{12B9C211-F515-45DB-8BAA-321CB5A823C0}" sibTransId="{4DF84303-B1BA-4F4C-83DC-3D79FAEBD0BF}"/>
    <dgm:cxn modelId="{7425465B-F44A-463D-B117-B7451E0CB469}" srcId="{1B8CA7A7-9414-4DE8-8360-3C4B3D548CFF}" destId="{0E80CA6C-CF5A-4A6A-AA02-07D911DCF5C3}" srcOrd="2" destOrd="0" parTransId="{206998DF-2FA9-4A23-B346-3A009FCC3CA0}" sibTransId="{554E6361-F676-4C2C-8D89-1101BCF7CC0D}"/>
    <dgm:cxn modelId="{B9AE8D5F-EAA6-41DC-85A6-6DD82D897892}" type="presOf" srcId="{0E404482-2CAF-491A-83DA-35122794BF79}" destId="{F1B158EB-A77C-4312-AE9A-1052B56FDE8D}" srcOrd="0" destOrd="0" presId="urn:microsoft.com/office/officeart/2018/2/layout/IconLabelDescriptionList"/>
    <dgm:cxn modelId="{CC05B34D-AECF-4079-8A02-2A01A36AA544}" srcId="{83AA6C40-F63F-4452-AA16-271DFE69515C}" destId="{122D79E5-8EF3-43C3-9F99-E492B3D18FB7}" srcOrd="0" destOrd="0" parTransId="{47C8C9E0-D2FE-47A5-8DCD-DF25CF92CF1A}" sibTransId="{FC251673-1A57-4781-845B-CB9B8BFF9D52}"/>
    <dgm:cxn modelId="{6263234E-2F7C-4797-A174-8A08BD694F46}" srcId="{44457196-26C7-498A-8664-FD60E45F9E7B}" destId="{0E404482-2CAF-491A-83DA-35122794BF79}" srcOrd="0" destOrd="0" parTransId="{2C4D8C34-788D-4DC4-B60B-616CCF8AA9D6}" sibTransId="{DEB831D7-B709-47D2-BD60-609A53E23A80}"/>
    <dgm:cxn modelId="{D8CC504F-4A2C-4EAB-989B-4D42EF0E6D2B}" type="presOf" srcId="{3F433AC8-FCD2-4D12-96E1-F3BBED3C3E10}" destId="{D60B2264-3F4F-4B70-9DBC-761837D241C9}" srcOrd="0" destOrd="1" presId="urn:microsoft.com/office/officeart/2018/2/layout/IconLabelDescriptionList"/>
    <dgm:cxn modelId="{74132558-76AA-419F-BEF2-CD95C109C021}" type="presOf" srcId="{95BE7C81-4922-405D-97E1-68B3EFA1EE45}" destId="{9CC0D266-E6CE-49F6-8032-9330CEABCD5E}" srcOrd="0" destOrd="1" presId="urn:microsoft.com/office/officeart/2018/2/layout/IconLabelDescriptionList"/>
    <dgm:cxn modelId="{ECF2057F-C687-4AB3-847E-2A545239236C}" srcId="{1B8CA7A7-9414-4DE8-8360-3C4B3D548CFF}" destId="{44457196-26C7-498A-8664-FD60E45F9E7B}" srcOrd="0" destOrd="0" parTransId="{DEFBFE61-E044-48B2-8C5E-62E78A800C2D}" sibTransId="{FC9DFC0C-F53E-4988-8BDA-7D22E21B6596}"/>
    <dgm:cxn modelId="{82DE9282-5588-4DD6-9D77-A627E21A9981}" srcId="{1B8CA7A7-9414-4DE8-8360-3C4B3D548CFF}" destId="{83AA6C40-F63F-4452-AA16-271DFE69515C}" srcOrd="1" destOrd="0" parTransId="{2545A345-94CB-4A42-9236-F5648819AD75}" sibTransId="{C240F929-79B8-44FB-A543-FE1BC6E44D82}"/>
    <dgm:cxn modelId="{D0C7C498-C449-4344-B016-95A87AFF344B}" srcId="{122D79E5-8EF3-43C3-9F99-E492B3D18FB7}" destId="{84AAB1E9-B9F0-449B-94AF-B41BD2EE7D98}" srcOrd="1" destOrd="0" parTransId="{A8C76B29-EA27-4DCE-913E-254651D2DA0B}" sibTransId="{AADDDD80-4987-4E46-819A-6D5C249B86B7}"/>
    <dgm:cxn modelId="{65729EAF-EDAA-4EEB-B95A-69161A3177D0}" srcId="{0E404482-2CAF-491A-83DA-35122794BF79}" destId="{533C316C-2263-4AC8-8B25-3585C1BF7B26}" srcOrd="0" destOrd="0" parTransId="{6FE90ACE-FDFE-453C-9C28-0D641A85D1DC}" sibTransId="{974C1F56-84FF-46C3-A7BA-256CE0E19ADA}"/>
    <dgm:cxn modelId="{A99893BF-76D2-4413-A76E-FC28C256D401}" type="presOf" srcId="{D77D9118-1AD9-4A72-AEBB-977ED365CAD1}" destId="{D60B2264-3F4F-4B70-9DBC-761837D241C9}" srcOrd="0" destOrd="0" presId="urn:microsoft.com/office/officeart/2018/2/layout/IconLabelDescriptionList"/>
    <dgm:cxn modelId="{173B25C1-8F5B-417E-8072-B5E2C4ACE397}" type="presOf" srcId="{122D79E5-8EF3-43C3-9F99-E492B3D18FB7}" destId="{9CC0D266-E6CE-49F6-8032-9330CEABCD5E}" srcOrd="0" destOrd="0" presId="urn:microsoft.com/office/officeart/2018/2/layout/IconLabelDescriptionList"/>
    <dgm:cxn modelId="{4A45A6C6-72A5-41A1-80A1-8B88CA494B6C}" type="presOf" srcId="{6C95F70E-32BC-4A6B-BA54-F69117A98B1D}" destId="{D60B2264-3F4F-4B70-9DBC-761837D241C9}" srcOrd="0" destOrd="2" presId="urn:microsoft.com/office/officeart/2018/2/layout/IconLabelDescriptionList"/>
    <dgm:cxn modelId="{9DCE91CF-FE24-4E21-938E-78C628F25382}" type="presOf" srcId="{0E80CA6C-CF5A-4A6A-AA02-07D911DCF5C3}" destId="{8522DD47-B473-43CC-9227-DE4AF622B637}" srcOrd="0" destOrd="0" presId="urn:microsoft.com/office/officeart/2018/2/layout/IconLabelDescriptionList"/>
    <dgm:cxn modelId="{81A7CED4-4CC4-4AC1-AEC6-156C42329EE9}" srcId="{D77D9118-1AD9-4A72-AEBB-977ED365CAD1}" destId="{6C95F70E-32BC-4A6B-BA54-F69117A98B1D}" srcOrd="1" destOrd="0" parTransId="{698BAD7C-6F5A-42DA-B796-987C21FD4689}" sibTransId="{B356CB1C-5D0B-4DC7-8505-38358FFF1877}"/>
    <dgm:cxn modelId="{A23786F7-E45E-44F4-B340-B9831888D3B0}" type="presOf" srcId="{533C316C-2263-4AC8-8B25-3585C1BF7B26}" destId="{F1B158EB-A77C-4312-AE9A-1052B56FDE8D}" srcOrd="0" destOrd="1" presId="urn:microsoft.com/office/officeart/2018/2/layout/IconLabelDescriptionList"/>
    <dgm:cxn modelId="{065C51F8-E1E7-4354-AF41-5148CCF92E06}" srcId="{122D79E5-8EF3-43C3-9F99-E492B3D18FB7}" destId="{95BE7C81-4922-405D-97E1-68B3EFA1EE45}" srcOrd="0" destOrd="0" parTransId="{12A2834A-AADD-4E7F-83C0-B0B08C34817E}" sibTransId="{8CDCD303-D319-4E87-8ACE-6F45B2671F9F}"/>
    <dgm:cxn modelId="{5C9B5110-D5D8-4D2A-A9B7-C2B1575B5695}" type="presParOf" srcId="{33E5FC23-FCB3-47D5-A0B3-A7B358CBBB8C}" destId="{E377C306-F43B-416D-BD89-7C4A42697F39}" srcOrd="0" destOrd="0" presId="urn:microsoft.com/office/officeart/2018/2/layout/IconLabelDescriptionList"/>
    <dgm:cxn modelId="{6D5C2FD5-A362-4ED4-BA4B-D85E6A77C6F6}" type="presParOf" srcId="{E377C306-F43B-416D-BD89-7C4A42697F39}" destId="{9F862230-5434-4F3C-BBD5-17839C50E47A}" srcOrd="0" destOrd="0" presId="urn:microsoft.com/office/officeart/2018/2/layout/IconLabelDescriptionList"/>
    <dgm:cxn modelId="{260F066D-CE03-494B-8548-CF2C30A5D9D3}" type="presParOf" srcId="{E377C306-F43B-416D-BD89-7C4A42697F39}" destId="{120E37C6-87CB-49D5-BD61-63F382F057B5}" srcOrd="1" destOrd="0" presId="urn:microsoft.com/office/officeart/2018/2/layout/IconLabelDescriptionList"/>
    <dgm:cxn modelId="{7620A558-F0E9-4618-8D10-AFBCDD3A2B32}" type="presParOf" srcId="{E377C306-F43B-416D-BD89-7C4A42697F39}" destId="{009C2165-09DA-4DA0-9D45-F766243B505C}" srcOrd="2" destOrd="0" presId="urn:microsoft.com/office/officeart/2018/2/layout/IconLabelDescriptionList"/>
    <dgm:cxn modelId="{427199B4-FFE0-49DA-8E45-17E68A596FE5}" type="presParOf" srcId="{E377C306-F43B-416D-BD89-7C4A42697F39}" destId="{5AF13AB9-8BED-4030-9BB6-98F40F454C84}" srcOrd="3" destOrd="0" presId="urn:microsoft.com/office/officeart/2018/2/layout/IconLabelDescriptionList"/>
    <dgm:cxn modelId="{9BDED4BD-A5F6-4AEC-984D-932E291B3EE7}" type="presParOf" srcId="{E377C306-F43B-416D-BD89-7C4A42697F39}" destId="{F1B158EB-A77C-4312-AE9A-1052B56FDE8D}" srcOrd="4" destOrd="0" presId="urn:microsoft.com/office/officeart/2018/2/layout/IconLabelDescriptionList"/>
    <dgm:cxn modelId="{C8A7E634-5A96-4242-B9E0-125777C645CD}" type="presParOf" srcId="{33E5FC23-FCB3-47D5-A0B3-A7B358CBBB8C}" destId="{DA02EE25-2665-4124-8062-1952F16B2E3F}" srcOrd="1" destOrd="0" presId="urn:microsoft.com/office/officeart/2018/2/layout/IconLabelDescriptionList"/>
    <dgm:cxn modelId="{9A6093B5-03F7-4889-8FC2-2D147F3D14A2}" type="presParOf" srcId="{33E5FC23-FCB3-47D5-A0B3-A7B358CBBB8C}" destId="{5CA7A7FA-7B17-4565-8718-2723B9024732}" srcOrd="2" destOrd="0" presId="urn:microsoft.com/office/officeart/2018/2/layout/IconLabelDescriptionList"/>
    <dgm:cxn modelId="{4C6875C6-2A58-4331-9F41-DA6551CA8CE1}" type="presParOf" srcId="{5CA7A7FA-7B17-4565-8718-2723B9024732}" destId="{863EFA6B-F374-49F0-A9B1-B05AC7D10C7C}" srcOrd="0" destOrd="0" presId="urn:microsoft.com/office/officeart/2018/2/layout/IconLabelDescriptionList"/>
    <dgm:cxn modelId="{D9743705-B78A-4819-8354-54A35ED4A4A6}" type="presParOf" srcId="{5CA7A7FA-7B17-4565-8718-2723B9024732}" destId="{22F069D7-028A-441A-82DF-9CD57A6A7FD7}" srcOrd="1" destOrd="0" presId="urn:microsoft.com/office/officeart/2018/2/layout/IconLabelDescriptionList"/>
    <dgm:cxn modelId="{05AB8F87-B2BA-4521-9296-2A1C74DF5E0C}" type="presParOf" srcId="{5CA7A7FA-7B17-4565-8718-2723B9024732}" destId="{657CCEF0-A27B-4394-8359-3DCBB8C3E440}" srcOrd="2" destOrd="0" presId="urn:microsoft.com/office/officeart/2018/2/layout/IconLabelDescriptionList"/>
    <dgm:cxn modelId="{5C6CC6B7-A55A-4847-BE1B-90BF3938836A}" type="presParOf" srcId="{5CA7A7FA-7B17-4565-8718-2723B9024732}" destId="{FD06AA58-842F-4B9E-A52C-47EBD959B687}" srcOrd="3" destOrd="0" presId="urn:microsoft.com/office/officeart/2018/2/layout/IconLabelDescriptionList"/>
    <dgm:cxn modelId="{62ACF35B-E17E-4C38-9632-8B38EC522960}" type="presParOf" srcId="{5CA7A7FA-7B17-4565-8718-2723B9024732}" destId="{9CC0D266-E6CE-49F6-8032-9330CEABCD5E}" srcOrd="4" destOrd="0" presId="urn:microsoft.com/office/officeart/2018/2/layout/IconLabelDescriptionList"/>
    <dgm:cxn modelId="{C1918F9D-DAB9-4FBA-AC8B-EA7E8AA6C3DC}" type="presParOf" srcId="{33E5FC23-FCB3-47D5-A0B3-A7B358CBBB8C}" destId="{F4BFE0C8-9A5D-446B-AEB8-330CD3212EFC}" srcOrd="3" destOrd="0" presId="urn:microsoft.com/office/officeart/2018/2/layout/IconLabelDescriptionList"/>
    <dgm:cxn modelId="{9606F8E3-7069-4C5C-9379-94567EF70839}" type="presParOf" srcId="{33E5FC23-FCB3-47D5-A0B3-A7B358CBBB8C}" destId="{41E8B928-CA98-4AEF-BF95-2EBF94C8260E}" srcOrd="4" destOrd="0" presId="urn:microsoft.com/office/officeart/2018/2/layout/IconLabelDescriptionList"/>
    <dgm:cxn modelId="{602328DF-0B42-4221-BA92-6B9A2275DAE8}" type="presParOf" srcId="{41E8B928-CA98-4AEF-BF95-2EBF94C8260E}" destId="{E4B2F965-4450-4401-B4A5-A9042E3A067F}" srcOrd="0" destOrd="0" presId="urn:microsoft.com/office/officeart/2018/2/layout/IconLabelDescriptionList"/>
    <dgm:cxn modelId="{3636A6B0-7D0D-4372-944F-DDE419ABDFFB}" type="presParOf" srcId="{41E8B928-CA98-4AEF-BF95-2EBF94C8260E}" destId="{EBE66E69-0434-4A8A-84F6-EBECC8FD8227}" srcOrd="1" destOrd="0" presId="urn:microsoft.com/office/officeart/2018/2/layout/IconLabelDescriptionList"/>
    <dgm:cxn modelId="{BFBA1E4A-645F-458D-BFD5-74EC8950406C}" type="presParOf" srcId="{41E8B928-CA98-4AEF-BF95-2EBF94C8260E}" destId="{8522DD47-B473-43CC-9227-DE4AF622B637}" srcOrd="2" destOrd="0" presId="urn:microsoft.com/office/officeart/2018/2/layout/IconLabelDescriptionList"/>
    <dgm:cxn modelId="{3E54519A-358C-42B3-A1B4-2D947FC4CB88}" type="presParOf" srcId="{41E8B928-CA98-4AEF-BF95-2EBF94C8260E}" destId="{4DA5ACBC-1C59-42DF-BB67-12E258F55570}" srcOrd="3" destOrd="0" presId="urn:microsoft.com/office/officeart/2018/2/layout/IconLabelDescriptionList"/>
    <dgm:cxn modelId="{02DF66B0-9086-40EB-BDDC-09A61581A02F}" type="presParOf" srcId="{41E8B928-CA98-4AEF-BF95-2EBF94C8260E}" destId="{D60B2264-3F4F-4B70-9DBC-761837D241C9}" srcOrd="4" destOrd="0" presId="urn:microsoft.com/office/officeart/2018/2/layout/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EC90-EB92-48F0-94B5-DE096012F297}">
      <dsp:nvSpPr>
        <dsp:cNvPr id="0" name=""/>
        <dsp:cNvSpPr/>
      </dsp:nvSpPr>
      <dsp:spPr>
        <a:xfrm>
          <a:off x="2965" y="298922"/>
          <a:ext cx="1782979" cy="437497"/>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defRPr b="1"/>
          </a:pPr>
          <a:r>
            <a:rPr lang="en-US" sz="1200" b="1" kern="1200"/>
            <a:t>Engineering Strategy</a:t>
          </a:r>
          <a:endParaRPr lang="en-US" sz="1200" kern="1200"/>
        </a:p>
      </dsp:txBody>
      <dsp:txXfrm>
        <a:off x="2965" y="298922"/>
        <a:ext cx="1782979" cy="437497"/>
      </dsp:txXfrm>
    </dsp:sp>
    <dsp:sp modelId="{88D68642-6A5A-4DDD-82C5-59D6067362FC}">
      <dsp:nvSpPr>
        <dsp:cNvPr id="0" name=""/>
        <dsp:cNvSpPr/>
      </dsp:nvSpPr>
      <dsp:spPr>
        <a:xfrm>
          <a:off x="2965" y="736420"/>
          <a:ext cx="1782979" cy="331599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t>I have created an “Offline-Online” architecture to make sure the system is scalable. Processing 18,000 images is computationally heavy so I have separated the “maths” from the “interface”.</a:t>
          </a:r>
        </a:p>
      </dsp:txBody>
      <dsp:txXfrm>
        <a:off x="2965" y="736420"/>
        <a:ext cx="1782979" cy="3315994"/>
      </dsp:txXfrm>
    </dsp:sp>
    <dsp:sp modelId="{80E4757A-4E29-4FC5-A445-2D3B4B81162E}">
      <dsp:nvSpPr>
        <dsp:cNvPr id="0" name=""/>
        <dsp:cNvSpPr/>
      </dsp:nvSpPr>
      <dsp:spPr>
        <a:xfrm>
          <a:off x="2035561" y="298922"/>
          <a:ext cx="1782979" cy="437497"/>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defRPr b="1"/>
          </a:pPr>
          <a:r>
            <a:rPr lang="en-US" sz="1200" b="1" kern="1200"/>
            <a:t>The Offline Engine (Backend)</a:t>
          </a:r>
          <a:endParaRPr lang="en-US" sz="1200" kern="1200"/>
        </a:p>
      </dsp:txBody>
      <dsp:txXfrm>
        <a:off x="2035561" y="298922"/>
        <a:ext cx="1782979" cy="437497"/>
      </dsp:txXfrm>
    </dsp:sp>
    <dsp:sp modelId="{C6343B1C-71D9-487E-A001-C15FF722EBDA}">
      <dsp:nvSpPr>
        <dsp:cNvPr id="0" name=""/>
        <dsp:cNvSpPr/>
      </dsp:nvSpPr>
      <dsp:spPr>
        <a:xfrm>
          <a:off x="2035561" y="736420"/>
          <a:ext cx="1782979" cy="331599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This pipeline ingests the raw </a:t>
          </a:r>
          <a:r>
            <a:rPr lang="en-US" sz="1200" kern="1200" dirty="0" err="1"/>
            <a:t>CrisisMMD</a:t>
          </a:r>
          <a:r>
            <a:rPr lang="en-US" sz="1200" kern="1200" dirty="0"/>
            <a:t> data, cleans it, and feeds it through the CLIP model.</a:t>
          </a:r>
        </a:p>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r>
            <a:rPr lang="en-US" sz="1200" kern="1200"/>
            <a:t>It outputs a lightweight set of vector coordinates (.npy files) rather than processing images in real-time.</a:t>
          </a:r>
        </a:p>
      </dsp:txBody>
      <dsp:txXfrm>
        <a:off x="2035561" y="736420"/>
        <a:ext cx="1782979" cy="3315994"/>
      </dsp:txXfrm>
    </dsp:sp>
    <dsp:sp modelId="{137B72E4-77CA-4A6D-9CBF-81F774813F2D}">
      <dsp:nvSpPr>
        <dsp:cNvPr id="0" name=""/>
        <dsp:cNvSpPr/>
      </dsp:nvSpPr>
      <dsp:spPr>
        <a:xfrm>
          <a:off x="4068158" y="298922"/>
          <a:ext cx="1782979" cy="437497"/>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defRPr b="1"/>
          </a:pPr>
          <a:r>
            <a:rPr lang="en-US" sz="1200" b="1" kern="1200"/>
            <a:t>The Online Visualisation (Frontend)</a:t>
          </a:r>
          <a:endParaRPr lang="en-US" sz="1200" kern="1200"/>
        </a:p>
      </dsp:txBody>
      <dsp:txXfrm>
        <a:off x="4068158" y="298922"/>
        <a:ext cx="1782979" cy="437497"/>
      </dsp:txXfrm>
    </dsp:sp>
    <dsp:sp modelId="{A2576744-2271-4C63-A64E-09900380D0FD}">
      <dsp:nvSpPr>
        <dsp:cNvPr id="0" name=""/>
        <dsp:cNvSpPr/>
      </dsp:nvSpPr>
      <dsp:spPr>
        <a:xfrm>
          <a:off x="4068158" y="736420"/>
          <a:ext cx="1782979" cy="331599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I am using Dash and </a:t>
          </a:r>
          <a:r>
            <a:rPr lang="en-US" sz="1200" kern="1200" dirty="0" err="1"/>
            <a:t>Plotly</a:t>
          </a:r>
          <a:r>
            <a:rPr lang="en-US" sz="1200" kern="1200" dirty="0"/>
            <a:t> to build the user interface.</a:t>
          </a:r>
        </a:p>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r>
            <a:rPr lang="en-GB" sz="1200" kern="1200" dirty="0"/>
            <a:t>A lot of the h</a:t>
          </a:r>
          <a:r>
            <a:rPr lang="en-US" sz="1200" kern="1200" dirty="0" err="1"/>
            <a:t>eavy</a:t>
          </a:r>
          <a:r>
            <a:rPr lang="en-US" sz="1200" kern="1200" dirty="0"/>
            <a:t> lifting is done offline, the dashboard remains responsive and fast, allowing for smooth user interaction on standard hardware.</a:t>
          </a:r>
        </a:p>
      </dsp:txBody>
      <dsp:txXfrm>
        <a:off x="4068158" y="736420"/>
        <a:ext cx="1782979" cy="3315994"/>
      </dsp:txXfrm>
    </dsp:sp>
    <dsp:sp modelId="{08D4987A-5E90-44D1-83A4-8BFF8CA4E80A}">
      <dsp:nvSpPr>
        <dsp:cNvPr id="0" name=""/>
        <dsp:cNvSpPr/>
      </dsp:nvSpPr>
      <dsp:spPr>
        <a:xfrm>
          <a:off x="6100755" y="298922"/>
          <a:ext cx="1782979" cy="437497"/>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b="1" kern="1200" dirty="0"/>
            <a:t>Unsupervised &amp; Multimodal </a:t>
          </a:r>
        </a:p>
      </dsp:txBody>
      <dsp:txXfrm>
        <a:off x="6100755" y="298922"/>
        <a:ext cx="1782979" cy="437497"/>
      </dsp:txXfrm>
    </dsp:sp>
    <dsp:sp modelId="{35774047-59F3-442C-850D-ECE9FE19BDE8}">
      <dsp:nvSpPr>
        <dsp:cNvPr id="0" name=""/>
        <dsp:cNvSpPr/>
      </dsp:nvSpPr>
      <dsp:spPr>
        <a:xfrm>
          <a:off x="6100755" y="736420"/>
          <a:ext cx="1782979" cy="331599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endParaRPr lang="en-GB" sz="1200" kern="1200" dirty="0"/>
        </a:p>
        <a:p>
          <a:pPr marL="114300" lvl="1" indent="-114300" algn="l" defTabSz="533400">
            <a:lnSpc>
              <a:spcPct val="90000"/>
            </a:lnSpc>
            <a:spcBef>
              <a:spcPct val="0"/>
            </a:spcBef>
            <a:spcAft>
              <a:spcPct val="15000"/>
            </a:spcAft>
            <a:buChar char="•"/>
          </a:pPr>
          <a:r>
            <a:rPr lang="en-GB" sz="1200" b="1" kern="1200" dirty="0"/>
            <a:t>CLIP: </a:t>
          </a:r>
          <a:r>
            <a:rPr lang="en-GB" sz="1200" kern="1200" dirty="0"/>
            <a:t>- Uses </a:t>
          </a:r>
          <a:r>
            <a:rPr lang="en-GB" sz="1200" kern="1200" dirty="0" err="1"/>
            <a:t>ViT</a:t>
          </a:r>
          <a:r>
            <a:rPr lang="en-GB" sz="1200" kern="1200" dirty="0"/>
            <a:t>-B/32 to extract 512-dimensional semantic vectors - Understands image content without pre-trained labels - Example: Distinguishes 'rescue boat' from 'fishing boat’ </a:t>
          </a:r>
        </a:p>
        <a:p>
          <a:pPr marL="114300" lvl="1" indent="-114300" algn="l" defTabSz="533400">
            <a:lnSpc>
              <a:spcPct val="90000"/>
            </a:lnSpc>
            <a:spcBef>
              <a:spcPct val="0"/>
            </a:spcBef>
            <a:spcAft>
              <a:spcPct val="15000"/>
            </a:spcAft>
            <a:buChar char="•"/>
          </a:pPr>
          <a:endParaRPr lang="en-GB" sz="1200" b="1" kern="1200" dirty="0"/>
        </a:p>
        <a:p>
          <a:pPr marL="114300" lvl="1" indent="-114300" algn="l" defTabSz="533400">
            <a:lnSpc>
              <a:spcPct val="90000"/>
            </a:lnSpc>
            <a:spcBef>
              <a:spcPct val="0"/>
            </a:spcBef>
            <a:spcAft>
              <a:spcPct val="15000"/>
            </a:spcAft>
            <a:buChar char="•"/>
          </a:pPr>
          <a:r>
            <a:rPr lang="en-GB" sz="1200" b="1" kern="1200" dirty="0"/>
            <a:t>UMAP: </a:t>
          </a:r>
          <a:r>
            <a:rPr lang="en-GB" sz="1200" kern="1200" dirty="0"/>
            <a:t>- Projects high-dimensional data into 2D space - Preserves global structure for natural clustering - Shows how disaster events relate to each other</a:t>
          </a:r>
        </a:p>
      </dsp:txBody>
      <dsp:txXfrm>
        <a:off x="6100755" y="736420"/>
        <a:ext cx="1782979" cy="33159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DBDAA-FDE0-49A3-8C47-CBF882A2F402}">
      <dsp:nvSpPr>
        <dsp:cNvPr id="0" name=""/>
        <dsp:cNvSpPr/>
      </dsp:nvSpPr>
      <dsp:spPr>
        <a:xfrm>
          <a:off x="4621" y="312173"/>
          <a:ext cx="390169" cy="390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4E9FF5-0285-47D5-8392-7F2EBD51C2C5}">
      <dsp:nvSpPr>
        <dsp:cNvPr id="0" name=""/>
        <dsp:cNvSpPr/>
      </dsp:nvSpPr>
      <dsp:spPr>
        <a:xfrm>
          <a:off x="4621" y="833612"/>
          <a:ext cx="1114769"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Data Ingestion Pipeline</a:t>
          </a:r>
          <a:endParaRPr lang="en-US" sz="1400" kern="1200"/>
        </a:p>
      </dsp:txBody>
      <dsp:txXfrm>
        <a:off x="4621" y="833612"/>
        <a:ext cx="1114769" cy="397136"/>
      </dsp:txXfrm>
    </dsp:sp>
    <dsp:sp modelId="{D5AEC95B-FB99-46A8-B755-D833BAD091E9}">
      <dsp:nvSpPr>
        <dsp:cNvPr id="0" name=""/>
        <dsp:cNvSpPr/>
      </dsp:nvSpPr>
      <dsp:spPr>
        <a:xfrm>
          <a:off x="4621" y="1291804"/>
          <a:ext cx="1114769" cy="2073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dirty="0"/>
            <a:t>I have successfully ingested the full </a:t>
          </a:r>
          <a:r>
            <a:rPr lang="en-US" sz="1100" kern="1200" dirty="0" err="1"/>
            <a:t>CrisisMMD</a:t>
          </a:r>
          <a:r>
            <a:rPr lang="en-US" sz="1100" kern="1200" dirty="0"/>
            <a:t> dataset (</a:t>
          </a:r>
          <a:r>
            <a:rPr lang="en-US" sz="1100" kern="1200" dirty="0" err="1"/>
            <a:t>approx</a:t>
          </a:r>
          <a:r>
            <a:rPr lang="en-US" sz="1100" kern="1200" dirty="0"/>
            <a:t> 18,000 images).</a:t>
          </a:r>
        </a:p>
        <a:p>
          <a:pPr marL="0" lvl="0" indent="0" algn="l" defTabSz="488950">
            <a:lnSpc>
              <a:spcPct val="90000"/>
            </a:lnSpc>
            <a:spcBef>
              <a:spcPct val="0"/>
            </a:spcBef>
            <a:spcAft>
              <a:spcPct val="35000"/>
            </a:spcAft>
            <a:buNone/>
          </a:pPr>
          <a:r>
            <a:rPr lang="en-US" sz="1100" kern="1200" dirty="0"/>
            <a:t>I made a custom cleaning script to handle data corruption making sure only valid images are passed to the model.</a:t>
          </a:r>
        </a:p>
      </dsp:txBody>
      <dsp:txXfrm>
        <a:off x="4621" y="1291804"/>
        <a:ext cx="1114769" cy="2073145"/>
      </dsp:txXfrm>
    </dsp:sp>
    <dsp:sp modelId="{CFB0A4DA-7235-4F11-8C5B-C56202322736}">
      <dsp:nvSpPr>
        <dsp:cNvPr id="0" name=""/>
        <dsp:cNvSpPr/>
      </dsp:nvSpPr>
      <dsp:spPr>
        <a:xfrm>
          <a:off x="1314476" y="312173"/>
          <a:ext cx="390169" cy="390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F5C936-1F7D-4A28-A029-3CD17F3F71DE}">
      <dsp:nvSpPr>
        <dsp:cNvPr id="0" name=""/>
        <dsp:cNvSpPr/>
      </dsp:nvSpPr>
      <dsp:spPr>
        <a:xfrm>
          <a:off x="1314476" y="833612"/>
          <a:ext cx="1114769"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Validation Prototype (V4)</a:t>
          </a:r>
          <a:endParaRPr lang="en-US" sz="1400" kern="1200"/>
        </a:p>
      </dsp:txBody>
      <dsp:txXfrm>
        <a:off x="1314476" y="833612"/>
        <a:ext cx="1114769" cy="397136"/>
      </dsp:txXfrm>
    </dsp:sp>
    <dsp:sp modelId="{36B18EBE-BE54-4584-BE8F-D6D6F015FEE9}">
      <dsp:nvSpPr>
        <dsp:cNvPr id="0" name=""/>
        <dsp:cNvSpPr/>
      </dsp:nvSpPr>
      <dsp:spPr>
        <a:xfrm>
          <a:off x="1314476" y="1291804"/>
          <a:ext cx="1114769" cy="2073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dirty="0"/>
            <a:t>I built a grid-based explorer in Dash to visually verify the quality of the metadata.</a:t>
          </a:r>
        </a:p>
        <a:p>
          <a:pPr marL="0" lvl="0" indent="0" algn="l" defTabSz="488950">
            <a:lnSpc>
              <a:spcPct val="90000"/>
            </a:lnSpc>
            <a:spcBef>
              <a:spcPct val="0"/>
            </a:spcBef>
            <a:spcAft>
              <a:spcPct val="35000"/>
            </a:spcAft>
            <a:buNone/>
          </a:pPr>
          <a:r>
            <a:rPr lang="en-US" sz="1100" kern="1200"/>
            <a:t>This step confirmed that the image resolution (min 200x200px) is sufficient for the CLIP vectorisation process.</a:t>
          </a:r>
        </a:p>
      </dsp:txBody>
      <dsp:txXfrm>
        <a:off x="1314476" y="1291804"/>
        <a:ext cx="1114769" cy="2073145"/>
      </dsp:txXfrm>
    </dsp:sp>
    <dsp:sp modelId="{67B171C7-0DFF-4B24-BA3A-2BDFE4FE489A}">
      <dsp:nvSpPr>
        <dsp:cNvPr id="0" name=""/>
        <dsp:cNvSpPr/>
      </dsp:nvSpPr>
      <dsp:spPr>
        <a:xfrm>
          <a:off x="2624330" y="312173"/>
          <a:ext cx="390169" cy="3901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0EAA71-1713-4EB4-94C3-3E4CB60A230F}">
      <dsp:nvSpPr>
        <dsp:cNvPr id="0" name=""/>
        <dsp:cNvSpPr/>
      </dsp:nvSpPr>
      <dsp:spPr>
        <a:xfrm>
          <a:off x="2624330" y="833612"/>
          <a:ext cx="1114769"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Environment Setup</a:t>
          </a:r>
          <a:endParaRPr lang="en-US" sz="1400" kern="1200"/>
        </a:p>
      </dsp:txBody>
      <dsp:txXfrm>
        <a:off x="2624330" y="833612"/>
        <a:ext cx="1114769" cy="397136"/>
      </dsp:txXfrm>
    </dsp:sp>
    <dsp:sp modelId="{70D0F180-5264-4781-BE31-3D926EE65271}">
      <dsp:nvSpPr>
        <dsp:cNvPr id="0" name=""/>
        <dsp:cNvSpPr/>
      </dsp:nvSpPr>
      <dsp:spPr>
        <a:xfrm>
          <a:off x="2624330" y="1291804"/>
          <a:ext cx="1114769" cy="2073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dirty="0"/>
            <a:t>My local development environment is fully configured with </a:t>
          </a:r>
          <a:r>
            <a:rPr lang="en-US" sz="1100" kern="1200" dirty="0" err="1"/>
            <a:t>PyTorch</a:t>
          </a:r>
          <a:r>
            <a:rPr lang="en-US" sz="1100" kern="1200" dirty="0"/>
            <a:t> and CUDA acceleration to use GPU.</a:t>
          </a:r>
        </a:p>
        <a:p>
          <a:pPr marL="0" lvl="0" indent="0" algn="l" defTabSz="488950">
            <a:lnSpc>
              <a:spcPct val="90000"/>
            </a:lnSpc>
            <a:spcBef>
              <a:spcPct val="0"/>
            </a:spcBef>
            <a:spcAft>
              <a:spcPct val="35000"/>
            </a:spcAft>
            <a:buNone/>
          </a:pPr>
          <a:r>
            <a:rPr lang="en-US" sz="1100" kern="1200" dirty="0"/>
            <a:t>The core </a:t>
          </a:r>
          <a:r>
            <a:rPr lang="en-US" sz="1100" kern="1200" dirty="0" err="1"/>
            <a:t>vectorisation</a:t>
          </a:r>
          <a:r>
            <a:rPr lang="en-US" sz="1100" kern="1200" dirty="0"/>
            <a:t> pipeline is currently running which is the start of Phase 3.</a:t>
          </a:r>
        </a:p>
      </dsp:txBody>
      <dsp:txXfrm>
        <a:off x="2624330" y="1291804"/>
        <a:ext cx="1114769" cy="20731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3CDC9-9AE3-46BA-987F-AE09DB5CC3D2}">
      <dsp:nvSpPr>
        <dsp:cNvPr id="0" name=""/>
        <dsp:cNvSpPr/>
      </dsp:nvSpPr>
      <dsp:spPr>
        <a:xfrm>
          <a:off x="4950" y="100161"/>
          <a:ext cx="1317282" cy="13172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990FEE-15DA-4E37-8A62-291B78717D8C}">
      <dsp:nvSpPr>
        <dsp:cNvPr id="0" name=""/>
        <dsp:cNvSpPr/>
      </dsp:nvSpPr>
      <dsp:spPr>
        <a:xfrm>
          <a:off x="4950" y="1567474"/>
          <a:ext cx="3763664" cy="56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100000"/>
            </a:lnSpc>
            <a:spcBef>
              <a:spcPct val="0"/>
            </a:spcBef>
            <a:spcAft>
              <a:spcPct val="35000"/>
            </a:spcAft>
            <a:buNone/>
            <a:defRPr b="1"/>
          </a:pPr>
          <a:r>
            <a:rPr lang="en-US" sz="1900" b="1" kern="1200" dirty="0"/>
            <a:t>Challenge 1 - Metadata Inconsistency</a:t>
          </a:r>
          <a:endParaRPr lang="en-US" sz="1900" kern="1200" dirty="0"/>
        </a:p>
      </dsp:txBody>
      <dsp:txXfrm>
        <a:off x="4950" y="1567474"/>
        <a:ext cx="3763664" cy="564549"/>
      </dsp:txXfrm>
    </dsp:sp>
    <dsp:sp modelId="{81FF5D20-3FAE-470D-9D26-4741C1F26B59}">
      <dsp:nvSpPr>
        <dsp:cNvPr id="0" name=""/>
        <dsp:cNvSpPr/>
      </dsp:nvSpPr>
      <dsp:spPr>
        <a:xfrm>
          <a:off x="4950" y="2201806"/>
          <a:ext cx="3763664" cy="1387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kern="1200" dirty="0"/>
            <a:t>I found that about 5% of the images in the dataset had corrupt file headers or missing JSON labels which isn’t suitable.</a:t>
          </a:r>
        </a:p>
        <a:p>
          <a:pPr marL="0" lvl="0" indent="0" algn="l" defTabSz="622300">
            <a:lnSpc>
              <a:spcPct val="100000"/>
            </a:lnSpc>
            <a:spcBef>
              <a:spcPct val="0"/>
            </a:spcBef>
            <a:spcAft>
              <a:spcPct val="35000"/>
            </a:spcAft>
            <a:buNone/>
          </a:pPr>
          <a:r>
            <a:rPr lang="en-GB" sz="1400" kern="1200" dirty="0"/>
            <a:t>M</a:t>
          </a:r>
          <a:r>
            <a:rPr lang="en-US" sz="1400" kern="1200" dirty="0" err="1"/>
            <a:t>itigation</a:t>
          </a:r>
          <a:r>
            <a:rPr lang="en-US" sz="1400" kern="1200" dirty="0"/>
            <a:t> / fixes: I added a loop with error logging. This make sure the pipeline skips bad files instead of crashing during the long training run.</a:t>
          </a:r>
        </a:p>
      </dsp:txBody>
      <dsp:txXfrm>
        <a:off x="4950" y="2201806"/>
        <a:ext cx="3763664" cy="1387437"/>
      </dsp:txXfrm>
    </dsp:sp>
    <dsp:sp modelId="{34651D93-1753-4C4F-B37B-AFAF3D32FF79}">
      <dsp:nvSpPr>
        <dsp:cNvPr id="0" name=""/>
        <dsp:cNvSpPr/>
      </dsp:nvSpPr>
      <dsp:spPr>
        <a:xfrm>
          <a:off x="4427256" y="100161"/>
          <a:ext cx="1317282" cy="13172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258873-7099-4D9F-A51F-82B89A66C573}">
      <dsp:nvSpPr>
        <dsp:cNvPr id="0" name=""/>
        <dsp:cNvSpPr/>
      </dsp:nvSpPr>
      <dsp:spPr>
        <a:xfrm>
          <a:off x="4427256" y="1567474"/>
          <a:ext cx="3763664" cy="56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100000"/>
            </a:lnSpc>
            <a:spcBef>
              <a:spcPct val="0"/>
            </a:spcBef>
            <a:spcAft>
              <a:spcPct val="35000"/>
            </a:spcAft>
            <a:buNone/>
            <a:defRPr b="1"/>
          </a:pPr>
          <a:r>
            <a:rPr lang="en-US" sz="1900" b="1" kern="1200" dirty="0"/>
            <a:t>Challenge 2 - Computational Load</a:t>
          </a:r>
          <a:endParaRPr lang="en-US" sz="1900" kern="1200" dirty="0"/>
        </a:p>
      </dsp:txBody>
      <dsp:txXfrm>
        <a:off x="4427256" y="1567474"/>
        <a:ext cx="3763664" cy="564549"/>
      </dsp:txXfrm>
    </dsp:sp>
    <dsp:sp modelId="{886EA068-8572-435F-A649-6CC7A1364551}">
      <dsp:nvSpPr>
        <dsp:cNvPr id="0" name=""/>
        <dsp:cNvSpPr/>
      </dsp:nvSpPr>
      <dsp:spPr>
        <a:xfrm>
          <a:off x="4427256" y="2201806"/>
          <a:ext cx="3763664" cy="1387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GB" sz="1400" kern="1200" dirty="0"/>
            <a:t>Running the </a:t>
          </a:r>
          <a:r>
            <a:rPr lang="en-GB" sz="1400" kern="1200" dirty="0" err="1"/>
            <a:t>ViT</a:t>
          </a:r>
          <a:r>
            <a:rPr lang="en-GB" sz="1400" kern="1200" dirty="0"/>
            <a:t>-B/32 model on 18,000 images exceeds typical local memory limits.</a:t>
          </a:r>
          <a:endParaRPr lang="en-US" sz="1400" kern="1200" dirty="0"/>
        </a:p>
        <a:p>
          <a:pPr marL="0" lvl="0" indent="0" algn="l" defTabSz="622300">
            <a:lnSpc>
              <a:spcPct val="100000"/>
            </a:lnSpc>
            <a:spcBef>
              <a:spcPct val="0"/>
            </a:spcBef>
            <a:spcAft>
              <a:spcPct val="35000"/>
            </a:spcAft>
            <a:buNone/>
          </a:pPr>
          <a:r>
            <a:rPr lang="en-US" sz="1400" kern="1200" dirty="0"/>
            <a:t>Mitigation: I processed the images in batches of 32. I also have a fallback strategy to deploy the script to Google </a:t>
          </a:r>
          <a:r>
            <a:rPr lang="en-US" sz="1400" kern="1200" dirty="0" err="1"/>
            <a:t>Colab's</a:t>
          </a:r>
          <a:r>
            <a:rPr lang="en-US" sz="1400" kern="1200" dirty="0"/>
            <a:t> GPU infrastructure if my local hardware throttles or maybe use the PCs in DAIM.</a:t>
          </a:r>
        </a:p>
      </dsp:txBody>
      <dsp:txXfrm>
        <a:off x="4427256" y="2201806"/>
        <a:ext cx="3763664" cy="13874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62230-5434-4F3C-BBD5-17839C50E47A}">
      <dsp:nvSpPr>
        <dsp:cNvPr id="0" name=""/>
        <dsp:cNvSpPr/>
      </dsp:nvSpPr>
      <dsp:spPr>
        <a:xfrm>
          <a:off x="4621" y="295921"/>
          <a:ext cx="390169" cy="390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009C2165-09DA-4DA0-9D45-F766243B505C}">
      <dsp:nvSpPr>
        <dsp:cNvPr id="0" name=""/>
        <dsp:cNvSpPr/>
      </dsp:nvSpPr>
      <dsp:spPr>
        <a:xfrm>
          <a:off x="4621" y="818757"/>
          <a:ext cx="1114769" cy="21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Phase 3</a:t>
          </a:r>
        </a:p>
      </dsp:txBody>
      <dsp:txXfrm>
        <a:off x="4621" y="818757"/>
        <a:ext cx="1114769" cy="219470"/>
      </dsp:txXfrm>
    </dsp:sp>
    <dsp:sp modelId="{F1B158EB-A77C-4312-AE9A-1052B56FDE8D}">
      <dsp:nvSpPr>
        <dsp:cNvPr id="0" name=""/>
        <dsp:cNvSpPr/>
      </dsp:nvSpPr>
      <dsp:spPr>
        <a:xfrm>
          <a:off x="4621" y="1099933"/>
          <a:ext cx="1114769" cy="2281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 (Current - January)</a:t>
          </a:r>
        </a:p>
        <a:p>
          <a:pPr marL="57150" lvl="1" indent="-57150" algn="l" defTabSz="488950">
            <a:lnSpc>
              <a:spcPct val="90000"/>
            </a:lnSpc>
            <a:spcBef>
              <a:spcPct val="0"/>
            </a:spcBef>
            <a:spcAft>
              <a:spcPct val="15000"/>
            </a:spcAft>
            <a:buChar char="•"/>
          </a:pPr>
          <a:r>
            <a:rPr lang="en-US" sz="1100" kern="1200" dirty="0"/>
            <a:t>I am currently finishing the full </a:t>
          </a:r>
          <a:r>
            <a:rPr lang="en-US" sz="1100" kern="1200" dirty="0" err="1"/>
            <a:t>vectorisation</a:t>
          </a:r>
          <a:r>
            <a:rPr lang="en-US" sz="1100" kern="1200" dirty="0"/>
            <a:t> process to generate the 512-dimensional embeddings for the entire dataset.</a:t>
          </a:r>
        </a:p>
      </dsp:txBody>
      <dsp:txXfrm>
        <a:off x="4621" y="1099933"/>
        <a:ext cx="1114769" cy="2281267"/>
      </dsp:txXfrm>
    </dsp:sp>
    <dsp:sp modelId="{863EFA6B-F374-49F0-A9B1-B05AC7D10C7C}">
      <dsp:nvSpPr>
        <dsp:cNvPr id="0" name=""/>
        <dsp:cNvSpPr/>
      </dsp:nvSpPr>
      <dsp:spPr>
        <a:xfrm>
          <a:off x="1314476" y="295921"/>
          <a:ext cx="390169" cy="390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657CCEF0-A27B-4394-8359-3DCBB8C3E440}">
      <dsp:nvSpPr>
        <dsp:cNvPr id="0" name=""/>
        <dsp:cNvSpPr/>
      </dsp:nvSpPr>
      <dsp:spPr>
        <a:xfrm>
          <a:off x="1314476" y="818757"/>
          <a:ext cx="1114769" cy="21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Phase 4</a:t>
          </a:r>
        </a:p>
      </dsp:txBody>
      <dsp:txXfrm>
        <a:off x="1314476" y="818757"/>
        <a:ext cx="1114769" cy="219470"/>
      </dsp:txXfrm>
    </dsp:sp>
    <dsp:sp modelId="{9CC0D266-E6CE-49F6-8032-9330CEABCD5E}">
      <dsp:nvSpPr>
        <dsp:cNvPr id="0" name=""/>
        <dsp:cNvSpPr/>
      </dsp:nvSpPr>
      <dsp:spPr>
        <a:xfrm>
          <a:off x="1314476" y="1099933"/>
          <a:ext cx="1114769" cy="2281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 (February)</a:t>
          </a:r>
        </a:p>
        <a:p>
          <a:pPr marL="57150" lvl="1" indent="-57150" algn="l" defTabSz="488950">
            <a:lnSpc>
              <a:spcPct val="90000"/>
            </a:lnSpc>
            <a:spcBef>
              <a:spcPct val="0"/>
            </a:spcBef>
            <a:spcAft>
              <a:spcPct val="15000"/>
            </a:spcAft>
            <a:buChar char="•"/>
          </a:pPr>
          <a:r>
            <a:rPr lang="en-US" sz="1100" kern="1200" dirty="0"/>
            <a:t>My focus will shift to integration. I will use UMAP to project these vectors into 2D space and connect them to the Dash frontend.</a:t>
          </a:r>
        </a:p>
        <a:p>
          <a:pPr marL="57150" lvl="1" indent="-57150" algn="l" defTabSz="488950">
            <a:lnSpc>
              <a:spcPct val="90000"/>
            </a:lnSpc>
            <a:spcBef>
              <a:spcPct val="0"/>
            </a:spcBef>
            <a:spcAft>
              <a:spcPct val="15000"/>
            </a:spcAft>
            <a:buChar char="•"/>
          </a:pPr>
          <a:r>
            <a:rPr lang="en-US" sz="1100" kern="1200" dirty="0"/>
            <a:t>I will add the Cosine Similarity logic to enable the semantic search feature.</a:t>
          </a:r>
        </a:p>
      </dsp:txBody>
      <dsp:txXfrm>
        <a:off x="1314476" y="1099933"/>
        <a:ext cx="1114769" cy="2281267"/>
      </dsp:txXfrm>
    </dsp:sp>
    <dsp:sp modelId="{E4B2F965-4450-4401-B4A5-A9042E3A067F}">
      <dsp:nvSpPr>
        <dsp:cNvPr id="0" name=""/>
        <dsp:cNvSpPr/>
      </dsp:nvSpPr>
      <dsp:spPr>
        <a:xfrm>
          <a:off x="2624330" y="295921"/>
          <a:ext cx="390169" cy="3901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522DD47-B473-43CC-9227-DE4AF622B637}">
      <dsp:nvSpPr>
        <dsp:cNvPr id="0" name=""/>
        <dsp:cNvSpPr/>
      </dsp:nvSpPr>
      <dsp:spPr>
        <a:xfrm>
          <a:off x="2624330" y="818757"/>
          <a:ext cx="1114769" cy="21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Phase 5</a:t>
          </a:r>
        </a:p>
      </dsp:txBody>
      <dsp:txXfrm>
        <a:off x="2624330" y="818757"/>
        <a:ext cx="1114769" cy="219470"/>
      </dsp:txXfrm>
    </dsp:sp>
    <dsp:sp modelId="{D60B2264-3F4F-4B70-9DBC-761837D241C9}">
      <dsp:nvSpPr>
        <dsp:cNvPr id="0" name=""/>
        <dsp:cNvSpPr/>
      </dsp:nvSpPr>
      <dsp:spPr>
        <a:xfrm>
          <a:off x="2624330" y="1099933"/>
          <a:ext cx="1114769" cy="2281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 (March/April)</a:t>
          </a:r>
        </a:p>
        <a:p>
          <a:pPr marL="57150" lvl="1" indent="-57150" algn="l" defTabSz="488950">
            <a:lnSpc>
              <a:spcPct val="90000"/>
            </a:lnSpc>
            <a:spcBef>
              <a:spcPct val="0"/>
            </a:spcBef>
            <a:spcAft>
              <a:spcPct val="15000"/>
            </a:spcAft>
            <a:buChar char="•"/>
          </a:pPr>
          <a:r>
            <a:rPr lang="en-US" sz="1100" kern="1200" dirty="0"/>
            <a:t>I will conduct a quantitative evaluation using Silhouette Scores to measure cluster quality.</a:t>
          </a:r>
        </a:p>
        <a:p>
          <a:pPr marL="57150" lvl="1" indent="-57150" algn="l" defTabSz="488950">
            <a:lnSpc>
              <a:spcPct val="90000"/>
            </a:lnSpc>
            <a:spcBef>
              <a:spcPct val="0"/>
            </a:spcBef>
            <a:spcAft>
              <a:spcPct val="15000"/>
            </a:spcAft>
            <a:buChar char="•"/>
          </a:pPr>
          <a:r>
            <a:rPr lang="en-US" sz="1100" kern="1200" dirty="0"/>
            <a:t> I’ll complete the dissertation write-up.</a:t>
          </a:r>
        </a:p>
      </dsp:txBody>
      <dsp:txXfrm>
        <a:off x="2624330" y="1099933"/>
        <a:ext cx="1114769" cy="228126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A5185-6438-47C6-9A48-B50F5812FA1D}" type="datetimeFigureOut">
              <a:rPr lang="en-GB" smtClean="0"/>
              <a:t>01/02/2026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4B5FA1-3D22-4D27-B298-69D18840C262}" type="slidenum">
              <a:rPr lang="en-GB" smtClean="0"/>
              <a:t>‹#›</a:t>
            </a:fld>
            <a:endParaRPr lang="en-GB"/>
          </a:p>
        </p:txBody>
      </p:sp>
    </p:spTree>
    <p:extLst>
      <p:ext uri="{BB962C8B-B14F-4D97-AF65-F5344CB8AC3E}">
        <p14:creationId xmlns:p14="http://schemas.microsoft.com/office/powerpoint/2010/main" val="1110778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afternoon, everyone. I'm Rashid, and today I'm presenting my Honours project: an unsupervised exploration tool for disaster imagery using the </a:t>
            </a:r>
            <a:r>
              <a:rPr lang="en-GB" dirty="0" err="1"/>
              <a:t>CrisisMMD</a:t>
            </a:r>
            <a:r>
              <a:rPr lang="en-GB" dirty="0"/>
              <a:t> dataset. The main problem I'm tackling is what we call the 'data deluge' in disaster response. When a crisis hits, emergency responders are overwhelmed with images from social media there's simply too much visual information and not enough people to sort through it all. My project aims to help by building an AI system that can automatically understand and organise disaster photos without needing rigid, pre-labelled categories that traditional models depend on.</a:t>
            </a:r>
          </a:p>
        </p:txBody>
      </p:sp>
      <p:sp>
        <p:nvSpPr>
          <p:cNvPr id="4" name="Slide Number Placeholder 3"/>
          <p:cNvSpPr>
            <a:spLocks noGrp="1"/>
          </p:cNvSpPr>
          <p:nvPr>
            <p:ph type="sldNum" sz="quarter" idx="5"/>
          </p:nvPr>
        </p:nvSpPr>
        <p:spPr/>
        <p:txBody>
          <a:bodyPr/>
          <a:lstStyle/>
          <a:p>
            <a:fld id="{A74B5FA1-3D22-4D27-B298-69D18840C262}" type="slidenum">
              <a:rPr lang="en-GB" smtClean="0"/>
              <a:t>1</a:t>
            </a:fld>
            <a:endParaRPr lang="en-GB"/>
          </a:p>
        </p:txBody>
      </p:sp>
    </p:spTree>
    <p:extLst>
      <p:ext uri="{BB962C8B-B14F-4D97-AF65-F5344CB8AC3E}">
        <p14:creationId xmlns:p14="http://schemas.microsoft.com/office/powerpoint/2010/main" val="3339107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give you some background, most current crisis AI systems use supervised learning particularly convolutional neural networks like </a:t>
            </a:r>
            <a:r>
              <a:rPr lang="en-GB" dirty="0" err="1"/>
              <a:t>ResNet</a:t>
            </a:r>
            <a:r>
              <a:rPr lang="en-GB" dirty="0"/>
              <a:t>. These models work well, but they have a significant limitation: they need thousands of manually labelled examples to learn what a 'flood' or 'fire' looks like. If a new type of disaster occurs that wasn't in the training data, the model simply can't handle it.</a:t>
            </a:r>
          </a:p>
          <a:p>
            <a:r>
              <a:rPr lang="en-GB" dirty="0"/>
              <a:t>My goal was to move beyond this limitation by building a zero-shot system. Using multimodal learning like the CLIP model my tool can understand the relationship between text and images. This means a responder can search for specific scenarios like 'people waiting for rescue on a roof' and get relevant results immediately, even if the system has never been trained on that exact situation before.</a:t>
            </a:r>
          </a:p>
          <a:p>
            <a:endParaRPr lang="en-GB" dirty="0"/>
          </a:p>
        </p:txBody>
      </p:sp>
      <p:sp>
        <p:nvSpPr>
          <p:cNvPr id="4" name="Slide Number Placeholder 3"/>
          <p:cNvSpPr>
            <a:spLocks noGrp="1"/>
          </p:cNvSpPr>
          <p:nvPr>
            <p:ph type="sldNum" sz="quarter" idx="5"/>
          </p:nvPr>
        </p:nvSpPr>
        <p:spPr/>
        <p:txBody>
          <a:bodyPr/>
          <a:lstStyle/>
          <a:p>
            <a:fld id="{A74B5FA1-3D22-4D27-B298-69D18840C262}" type="slidenum">
              <a:rPr lang="en-GB" smtClean="0"/>
              <a:t>2</a:t>
            </a:fld>
            <a:endParaRPr lang="en-GB"/>
          </a:p>
        </p:txBody>
      </p:sp>
    </p:spTree>
    <p:extLst>
      <p:ext uri="{BB962C8B-B14F-4D97-AF65-F5344CB8AC3E}">
        <p14:creationId xmlns:p14="http://schemas.microsoft.com/office/powerpoint/2010/main" val="3865615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the technical architecture I've built. I designed it as an offline-online pipeline to handle the 18,000 image dataset on standard hardware without needing expensive cloud resources.</a:t>
            </a:r>
          </a:p>
          <a:p>
            <a:endParaRPr lang="en-GB" dirty="0"/>
          </a:p>
          <a:p>
            <a:r>
              <a:rPr lang="en-GB" dirty="0"/>
              <a:t>Let me justify the tech stack. For the "brain" of the system, I'm using the CLIP model, specifically the </a:t>
            </a:r>
            <a:r>
              <a:rPr lang="en-GB" dirty="0" err="1"/>
              <a:t>ViT</a:t>
            </a:r>
            <a:r>
              <a:rPr lang="en-GB" dirty="0"/>
              <a:t>-B/32 variant. This extracts 512 dimensional semantic vectors from the images, which allows the system to understand content without ever being trained on specific categories. For example, it can distinguish a 'rescue boat' from a 'fishing boat' naturally.</a:t>
            </a:r>
          </a:p>
          <a:p>
            <a:endParaRPr lang="en-GB" dirty="0"/>
          </a:p>
          <a:p>
            <a:r>
              <a:rPr lang="en-GB" dirty="0"/>
              <a:t>For the "map", I use UMAP for dimensionality reduction. High dimensional data is impossible to visualise, so UMAP projects these 512 dimensional vectors into 2D space whilst preserving the global structure. This means we can see how different disaster events cluster together naturally without losing the semantic relationships.</a:t>
            </a:r>
          </a:p>
          <a:p>
            <a:endParaRPr lang="en-GB" dirty="0"/>
          </a:p>
          <a:p>
            <a:r>
              <a:rPr lang="en-GB" dirty="0"/>
              <a:t>The offline phase is where the heavy computation happens. I wrote Python scripts to ingest the raw data, clean it, and pass it through CLIP to generate these vectors. I then use UMAP to compress them down to 2D coordinates for visualisation.</a:t>
            </a:r>
          </a:p>
          <a:p>
            <a:endParaRPr lang="en-GB" dirty="0"/>
          </a:p>
          <a:p>
            <a:r>
              <a:rPr lang="en-GB" dirty="0"/>
              <a:t>The online phase is the frontend interface you'll see in the demo. Because all the complex processing is done beforehand, the Dash application runs incredibly smoothly. It just loads the precomputed coordinates, which means searches happen in under a second without needing a massive GPU running in the background.</a:t>
            </a:r>
          </a:p>
        </p:txBody>
      </p:sp>
      <p:sp>
        <p:nvSpPr>
          <p:cNvPr id="4" name="Slide Number Placeholder 3"/>
          <p:cNvSpPr>
            <a:spLocks noGrp="1"/>
          </p:cNvSpPr>
          <p:nvPr>
            <p:ph type="sldNum" sz="quarter" idx="5"/>
          </p:nvPr>
        </p:nvSpPr>
        <p:spPr/>
        <p:txBody>
          <a:bodyPr/>
          <a:lstStyle/>
          <a:p>
            <a:fld id="{A74B5FA1-3D22-4D27-B298-69D18840C262}" type="slidenum">
              <a:rPr lang="en-GB" smtClean="0"/>
              <a:t>3</a:t>
            </a:fld>
            <a:endParaRPr lang="en-GB"/>
          </a:p>
        </p:txBody>
      </p:sp>
    </p:spTree>
    <p:extLst>
      <p:ext uri="{BB962C8B-B14F-4D97-AF65-F5344CB8AC3E}">
        <p14:creationId xmlns:p14="http://schemas.microsoft.com/office/powerpoint/2010/main" val="3798300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 pleased to say that the main technical challenges have been addressed. I've successfully built the entire pipeline from scratch.</a:t>
            </a:r>
          </a:p>
          <a:p>
            <a:r>
              <a:rPr lang="en-GB" dirty="0"/>
              <a:t>First, I implemented a robust data ingestion system that handles the messiness of real world social media data, filtering out corrupted files and low quality thumbnails. Second, I've completed the vectorisation phase, including a critical refactor where I switched from sentence transformers to the native Hugging Face library to ensure consistency. Finally, I've built and tested Prototype V4, which confirms that the data quality and metadata are solid enough for the final analysis.</a:t>
            </a:r>
          </a:p>
          <a:p>
            <a:endParaRPr lang="en-GB" dirty="0"/>
          </a:p>
        </p:txBody>
      </p:sp>
      <p:sp>
        <p:nvSpPr>
          <p:cNvPr id="4" name="Slide Number Placeholder 3"/>
          <p:cNvSpPr>
            <a:spLocks noGrp="1"/>
          </p:cNvSpPr>
          <p:nvPr>
            <p:ph type="sldNum" sz="quarter" idx="5"/>
          </p:nvPr>
        </p:nvSpPr>
        <p:spPr/>
        <p:txBody>
          <a:bodyPr/>
          <a:lstStyle/>
          <a:p>
            <a:fld id="{A74B5FA1-3D22-4D27-B298-69D18840C262}" type="slidenum">
              <a:rPr lang="en-GB" smtClean="0"/>
              <a:t>4</a:t>
            </a:fld>
            <a:endParaRPr lang="en-GB"/>
          </a:p>
        </p:txBody>
      </p:sp>
    </p:spTree>
    <p:extLst>
      <p:ext uri="{BB962C8B-B14F-4D97-AF65-F5344CB8AC3E}">
        <p14:creationId xmlns:p14="http://schemas.microsoft.com/office/powerpoint/2010/main" val="109365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I've used an Agile methodology throughout. On the left, you can see my Asana board. Rather than just tracking broad goals, I break everything down into specific engineering tasks, things like 'Fix </a:t>
            </a:r>
            <a:r>
              <a:rPr lang="en-GB" dirty="0" err="1"/>
              <a:t>tokeniser</a:t>
            </a:r>
            <a:r>
              <a:rPr lang="en-GB" dirty="0"/>
              <a:t> mismatch' or 'Optimise search latency.' This lets me manage technical debt properly and stay organised.</a:t>
            </a:r>
          </a:p>
          <a:p>
            <a:r>
              <a:rPr lang="en-GB" dirty="0"/>
              <a:t>On the right is my timeline. I work in one week sprints, which gives me the flexibility to adapt when needed. For example, when I realised the initial clustering wasn't showing clear patterns, I added a task to build an 'event filter' into the interface rather than sticking rigidly to a plan that wasn't working. This adaptive approach has kept me on track for the final submission deadline.</a:t>
            </a:r>
          </a:p>
          <a:p>
            <a:endParaRPr lang="en-GB" dirty="0"/>
          </a:p>
        </p:txBody>
      </p:sp>
      <p:sp>
        <p:nvSpPr>
          <p:cNvPr id="4" name="Slide Number Placeholder 3"/>
          <p:cNvSpPr>
            <a:spLocks noGrp="1"/>
          </p:cNvSpPr>
          <p:nvPr>
            <p:ph type="sldNum" sz="quarter" idx="5"/>
          </p:nvPr>
        </p:nvSpPr>
        <p:spPr/>
        <p:txBody>
          <a:bodyPr/>
          <a:lstStyle/>
          <a:p>
            <a:fld id="{A74B5FA1-3D22-4D27-B298-69D18840C262}" type="slidenum">
              <a:rPr lang="en-GB" smtClean="0"/>
              <a:t>5</a:t>
            </a:fld>
            <a:endParaRPr lang="en-GB"/>
          </a:p>
        </p:txBody>
      </p:sp>
    </p:spTree>
    <p:extLst>
      <p:ext uri="{BB962C8B-B14F-4D97-AF65-F5344CB8AC3E}">
        <p14:creationId xmlns:p14="http://schemas.microsoft.com/office/powerpoint/2010/main" val="2345744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During Phase 2, I ran into two significant challenges. The first was inconsistent metadata. I discovered that about 5% of the </a:t>
            </a:r>
            <a:r>
              <a:rPr lang="en-GB" dirty="0" err="1"/>
              <a:t>CrisisMMD</a:t>
            </a:r>
            <a:r>
              <a:rPr lang="en-GB" dirty="0"/>
              <a:t> dataset had missing information or corrupted JSON files. To handle this, I implemented what I call 'defensive ingestion', essentially wrapping my code in error handlers that log problematic files and carry on processing rather than crashing the entire pipeline.</a:t>
            </a:r>
          </a:p>
          <a:p>
            <a:r>
              <a:rPr lang="en-GB" dirty="0"/>
              <a:t>The second challenge was computational load. Processing 18,000 images through a transformer model is resource intensive. I addressed this through batch processing and making my scripts hardware agnostic. They automatically detect if a GPU is available for acceleration but can fall back to CPU if needed.</a:t>
            </a:r>
          </a:p>
          <a:p>
            <a:endParaRPr lang="en-GB" dirty="0"/>
          </a:p>
        </p:txBody>
      </p:sp>
      <p:sp>
        <p:nvSpPr>
          <p:cNvPr id="4" name="Slide Number Placeholder 3"/>
          <p:cNvSpPr>
            <a:spLocks noGrp="1"/>
          </p:cNvSpPr>
          <p:nvPr>
            <p:ph type="sldNum" sz="quarter" idx="5"/>
          </p:nvPr>
        </p:nvSpPr>
        <p:spPr/>
        <p:txBody>
          <a:bodyPr/>
          <a:lstStyle/>
          <a:p>
            <a:fld id="{A74B5FA1-3D22-4D27-B298-69D18840C262}" type="slidenum">
              <a:rPr lang="en-GB" smtClean="0"/>
              <a:t>6</a:t>
            </a:fld>
            <a:endParaRPr lang="en-GB"/>
          </a:p>
        </p:txBody>
      </p:sp>
    </p:spTree>
    <p:extLst>
      <p:ext uri="{BB962C8B-B14F-4D97-AF65-F5344CB8AC3E}">
        <p14:creationId xmlns:p14="http://schemas.microsoft.com/office/powerpoint/2010/main" val="2902899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 currently midway through Phase </a:t>
            </a:r>
            <a:r>
              <a:rPr lang="en-GB"/>
              <a:t>3. At </a:t>
            </a:r>
            <a:r>
              <a:rPr lang="en-GB" dirty="0"/>
              <a:t>the moment, I'm finalising the full vectorisation run for all 17,463 images. Next month, my focus shifts to integration, wiring up the cosine similarity logic into the frontend to enable live semantic search. Finally, in March, I'll conduct the quantitative evaluation, calculating metrics like Silhouette Scores to scientifically measure the quality of the clustering before writing up the final dissertation.</a:t>
            </a:r>
          </a:p>
          <a:p>
            <a:endParaRPr lang="en-GB" dirty="0"/>
          </a:p>
        </p:txBody>
      </p:sp>
      <p:sp>
        <p:nvSpPr>
          <p:cNvPr id="4" name="Slide Number Placeholder 3"/>
          <p:cNvSpPr>
            <a:spLocks noGrp="1"/>
          </p:cNvSpPr>
          <p:nvPr>
            <p:ph type="sldNum" sz="quarter" idx="5"/>
          </p:nvPr>
        </p:nvSpPr>
        <p:spPr/>
        <p:txBody>
          <a:bodyPr/>
          <a:lstStyle/>
          <a:p>
            <a:fld id="{A74B5FA1-3D22-4D27-B298-69D18840C262}" type="slidenum">
              <a:rPr lang="en-GB" smtClean="0"/>
              <a:t>7</a:t>
            </a:fld>
            <a:endParaRPr lang="en-GB"/>
          </a:p>
        </p:txBody>
      </p:sp>
    </p:spTree>
    <p:extLst>
      <p:ext uri="{BB962C8B-B14F-4D97-AF65-F5344CB8AC3E}">
        <p14:creationId xmlns:p14="http://schemas.microsoft.com/office/powerpoint/2010/main" val="2974155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png"/><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6.png"/><Relationship Id="rId7" Type="http://schemas.openxmlformats.org/officeDocument/2006/relationships/diagramQuickStyle" Target="../diagrams/quickStyle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17.png"/><Relationship Id="rId9" Type="http://schemas.microsoft.com/office/2007/relationships/diagramDrawing" Target="../diagrams/drawing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9356" y="1"/>
            <a:ext cx="3196506" cy="2602764"/>
            <a:chOff x="6867015" y="-1"/>
            <a:chExt cx="5324985" cy="3251912"/>
          </a:xfrm>
          <a:solidFill>
            <a:schemeClr val="accent5">
              <a:alpha val="5000"/>
            </a:schemeClr>
          </a:solidFill>
        </p:grpSpPr>
        <p:sp>
          <p:nvSpPr>
            <p:cNvPr id="13" name="Freeform: Shape 12">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20746" y="62352"/>
            <a:ext cx="4521523" cy="6795648"/>
            <a:chOff x="6160995" y="62352"/>
            <a:chExt cx="6028697" cy="6795648"/>
          </a:xfrm>
        </p:grpSpPr>
        <p:sp>
          <p:nvSpPr>
            <p:cNvPr id="19" name="Freeform: Shape 18">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p:nvPr>
        </p:nvSpPr>
        <p:spPr>
          <a:xfrm>
            <a:off x="603504" y="1055098"/>
            <a:ext cx="4320539" cy="4747805"/>
          </a:xfrm>
        </p:spPr>
        <p:txBody>
          <a:bodyPr anchor="ctr">
            <a:normAutofit/>
          </a:bodyPr>
          <a:lstStyle/>
          <a:p>
            <a:pPr algn="l">
              <a:defRPr b="1">
                <a:solidFill>
                  <a:srgbClr val="003366"/>
                </a:solidFill>
                <a:latin typeface="Arial"/>
              </a:defRPr>
            </a:pPr>
            <a:r>
              <a:rPr lang="en-GB" sz="3600" b="1" dirty="0"/>
              <a:t>Unsupervised Multimodal Exploration of Crisis Imagery</a:t>
            </a:r>
            <a:endParaRPr lang="en-GB" sz="2800" dirty="0">
              <a:solidFill>
                <a:schemeClr val="tx2"/>
              </a:solidFill>
            </a:endParaRPr>
          </a:p>
        </p:txBody>
      </p:sp>
      <p:sp>
        <p:nvSpPr>
          <p:cNvPr id="3" name="Subtitle 2"/>
          <p:cNvSpPr>
            <a:spLocks noGrp="1"/>
          </p:cNvSpPr>
          <p:nvPr>
            <p:ph type="subTitle" idx="1"/>
          </p:nvPr>
        </p:nvSpPr>
        <p:spPr>
          <a:xfrm>
            <a:off x="6256767" y="1638300"/>
            <a:ext cx="2497899" cy="3581400"/>
          </a:xfrm>
        </p:spPr>
        <p:txBody>
          <a:bodyPr anchor="ctr">
            <a:normAutofit fontScale="92500"/>
          </a:bodyPr>
          <a:lstStyle/>
          <a:p>
            <a:pPr algn="l">
              <a:lnSpc>
                <a:spcPct val="90000"/>
              </a:lnSpc>
            </a:pPr>
            <a:r>
              <a:rPr lang="en-GB" sz="2700" dirty="0">
                <a:solidFill>
                  <a:schemeClr val="tx2"/>
                </a:solidFill>
              </a:rPr>
              <a:t>Midway Technical Review</a:t>
            </a:r>
          </a:p>
          <a:p>
            <a:pPr algn="l">
              <a:lnSpc>
                <a:spcPct val="90000"/>
              </a:lnSpc>
            </a:pPr>
            <a:endParaRPr lang="en-GB" sz="2700" dirty="0">
              <a:solidFill>
                <a:schemeClr val="tx2"/>
              </a:solidFill>
            </a:endParaRPr>
          </a:p>
          <a:p>
            <a:pPr algn="l">
              <a:lnSpc>
                <a:spcPct val="90000"/>
              </a:lnSpc>
            </a:pPr>
            <a:r>
              <a:rPr lang="en-GB" sz="2700" dirty="0">
                <a:solidFill>
                  <a:schemeClr val="tx2"/>
                </a:solidFill>
              </a:rPr>
              <a:t>Student / Author: </a:t>
            </a:r>
          </a:p>
          <a:p>
            <a:pPr algn="l">
              <a:lnSpc>
                <a:spcPct val="90000"/>
              </a:lnSpc>
            </a:pPr>
            <a:r>
              <a:rPr lang="en-GB" sz="2700" dirty="0">
                <a:solidFill>
                  <a:schemeClr val="tx2"/>
                </a:solidFill>
              </a:rPr>
              <a:t>Rashid Ahmed Pandor</a:t>
            </a:r>
          </a:p>
          <a:p>
            <a:pPr algn="l">
              <a:lnSpc>
                <a:spcPct val="90000"/>
              </a:lnSpc>
            </a:pPr>
            <a:endParaRPr lang="en-GB" sz="2700" dirty="0">
              <a:solidFill>
                <a:schemeClr val="tx2"/>
              </a:solidFill>
            </a:endParaRPr>
          </a:p>
          <a:p>
            <a:pPr algn="l">
              <a:lnSpc>
                <a:spcPct val="90000"/>
              </a:lnSpc>
            </a:pPr>
            <a:r>
              <a:rPr lang="en-GB" sz="2700" dirty="0">
                <a:solidFill>
                  <a:schemeClr val="tx2"/>
                </a:solidFill>
              </a:rPr>
              <a:t>Supervised by </a:t>
            </a:r>
            <a:r>
              <a:rPr lang="en-GB" sz="2700" dirty="0" err="1">
                <a:solidFill>
                  <a:schemeClr val="tx2"/>
                </a:solidFill>
              </a:rPr>
              <a:t>XinHui</a:t>
            </a:r>
            <a:r>
              <a:rPr lang="en-GB" sz="2700" dirty="0">
                <a:solidFill>
                  <a:schemeClr val="tx2"/>
                </a:solidFill>
              </a:rPr>
              <a:t> 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000"/>
                                  </p:stCondLst>
                                  <p:iterate type="wd">
                                    <p:tmPct val="15000"/>
                                  </p:iterate>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000"/>
                                  </p:stCondLst>
                                  <p:iterate type="wd">
                                    <p:tmPct val="15000"/>
                                  </p:iterate>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defRPr sz="3600" b="1">
                <a:solidFill>
                  <a:srgbClr val="003366"/>
                </a:solidFill>
                <a:latin typeface="Arial"/>
              </a:defRPr>
            </a:pPr>
            <a:r>
              <a:rPr lang="en-GB" sz="4300"/>
              <a:t>1. Context and Project Objectives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fontScale="92500" lnSpcReduction="10000"/>
          </a:bodyPr>
          <a:lstStyle/>
          <a:p>
            <a:pPr>
              <a:lnSpc>
                <a:spcPct val="90000"/>
              </a:lnSpc>
            </a:pPr>
            <a:endParaRPr lang="en-GB" sz="1300" dirty="0"/>
          </a:p>
          <a:p>
            <a:pPr>
              <a:lnSpc>
                <a:spcPct val="90000"/>
              </a:lnSpc>
              <a:spcAft>
                <a:spcPts val="1400"/>
              </a:spcAft>
              <a:defRPr sz="2000" b="1">
                <a:latin typeface="Arial"/>
              </a:defRPr>
            </a:pPr>
            <a:r>
              <a:rPr lang="en-GB" sz="1400" dirty="0"/>
              <a:t>The Problem</a:t>
            </a:r>
          </a:p>
          <a:p>
            <a:pPr lvl="1">
              <a:lnSpc>
                <a:spcPct val="90000"/>
              </a:lnSpc>
              <a:spcAft>
                <a:spcPts val="1400"/>
              </a:spcAft>
              <a:defRPr sz="2000">
                <a:latin typeface="Arial"/>
              </a:defRPr>
            </a:pPr>
            <a:r>
              <a:rPr lang="en-GB" sz="1400" dirty="0"/>
              <a:t>In the immediate aftermath of a disaster, social media platforms are flooded with millions of images. While this data offers vital situational awareness, it creates a bottleneck: there is simply too much visual noise for human teams to filter manually.</a:t>
            </a:r>
          </a:p>
          <a:p>
            <a:pPr lvl="1">
              <a:lnSpc>
                <a:spcPct val="90000"/>
              </a:lnSpc>
              <a:spcAft>
                <a:spcPts val="1400"/>
              </a:spcAft>
              <a:defRPr sz="2000">
                <a:latin typeface="Arial"/>
              </a:defRPr>
            </a:pPr>
            <a:r>
              <a:rPr lang="en-GB" sz="1400" dirty="0"/>
              <a:t>Furthermore, traditional AI (like Standard CNNs) is too rigid for this environment. It relies on pre-trained labels (example “Fire”, “Flood”) meaning it fails completely when it encounters a new unseen type of crisis. We need a system that can adapt.</a:t>
            </a:r>
          </a:p>
          <a:p>
            <a:pPr marL="457200" lvl="1" indent="0">
              <a:lnSpc>
                <a:spcPct val="90000"/>
              </a:lnSpc>
              <a:spcAft>
                <a:spcPts val="1400"/>
              </a:spcAft>
              <a:buNone/>
              <a:defRPr sz="2000">
                <a:latin typeface="Arial"/>
              </a:defRPr>
            </a:pPr>
            <a:r>
              <a:rPr lang="en-GB" sz="1400" b="1" dirty="0"/>
              <a:t>My Solution to use unsupervised Multimodal Learning</a:t>
            </a:r>
          </a:p>
          <a:p>
            <a:pPr lvl="1">
              <a:lnSpc>
                <a:spcPct val="90000"/>
              </a:lnSpc>
              <a:spcAft>
                <a:spcPts val="1400"/>
              </a:spcAft>
              <a:defRPr sz="2000">
                <a:latin typeface="Arial"/>
              </a:defRPr>
            </a:pPr>
            <a:r>
              <a:rPr lang="en-GB" sz="1400" dirty="0"/>
              <a:t>I am building a tool that uses CLIP which is open-source to understand the semantic meaning of these images without needing labels.</a:t>
            </a:r>
          </a:p>
          <a:p>
            <a:pPr lvl="1">
              <a:lnSpc>
                <a:spcPct val="90000"/>
              </a:lnSpc>
              <a:spcAft>
                <a:spcPts val="1400"/>
              </a:spcAft>
              <a:defRPr sz="2000">
                <a:latin typeface="Arial"/>
              </a:defRPr>
            </a:pPr>
            <a:r>
              <a:rPr lang="en-GB" sz="1400" dirty="0"/>
              <a:t>By using UMAP for dimensionality reduction, I can visualise the “global structure” of the disaster data which helps responders see patterns instantly.</a:t>
            </a:r>
          </a:p>
          <a:p>
            <a:pPr>
              <a:lnSpc>
                <a:spcPct val="90000"/>
              </a:lnSpc>
              <a:spcAft>
                <a:spcPts val="1400"/>
              </a:spcAft>
              <a:defRPr sz="2000" b="1">
                <a:latin typeface="Arial"/>
              </a:defRPr>
            </a:pPr>
            <a:r>
              <a:rPr lang="en-GB" sz="1400" dirty="0"/>
              <a:t>Core Objective</a:t>
            </a:r>
          </a:p>
          <a:p>
            <a:pPr lvl="1">
              <a:lnSpc>
                <a:spcPct val="90000"/>
              </a:lnSpc>
              <a:spcAft>
                <a:spcPts val="1400"/>
              </a:spcAft>
              <a:defRPr sz="2000">
                <a:latin typeface="Arial"/>
              </a:defRPr>
            </a:pPr>
            <a:r>
              <a:rPr lang="en-GB" sz="1400" dirty="0"/>
              <a:t>I’ll create a Zero-Shot search engine where a user can type “people on a roof” and find relevant images immediately without needing prior model training.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8A6058EC-65E1-75CF-8B5C-8199F97BDE7F}"/>
              </a:ext>
            </a:extLst>
          </p:cNvPr>
          <p:cNvPicPr>
            <a:picLocks noChangeAspect="1"/>
          </p:cNvPicPr>
          <p:nvPr/>
        </p:nvPicPr>
        <p:blipFill>
          <a:blip r:embed="rId3"/>
          <a:srcRect r="10999" b="-1"/>
          <a:stretch>
            <a:fillRect/>
          </a:stretch>
        </p:blipFill>
        <p:spPr>
          <a:xfrm>
            <a:off x="20" y="10"/>
            <a:ext cx="9143980" cy="6857990"/>
          </a:xfrm>
          <a:prstGeom prst="rect">
            <a:avLst/>
          </a:prstGeom>
        </p:spPr>
      </p:pic>
      <p:sp>
        <p:nvSpPr>
          <p:cNvPr id="35" name="Rectangle 34">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vert="horz" lIns="91440" tIns="45720" rIns="91440" bIns="45720" rtlCol="0" anchor="ctr">
            <a:normAutofit/>
          </a:bodyPr>
          <a:lstStyle/>
          <a:p>
            <a:pPr algn="l" defTabSz="914400">
              <a:lnSpc>
                <a:spcPct val="90000"/>
              </a:lnSpc>
              <a:defRPr sz="3600" b="1">
                <a:solidFill>
                  <a:srgbClr val="003366"/>
                </a:solidFill>
                <a:latin typeface="Arial"/>
              </a:defRPr>
            </a:pPr>
            <a:r>
              <a:rPr lang="en-US" sz="3600"/>
              <a:t>2. System Architecture - The Offline-Online method</a:t>
            </a:r>
          </a:p>
        </p:txBody>
      </p:sp>
      <p:graphicFrame>
        <p:nvGraphicFramePr>
          <p:cNvPr id="18" name="Content Placeholder 2">
            <a:extLst>
              <a:ext uri="{FF2B5EF4-FFF2-40B4-BE49-F238E27FC236}">
                <a16:creationId xmlns:a16="http://schemas.microsoft.com/office/drawing/2014/main" id="{D9636C9F-AEBF-3A92-61B4-C54D1E3314AB}"/>
              </a:ext>
            </a:extLst>
          </p:cNvPr>
          <p:cNvGraphicFramePr>
            <a:graphicFrameLocks noGrp="1"/>
          </p:cNvGraphicFramePr>
          <p:nvPr>
            <p:ph idx="1"/>
            <p:extLst>
              <p:ext uri="{D42A27DB-BD31-4B8C-83A1-F6EECF244321}">
                <p14:modId xmlns:p14="http://schemas.microsoft.com/office/powerpoint/2010/main" val="212180702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62849"/>
            <a:ext cx="548639" cy="673460"/>
            <a:chOff x="3940602" y="308034"/>
            <a:chExt cx="2116791" cy="3428999"/>
          </a:xfrm>
          <a:solidFill>
            <a:schemeClr val="accent4"/>
          </a:solidFill>
        </p:grpSpPr>
        <p:sp>
          <p:nvSpPr>
            <p:cNvPr id="33" name="Rectangle 3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656150"/>
            <a:ext cx="4193090"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73940"/>
            <a:ext cx="3696218" cy="1035781"/>
          </a:xfrm>
        </p:spPr>
        <p:txBody>
          <a:bodyPr anchor="ctr">
            <a:normAutofit/>
          </a:bodyPr>
          <a:lstStyle/>
          <a:p>
            <a:pPr>
              <a:defRPr sz="3600" b="1">
                <a:solidFill>
                  <a:srgbClr val="003366"/>
                </a:solidFill>
                <a:latin typeface="Arial"/>
              </a:defRPr>
            </a:pPr>
            <a:r>
              <a:rPr lang="en-GB" sz="2900"/>
              <a:t>3. Work Completed (Phase 1 &amp; 2)</a:t>
            </a:r>
          </a:p>
        </p:txBody>
      </p:sp>
      <p:sp>
        <p:nvSpPr>
          <p:cNvPr id="42" name="Rectangle 4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5813" y="658367"/>
            <a:ext cx="3539537"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AI-generated content may be incorrect.">
            <a:extLst>
              <a:ext uri="{FF2B5EF4-FFF2-40B4-BE49-F238E27FC236}">
                <a16:creationId xmlns:a16="http://schemas.microsoft.com/office/drawing/2014/main" id="{F576DB82-3A42-5716-04B0-7C90ECF8C001}"/>
              </a:ext>
            </a:extLst>
          </p:cNvPr>
          <p:cNvPicPr>
            <a:picLocks noChangeAspect="1"/>
          </p:cNvPicPr>
          <p:nvPr/>
        </p:nvPicPr>
        <p:blipFill>
          <a:blip r:embed="rId3"/>
          <a:stretch>
            <a:fillRect/>
          </a:stretch>
        </p:blipFill>
        <p:spPr>
          <a:xfrm>
            <a:off x="5130799" y="1144695"/>
            <a:ext cx="3229429" cy="1711597"/>
          </a:xfrm>
          <a:prstGeom prst="rect">
            <a:avLst/>
          </a:prstGeom>
        </p:spPr>
      </p:pic>
      <p:sp>
        <p:nvSpPr>
          <p:cNvPr id="41" name="Rectangle 40">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5813" y="3530966"/>
            <a:ext cx="3539537"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2868E894-BF06-219F-B439-754A849D9995}"/>
              </a:ext>
            </a:extLst>
          </p:cNvPr>
          <p:cNvPicPr>
            <a:picLocks noChangeAspect="1"/>
          </p:cNvPicPr>
          <p:nvPr/>
        </p:nvPicPr>
        <p:blipFill>
          <a:blip r:embed="rId4"/>
          <a:stretch>
            <a:fillRect/>
          </a:stretch>
        </p:blipFill>
        <p:spPr>
          <a:xfrm>
            <a:off x="5130799" y="4075075"/>
            <a:ext cx="3229429" cy="1574346"/>
          </a:xfrm>
          <a:prstGeom prst="rect">
            <a:avLst/>
          </a:prstGeom>
        </p:spPr>
      </p:pic>
      <p:cxnSp>
        <p:nvCxnSpPr>
          <p:cNvPr id="43" name="Straight Connector 4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92240"/>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90CFF53-5D6D-37B7-38EA-97D57DDD5C45}"/>
              </a:ext>
            </a:extLst>
          </p:cNvPr>
          <p:cNvGraphicFramePr>
            <a:graphicFrameLocks noGrp="1"/>
          </p:cNvGraphicFramePr>
          <p:nvPr>
            <p:ph idx="1"/>
            <p:extLst>
              <p:ext uri="{D42A27DB-BD31-4B8C-83A1-F6EECF244321}">
                <p14:modId xmlns:p14="http://schemas.microsoft.com/office/powerpoint/2010/main" val="2727253873"/>
              </p:ext>
            </p:extLst>
          </p:nvPr>
        </p:nvGraphicFramePr>
        <p:xfrm>
          <a:off x="783771" y="2524721"/>
          <a:ext cx="3743722" cy="36771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36BB3C5-822B-45E1-A81E-5CC3176C61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FB39ECA9-4CDE-4883-98E8-287E905E9F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447" y="3630934"/>
            <a:ext cx="4716196" cy="2546028"/>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D10CB3-0918-F837-ACD1-ECBE42EB3237}"/>
              </a:ext>
            </a:extLst>
          </p:cNvPr>
          <p:cNvSpPr>
            <a:spLocks noGrp="1"/>
          </p:cNvSpPr>
          <p:nvPr>
            <p:ph type="title"/>
          </p:nvPr>
        </p:nvSpPr>
        <p:spPr>
          <a:xfrm>
            <a:off x="630936" y="3849689"/>
            <a:ext cx="1583341" cy="2105025"/>
          </a:xfrm>
        </p:spPr>
        <p:txBody>
          <a:bodyPr>
            <a:normAutofit/>
          </a:bodyPr>
          <a:lstStyle/>
          <a:p>
            <a:r>
              <a:rPr lang="en-GB" sz="1900"/>
              <a:t>Project Management &amp; Agile Methodology</a:t>
            </a:r>
          </a:p>
        </p:txBody>
      </p:sp>
      <p:sp>
        <p:nvSpPr>
          <p:cNvPr id="22" name="Rectangle 21">
            <a:extLst>
              <a:ext uri="{FF2B5EF4-FFF2-40B4-BE49-F238E27FC236}">
                <a16:creationId xmlns:a16="http://schemas.microsoft.com/office/drawing/2014/main" id="{A67483D0-BAEB-4927-88AD-76F5DA846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1870" y="456572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0DBB7B12-4298-4CFB-B539-44A91C930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12880" y="4895342"/>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43E0FFB-A6EC-304B-C8B4-F8F95D3F779B}"/>
              </a:ext>
            </a:extLst>
          </p:cNvPr>
          <p:cNvSpPr>
            <a:spLocks noGrp="1"/>
          </p:cNvSpPr>
          <p:nvPr>
            <p:ph idx="1"/>
          </p:nvPr>
        </p:nvSpPr>
        <p:spPr>
          <a:xfrm>
            <a:off x="2520422" y="3849688"/>
            <a:ext cx="2486857" cy="2105025"/>
          </a:xfrm>
        </p:spPr>
        <p:txBody>
          <a:bodyPr anchor="ctr">
            <a:normAutofit/>
          </a:bodyPr>
          <a:lstStyle/>
          <a:p>
            <a:r>
              <a:rPr lang="en-GB" sz="1500" dirty="0"/>
              <a:t>Using Asana for Agile work planning to track workflow and managing the tasks and development alongside academic deliverables.</a:t>
            </a:r>
          </a:p>
        </p:txBody>
      </p:sp>
      <p:pic>
        <p:nvPicPr>
          <p:cNvPr id="15" name="Picture 14" descr="A screenshot of a computer&#10;&#10;AI-generated content may be incorrect.">
            <a:extLst>
              <a:ext uri="{FF2B5EF4-FFF2-40B4-BE49-F238E27FC236}">
                <a16:creationId xmlns:a16="http://schemas.microsoft.com/office/drawing/2014/main" id="{F6C9DE3F-6F6F-63AA-5E74-5C723D7F9517}"/>
              </a:ext>
            </a:extLst>
          </p:cNvPr>
          <p:cNvPicPr>
            <a:picLocks noChangeAspect="1"/>
          </p:cNvPicPr>
          <p:nvPr/>
        </p:nvPicPr>
        <p:blipFill>
          <a:blip r:embed="rId3"/>
          <a:stretch>
            <a:fillRect/>
          </a:stretch>
        </p:blipFill>
        <p:spPr>
          <a:xfrm>
            <a:off x="169147" y="730844"/>
            <a:ext cx="4981496" cy="2482501"/>
          </a:xfrm>
          <a:prstGeom prst="rect">
            <a:avLst/>
          </a:prstGeom>
        </p:spPr>
      </p:pic>
      <p:pic>
        <p:nvPicPr>
          <p:cNvPr id="17" name="Picture 16" descr="A screenshot of a computer program&#10;&#10;AI-generated content may be incorrect.">
            <a:extLst>
              <a:ext uri="{FF2B5EF4-FFF2-40B4-BE49-F238E27FC236}">
                <a16:creationId xmlns:a16="http://schemas.microsoft.com/office/drawing/2014/main" id="{BAE54A87-40C2-D97A-D539-6223D5AFEC00}"/>
              </a:ext>
            </a:extLst>
          </p:cNvPr>
          <p:cNvPicPr>
            <a:picLocks noChangeAspect="1"/>
          </p:cNvPicPr>
          <p:nvPr/>
        </p:nvPicPr>
        <p:blipFill>
          <a:blip r:embed="rId4"/>
          <a:stretch>
            <a:fillRect/>
          </a:stretch>
        </p:blipFill>
        <p:spPr>
          <a:xfrm>
            <a:off x="5347132" y="1106955"/>
            <a:ext cx="3585177" cy="4644090"/>
          </a:xfrm>
          <a:prstGeom prst="rect">
            <a:avLst/>
          </a:prstGeom>
        </p:spPr>
      </p:pic>
    </p:spTree>
    <p:extLst>
      <p:ext uri="{BB962C8B-B14F-4D97-AF65-F5344CB8AC3E}">
        <p14:creationId xmlns:p14="http://schemas.microsoft.com/office/powerpoint/2010/main" val="1564750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pPr>
              <a:defRPr sz="3600" b="1">
                <a:solidFill>
                  <a:srgbClr val="003366"/>
                </a:solidFill>
                <a:latin typeface="Arial"/>
              </a:defRPr>
            </a:pPr>
            <a:r>
              <a:rPr lang="en-GB" sz="3500">
                <a:solidFill>
                  <a:srgbClr val="FFFFFF"/>
                </a:solidFill>
              </a:rPr>
              <a:t>4. Risks and Mitigation Strategies</a:t>
            </a:r>
          </a:p>
        </p:txBody>
      </p:sp>
      <p:graphicFrame>
        <p:nvGraphicFramePr>
          <p:cNvPr id="5" name="Content Placeholder 2">
            <a:extLst>
              <a:ext uri="{FF2B5EF4-FFF2-40B4-BE49-F238E27FC236}">
                <a16:creationId xmlns:a16="http://schemas.microsoft.com/office/drawing/2014/main" id="{F171F026-E3B5-04FC-8D76-1DA9AF047100}"/>
              </a:ext>
            </a:extLst>
          </p:cNvPr>
          <p:cNvGraphicFramePr>
            <a:graphicFrameLocks noGrp="1"/>
          </p:cNvGraphicFramePr>
          <p:nvPr>
            <p:ph idx="1"/>
            <p:extLst>
              <p:ext uri="{D42A27DB-BD31-4B8C-83A1-F6EECF244321}">
                <p14:modId xmlns:p14="http://schemas.microsoft.com/office/powerpoint/2010/main" val="2194265512"/>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62849"/>
            <a:ext cx="548639" cy="673460"/>
            <a:chOff x="3940602" y="308034"/>
            <a:chExt cx="2116791" cy="3428999"/>
          </a:xfrm>
          <a:solidFill>
            <a:schemeClr val="accent4"/>
          </a:solidFill>
        </p:grpSpPr>
        <p:sp>
          <p:nvSpPr>
            <p:cNvPr id="39" name="Rectangle 3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Rectangle 4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656150"/>
            <a:ext cx="4193090"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73940"/>
            <a:ext cx="3696218" cy="1035781"/>
          </a:xfrm>
        </p:spPr>
        <p:txBody>
          <a:bodyPr anchor="ctr">
            <a:normAutofit/>
          </a:bodyPr>
          <a:lstStyle/>
          <a:p>
            <a:pPr>
              <a:defRPr sz="3600" b="1">
                <a:solidFill>
                  <a:srgbClr val="003366"/>
                </a:solidFill>
                <a:latin typeface="Arial"/>
              </a:defRPr>
            </a:pPr>
            <a:r>
              <a:rPr lang="en-GB" sz="2900"/>
              <a:t>5. Project Roadmap and Next Steps</a:t>
            </a:r>
          </a:p>
        </p:txBody>
      </p:sp>
      <p:sp>
        <p:nvSpPr>
          <p:cNvPr id="45" name="Rectangle 44">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5813" y="658367"/>
            <a:ext cx="3539537"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document&#10;&#10;AI-generated content may be incorrect.">
            <a:extLst>
              <a:ext uri="{FF2B5EF4-FFF2-40B4-BE49-F238E27FC236}">
                <a16:creationId xmlns:a16="http://schemas.microsoft.com/office/drawing/2014/main" id="{46664184-B398-B2AB-E3A3-40B0174D8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5184" y="841905"/>
            <a:ext cx="2640658" cy="2317178"/>
          </a:xfrm>
          <a:prstGeom prst="rect">
            <a:avLst/>
          </a:prstGeom>
        </p:spPr>
      </p:pic>
      <p:sp>
        <p:nvSpPr>
          <p:cNvPr id="47" name="Rectangle 46">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5813" y="3530966"/>
            <a:ext cx="3539537"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 screen&#10;&#10;AI-generated content may be incorrect.">
            <a:extLst>
              <a:ext uri="{FF2B5EF4-FFF2-40B4-BE49-F238E27FC236}">
                <a16:creationId xmlns:a16="http://schemas.microsoft.com/office/drawing/2014/main" id="{03E81237-C392-DEC4-A1FB-F89279045414}"/>
              </a:ext>
            </a:extLst>
          </p:cNvPr>
          <p:cNvPicPr>
            <a:picLocks noChangeAspect="1"/>
          </p:cNvPicPr>
          <p:nvPr/>
        </p:nvPicPr>
        <p:blipFill rotWithShape="1">
          <a:blip r:embed="rId4"/>
          <a:srcRect l="2386" t="2945" r="2329" b="3217"/>
          <a:stretch>
            <a:fillRect/>
          </a:stretch>
        </p:blipFill>
        <p:spPr bwMode="auto">
          <a:xfrm>
            <a:off x="5130799" y="3733211"/>
            <a:ext cx="3229429" cy="2258074"/>
          </a:xfrm>
          <a:prstGeom prst="rect">
            <a:avLst/>
          </a:prstGeom>
          <a:extLst>
            <a:ext uri="{53640926-AAD7-44D8-BBD7-CCE9431645EC}">
              <a14:shadowObscured xmlns:a14="http://schemas.microsoft.com/office/drawing/2010/main"/>
            </a:ext>
          </a:extLst>
        </p:spPr>
      </p:pic>
      <p:cxnSp>
        <p:nvCxnSpPr>
          <p:cNvPr id="49" name="Straight Connector 4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92240"/>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25" name="Content Placeholder 2">
            <a:extLst>
              <a:ext uri="{FF2B5EF4-FFF2-40B4-BE49-F238E27FC236}">
                <a16:creationId xmlns:a16="http://schemas.microsoft.com/office/drawing/2014/main" id="{D6C69EF3-23D7-F044-D953-92A4D67B0D0E}"/>
              </a:ext>
            </a:extLst>
          </p:cNvPr>
          <p:cNvGraphicFramePr/>
          <p:nvPr>
            <p:extLst>
              <p:ext uri="{D42A27DB-BD31-4B8C-83A1-F6EECF244321}">
                <p14:modId xmlns:p14="http://schemas.microsoft.com/office/powerpoint/2010/main" val="2572962790"/>
              </p:ext>
            </p:extLst>
          </p:nvPr>
        </p:nvGraphicFramePr>
        <p:xfrm>
          <a:off x="783771" y="2524721"/>
          <a:ext cx="3743722" cy="36771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TotalTime>
  <Words>1720</Words>
  <Application>Microsoft Office PowerPoint</Application>
  <PresentationFormat>On-screen Show (4:3)</PresentationFormat>
  <Paragraphs>86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Unsupervised Multimodal Exploration of Crisis Imagery</vt:lpstr>
      <vt:lpstr>1. Context and Project Objectives</vt:lpstr>
      <vt:lpstr>2. System Architecture - The Offline-Online method</vt:lpstr>
      <vt:lpstr>3. Work Completed (Phase 1 &amp; 2)</vt:lpstr>
      <vt:lpstr>Project Management &amp; Agile Methodology</vt:lpstr>
      <vt:lpstr>4. Risks and Mitigation Strategies</vt:lpstr>
      <vt:lpstr>5. Project Roadmap and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rashidahmed pandor</cp:lastModifiedBy>
  <cp:revision>16</cp:revision>
  <dcterms:created xsi:type="dcterms:W3CDTF">2013-01-27T09:14:16Z</dcterms:created>
  <dcterms:modified xsi:type="dcterms:W3CDTF">2026-02-01T19:35:39Z</dcterms:modified>
  <cp:category/>
</cp:coreProperties>
</file>